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2E"/>
                </a:solidFill>
                <a:latin typeface="Arial"/>
              </a:defRPr>
            </a:pPr>
            <a:r>
              <a:rPr sz="1300" b="0" i="0" u="none" strike="noStrike">
                <a:solidFill>
                  <a:srgbClr val="1A1A2E"/>
                </a:solidFill>
                <a:latin typeface="Arial"/>
              </a:rPr>
              <a:t>GMV and unit economics by origination quarter</a:t>
            </a:r>
          </a:p>
        </c:rich>
      </c:tx>
      <c:layout/>
      <c:overlay val="0"/>
    </c:title>
    <c:autoTitleDeleted val="0"/>
    <c:plotArea>
      <c:layout/>
      <c:barChart>
        <c:barDir val="col"/>
        <c:grouping val="clustered"/>
        <c:varyColors val="0"/>
        <c:ser>
          <c:idx val="0"/>
          <c:order val="0"/>
          <c:tx>
            <c:strRef>
              <c:f>Sheet1!$B$1</c:f>
              <c:strCache>
                <c:ptCount val="1"/>
                <c:pt idx="0">
                  <c:v>GMV ($K, left axis)</c:v>
                </c:pt>
              </c:strCache>
            </c:strRef>
          </c:tx>
          <c:spPr>
            <a:solidFill>
              <a:srgbClr val="D9D9FC"/>
            </a:solidFill>
            <a:effectLst/>
          </c:spPr>
          <c:invertIfNegative val="0"/>
          <c:dLbls>
            <c:numFmt formatCode="#,##0" sourceLinked="0"/>
            <c:txPr>
              <a:bodyPr/>
              <a:lstStyle/>
              <a:p>
                <a:pPr>
                  <a:defRPr b="0" i="0" strike="noStrike" sz="1000" u="none">
                    <a:solidFill>
                      <a:srgbClr val="1A1A2E"/>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Q3-24</c:v>
                  </c:pt>
                  <c:pt idx="1">
                    <c:v>Q4-24</c:v>
                  </c:pt>
                  <c:pt idx="2">
                    <c:v>Q1-25</c:v>
                  </c:pt>
                  <c:pt idx="3">
                    <c:v>Q2-25</c:v>
                  </c:pt>
                  <c:pt idx="4">
                    <c:v>Q3-25</c:v>
                  </c:pt>
                  <c:pt idx="5">
                    <c:v>Q4-25</c:v>
                  </c:pt>
                </c:lvl>
              </c:multiLvlStrCache>
            </c:multiLvlStrRef>
          </c:cat>
          <c:val>
            <c:numRef>
              <c:f>Sheet1!$B$2:$B$7</c:f>
              <c:numCache>
                <c:formatCode>General</c:formatCode>
                <c:ptCount val="6"/>
                <c:pt idx="0">
                  <c:v>459</c:v>
                </c:pt>
                <c:pt idx="1">
                  <c:v>664</c:v>
                </c:pt>
                <c:pt idx="2">
                  <c:v>650</c:v>
                </c:pt>
                <c:pt idx="3">
                  <c:v>704</c:v>
                </c:pt>
                <c:pt idx="4">
                  <c:v>721</c:v>
                </c:pt>
                <c:pt idx="5">
                  <c:v>771</c:v>
                </c:pt>
              </c:numCache>
            </c:numRef>
          </c:val>
        </c:ser>
        <c:dLbls>
          <c:numFmt formatCode="#,##0" sourceLinked="0"/>
          <c:txPr>
            <a:bodyPr/>
            <a:lstStyle/>
            <a:p>
              <a:pPr>
                <a:defRPr b="0" i="0" strike="noStrike" sz="1000" u="none">
                  <a:solidFill>
                    <a:srgbClr val="1A1A2E"/>
                  </a:solidFill>
                  <a:latin typeface="Arial"/>
                </a:defRPr>
              </a:pPr>
            </a:p>
          </c:txPr>
          <c:dLblPos val="in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Revenue (% of GMV)</c:v>
                </c:pt>
              </c:strCache>
            </c:strRef>
          </c:tx>
          <c:spPr>
            <a:solidFill>
              <a:srgbClr val="4A4AF4"/>
            </a:solidFill>
            <a:ln w="31750" cap="flat">
              <a:solidFill>
                <a:srgbClr val="4A4AF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93B3B"/>
              </a:solidFill>
              <a:ln w="9525" cap="flat">
                <a:solidFill>
                  <a:srgbClr val="4A4AF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Sheet1!$C$2:$C$7</c:f>
              <c:numCache>
                <c:formatCode>General</c:formatCode>
                <c:ptCount val="6"/>
                <c:pt idx="0">
                  <c:v>10.8</c:v>
                </c:pt>
                <c:pt idx="1">
                  <c:v>11</c:v>
                </c:pt>
                <c:pt idx="2">
                  <c:v>11.3</c:v>
                </c:pt>
                <c:pt idx="3">
                  <c:v>10.7</c:v>
                </c:pt>
                <c:pt idx="4">
                  <c:v>9.7</c:v>
                </c:pt>
                <c:pt idx="5">
                  <c:v>7.5</c:v>
                </c:pt>
              </c:numCache>
            </c:numRef>
          </c:val>
          <c:smooth val="0"/>
        </c:ser>
        <c:ser>
          <c:idx val="2"/>
          <c:order val="2"/>
          <c:tx>
            <c:strRef>
              <c:f>Sheet1!$D$1</c:f>
              <c:strCache>
                <c:ptCount val="1"/>
                <c:pt idx="0">
                  <c:v>Credit loss (% of GMV)</c:v>
                </c:pt>
              </c:strCache>
            </c:strRef>
          </c:tx>
          <c:spPr>
            <a:solidFill>
              <a:srgbClr val="C93B3B"/>
            </a:solidFill>
            <a:ln w="31750" cap="flat">
              <a:solidFill>
                <a:srgbClr val="C9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5B5B73"/>
              </a:solidFill>
              <a:ln w="9525" cap="flat">
                <a:solidFill>
                  <a:srgbClr val="C93B3B"/>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Sheet1!$D$2:$D$7</c:f>
              <c:numCache>
                <c:formatCode>General</c:formatCode>
                <c:ptCount val="6"/>
                <c:pt idx="0">
                  <c:v>1.4</c:v>
                </c:pt>
                <c:pt idx="1">
                  <c:v>2.9</c:v>
                </c:pt>
                <c:pt idx="2">
                  <c:v>2.1</c:v>
                </c:pt>
                <c:pt idx="3">
                  <c:v>2.5</c:v>
                </c:pt>
                <c:pt idx="4">
                  <c:v>2</c:v>
                </c:pt>
                <c:pt idx="5">
                  <c:v>1.2</c:v>
                </c:pt>
              </c:numCache>
            </c:numRef>
          </c:val>
          <c:smooth val="0"/>
        </c:ser>
        <c:ser>
          <c:idx val="3"/>
          <c:order val="3"/>
          <c:tx>
            <c:strRef>
              <c:f>Sheet1!$E$1</c:f>
              <c:strCache>
                <c:ptCount val="1"/>
                <c:pt idx="0">
                  <c:v>Funding cost (% of GMV)</c:v>
                </c:pt>
              </c:strCache>
            </c:strRef>
          </c:tx>
          <c:spPr>
            <a:solidFill>
              <a:srgbClr val="5B5B73"/>
            </a:solidFill>
            <a:ln w="31750" cap="flat">
              <a:solidFill>
                <a:srgbClr val="5B5B7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93B3B"/>
              </a:solidFill>
              <a:ln w="9525" cap="flat">
                <a:solidFill>
                  <a:srgbClr val="5B5B73"/>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Sheet1!$E$2:$E$7</c:f>
              <c:numCache>
                <c:formatCode>General</c:formatCode>
                <c:ptCount val="6"/>
                <c:pt idx="0">
                  <c:v>1</c:v>
                </c:pt>
                <c:pt idx="1">
                  <c:v>1.1</c:v>
                </c:pt>
                <c:pt idx="2">
                  <c:v>1.1</c:v>
                </c:pt>
                <c:pt idx="3">
                  <c:v>1.1</c:v>
                </c:pt>
                <c:pt idx="4">
                  <c:v>1.1</c:v>
                </c:pt>
                <c:pt idx="5">
                  <c:v>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5B73"/>
                </a:solidFill>
                <a:latin typeface="Arial"/>
              </a:defRPr>
            </a:pPr>
            <a:endParaRPr lang="en-US"/>
          </a:p>
        </c:txPr>
        <c:crossAx val="2094734552"/>
        <c:crosses val="autoZero"/>
        <c:auto val="1"/>
        <c:lblAlgn val="ctr"/>
        <c:noMultiLvlLbl val="1"/>
      </c:catAx>
      <c:valAx>
        <c:axId val="2094734552"/>
        <c:scaling>
          <c:orientation val="minMax"/>
          <c:max val="900"/>
          <c:min val="0"/>
        </c:scaling>
        <c:delete val="0"/>
        <c:axPos val="l"/>
        <c:majorGridlines>
          <c:spPr>
            <a:ln w="6350" cap="flat">
              <a:solidFill>
                <a:srgbClr val="E6E6EE"/>
              </a:solidFill>
              <a:prstDash val="solid"/>
              <a:round/>
            </a:ln>
          </c:spPr>
        </c:majorGridlines>
        <c:title>
          <c:tx>
            <c:rich>
              <a:bodyPr/>
              <a:lstStyle/>
              <a:p>
                <a:pPr>
                  <a:defRPr sz="1000" b="0" i="0" u="none" strike="noStrike">
                    <a:solidFill>
                      <a:srgbClr val="5B5B73"/>
                    </a:solidFill>
                    <a:latin typeface="Arial"/>
                  </a:defRPr>
                </a:pPr>
                <a:r>
                  <a:rPr sz="1000" b="0" i="0" u="none" strike="noStrike">
                    <a:solidFill>
                      <a:srgbClr val="5B5B73"/>
                    </a:solidFill>
                    <a:latin typeface="Arial"/>
                  </a:rPr>
                  <a:t>GMV ($K)</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valAx>
        <c:axId val="2094734553"/>
        <c:scaling>
          <c:orientation val="minMax"/>
          <c:max val="12"/>
          <c:min val="0"/>
        </c:scaling>
        <c:delete val="0"/>
        <c:axPos val="r"/>
        <c:title>
          <c:tx>
            <c:rich>
              <a:bodyPr/>
              <a:lstStyle/>
              <a:p>
                <a:pPr>
                  <a:defRPr sz="1000" b="0" i="0" u="none" strike="noStrike">
                    <a:solidFill>
                      <a:srgbClr val="5B5B73"/>
                    </a:solidFill>
                    <a:latin typeface="Arial"/>
                  </a:defRPr>
                </a:pPr>
                <a:r>
                  <a:rPr sz="1000" b="0" i="0" u="none" strike="noStrike">
                    <a:solidFill>
                      <a:srgbClr val="5B5B73"/>
                    </a:solidFill>
                    <a:latin typeface="Arial"/>
                  </a:rPr>
                  <a:t>% of GMV</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noFill/>
        <a:ln>
          <a:noFill/>
        </a:ln>
        <a:effectLst/>
      </c:spPr>
    </c:plotArea>
    <c:legend>
      <c:legendPos val="b"/>
      <c:overlay val="0"/>
      <c:txPr>
        <a:bodyPr/>
        <a:lstStyle/>
        <a:p>
          <a:pPr>
            <a:defRPr sz="1000">
              <a:solidFill>
                <a:srgbClr val="1A1A2E"/>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Customers who take a 2nd loan within 180 days (%), by first-loan vertical</a:t>
            </a:r>
          </a:p>
        </c:rich>
      </c:tx>
      <c:layout/>
      <c:overlay val="0"/>
    </c:title>
    <c:autoTitleDeleted val="0"/>
    <c:plotArea>
      <c:layout/>
      <c:barChart>
        <c:barDir val="bar"/>
        <c:grouping val="clustered"/>
        <c:varyColors val="0"/>
        <c:ser>
          <c:idx val="0"/>
          <c:order val="0"/>
          <c:tx>
            <c:strRef>
              <c:f>Sheet1!$B$1</c:f>
              <c:strCache>
                <c:ptCount val="1"/>
                <c:pt idx="0">
                  <c:v>Repeat within 180 days</c:v>
                </c:pt>
              </c:strCache>
            </c:strRef>
          </c:tx>
          <c:spPr>
            <a:solidFill>
              <a:srgbClr val="4A4AF4"/>
            </a:solidFill>
            <a:effectLst/>
          </c:spPr>
          <c:invertIfNegative val="0"/>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cat>
            <c:multiLvlStrRef>
              <c:f>Sheet1!$A$2:$A$8</c:f>
              <c:multiLvlStrCache>
                <c:ptCount val="7"/>
                <c:lvl>
                  <c:pt idx="0">
                    <c:v>Healthcare</c:v>
                  </c:pt>
                  <c:pt idx="1">
                    <c:v>Auto parts</c:v>
                  </c:pt>
                  <c:pt idx="2">
                    <c:v>Travel</c:v>
                  </c:pt>
                  <c:pt idx="3">
                    <c:v>Home furnishing</c:v>
                  </c:pt>
                  <c:pt idx="4">
                    <c:v>Fashion</c:v>
                  </c:pt>
                  <c:pt idx="5">
                    <c:v>Electronics</c:v>
                  </c:pt>
                  <c:pt idx="6">
                    <c:v>Fitness</c:v>
                  </c:pt>
                </c:lvl>
              </c:multiLvlStrCache>
            </c:multiLvlStrRef>
          </c:cat>
          <c:val>
            <c:numRef>
              <c:f>Sheet1!$B$2:$B$8</c:f>
              <c:numCache>
                <c:formatCode>General</c:formatCode>
                <c:ptCount val="7"/>
                <c:pt idx="0">
                  <c:v>17</c:v>
                </c:pt>
                <c:pt idx="1">
                  <c:v>17</c:v>
                </c:pt>
                <c:pt idx="2">
                  <c:v>20</c:v>
                </c:pt>
                <c:pt idx="3">
                  <c:v>23</c:v>
                </c:pt>
                <c:pt idx="4">
                  <c:v>94</c:v>
                </c:pt>
                <c:pt idx="5">
                  <c:v>95</c:v>
                </c:pt>
                <c:pt idx="6">
                  <c:v>96</c:v>
                </c:pt>
              </c:numCache>
            </c:numRef>
          </c:val>
        </c:ser>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max val="100"/>
        </c:scaling>
        <c:delete val="0"/>
        <c:axPos val="b"/>
        <c:majorGridlines>
          <c:spPr>
            <a:ln w="6350" cap="flat">
              <a:solidFill>
                <a:srgbClr val="E6E6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Contribution margin by origination quarter (% of GMV)</a:t>
            </a:r>
          </a:p>
        </c:rich>
      </c:tx>
      <c:layout/>
      <c:overlay val="0"/>
    </c:title>
    <c:autoTitleDeleted val="0"/>
    <c:plotArea>
      <c:layout/>
      <c:lineChart>
        <c:varyColors val="0"/>
        <c:ser>
          <c:idx val="0"/>
          <c:order val="0"/>
          <c:tx>
            <c:strRef>
              <c:f>Sheet1!$B$1</c:f>
              <c:strCache>
                <c:ptCount val="1"/>
                <c:pt idx="0">
                  <c:v>Interest-bearing</c:v>
                </c:pt>
              </c:strCache>
            </c:strRef>
          </c:tx>
          <c:spPr>
            <a:solidFill>
              <a:srgbClr val="4A4AF4"/>
            </a:solidFill>
            <a:ln w="25400" cap="flat">
              <a:solidFill>
                <a:srgbClr val="4A4AF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4A4AF4"/>
              </a:solidFill>
              <a:ln w="9525" cap="flat">
                <a:solidFill>
                  <a:srgbClr val="4A4AF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Sheet1!$B$2:$B$7</c:f>
              <c:numCache>
                <c:formatCode>General</c:formatCode>
                <c:ptCount val="6"/>
                <c:pt idx="0">
                  <c:v>13.2</c:v>
                </c:pt>
                <c:pt idx="1">
                  <c:v>11.6</c:v>
                </c:pt>
                <c:pt idx="2">
                  <c:v>11.6</c:v>
                </c:pt>
                <c:pt idx="3">
                  <c:v>9.8</c:v>
                </c:pt>
                <c:pt idx="4">
                  <c:v>9.1</c:v>
                </c:pt>
                <c:pt idx="5">
                  <c:v>6.5</c:v>
                </c:pt>
              </c:numCache>
            </c:numRef>
          </c:val>
          <c:smooth val="0"/>
        </c:ser>
        <c:ser>
          <c:idx val="1"/>
          <c:order val="1"/>
          <c:tx>
            <c:strRef>
              <c:f>Sheet1!$C$1</c:f>
              <c:strCache>
                <c:ptCount val="1"/>
                <c:pt idx="0">
                  <c:v>0% APR</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Sheet1!$C$2:$C$7</c:f>
              <c:numCache>
                <c:formatCode>General</c:formatCode>
                <c:ptCount val="6"/>
                <c:pt idx="0">
                  <c:v>4</c:v>
                </c:pt>
                <c:pt idx="1">
                  <c:v>3</c:v>
                </c:pt>
                <c:pt idx="2">
                  <c:v>4.3</c:v>
                </c:pt>
                <c:pt idx="3">
                  <c:v>4</c:v>
                </c:pt>
                <c:pt idx="4">
                  <c:v>1.6</c:v>
                </c:pt>
                <c:pt idx="5">
                  <c:v>3.7</c:v>
                </c:pt>
              </c:numCache>
            </c:numRef>
          </c:val>
          <c:smooth val="0"/>
        </c:ser>
        <c:ser>
          <c:idx val="2"/>
          <c:order val="2"/>
          <c:tx>
            <c:strRef>
              <c:f>Sheet1!$D$1</c:f>
              <c:strCache>
                <c:ptCount val="1"/>
                <c:pt idx="0">
                  <c:v>Split Pay</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Sheet1!$D$2:$D$7</c:f>
              <c:numCache>
                <c:formatCode>General</c:formatCode>
                <c:ptCount val="6"/>
                <c:pt idx="0">
                  <c:v>4</c:v>
                </c:pt>
                <c:pt idx="1">
                  <c:v>1.7</c:v>
                </c:pt>
                <c:pt idx="2">
                  <c:v>1.8</c:v>
                </c:pt>
                <c:pt idx="3">
                  <c:v>2.4</c:v>
                </c:pt>
                <c:pt idx="4">
                  <c:v>3.2</c:v>
                </c:pt>
                <c:pt idx="5">
                  <c:v>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6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where to add and where to pull back capital next year. One-line answer: grow healthcare and home furnishing merchants, invest in turning first-time customers into repeat customers, and tighten credit for the riskiest travel borrowers. The portfolio in scope: $4.0M GMV, 7,134 loans, 4,000 consumers, ~7% contribution margin after losses and funding.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Healthy trajectory: GMV up every quarter, 33% year over year for the second half. Credit quality is stable: average FICO ~652 throughout. Economics: revenue 10% of GMV, loss 2%, funding 1%, leaving ~7% contribution. Two things to flag: growth is led by interest-bearing, which is good, but also by fashion, our lowest-margin vertical; and the Q4-2024 holiday vintage had double the bad rate. Recent quarters show lower margins only because those loans are young.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Sorted by margin. Travel has five times the bad rate of any other vertical, but it is still our largest profit pool because revenue is high. The risk is concentrated in sub-640 FICO travel borrowers: 40% bad rate, and the margin disappears if the delinquent loans charge off. Fashion is half our loans but a tenth of profit. Healthcare and home furnishing combine low loss with high revenue. By product, interest-bearing earns 82% of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by product. Interest-bearing is where the profit is: its loss rate is the highest, but interest income more than covers it. 0% APR is our safest product, yet it earns a third of the interest-bearing margin: we give up the interest, fund a 12-18 month loan, and the merchant fee is not higher — at the same merchants it is actually lower than on interest-bearing loans. That is the basis for repricing. Split Pay is thin too, but it is the entry product that leads customers to interest-bearing, so we keep it as an acquisition tool rather than reprice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customer who repays their first loan is a much better risk the second time: loss falls from 2.6% to 1.0%, and that holds in every vertical and product, including on seasoned loans. 82% of loss dollars come from first loans. Repeat rates are set by the vertical: frequent-purchase verticals like fashion and electronics already get ~95%; big-ticket verticals only ~20%, which is where the upside is. And Split Pay works as an entry product: most customers move to interest-bearing, our highest-margin product, on their next loan.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moves. Two where we invest: merchant acquisition in healthcare and home furnishing, and converting first-time customers into repeat customers. One where we pull back: travel borrowers below 640 FICO, via the risk model rather than a blunt cut-off. One pricing fix: 0% APR merchant fee. Together: profit grows faster than GMV and the loss rate goes down, because growth is steered toward low-loss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lever is sized on 2025 volume at seasoned margins, with a conservative and an ambitious case. Repeat customers are the biggest profit lever. Merchant acquisition adds steady growth: each vertical only has 3–4 merchants, so one new average merchant adds 25–35% to the vertical. Tightening travel costs some profit, which is a deliberate trade for lower risk. Net: profit +7–15%, GMV +4–8%, and the loss rate goes down. 0% APR repricing is on top, but depends on merchant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trade-offs: the travel tightening is a risk decision, not a profit one. Caveats on data. Three things to watch, notably Split Pay loss creeping up, which is the cleanest read on credit trend because those loans complete in six weeks. Next steps are pilots rather than big-bang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033"/>
        </a:solidFill>
      </p:bgPr>
    </p:bg>
    <p:spTree>
      <p:nvGrpSpPr>
        <p:cNvPr id="1" name=""/>
        <p:cNvGrpSpPr/>
        <p:nvPr/>
      </p:nvGrpSpPr>
      <p:grpSpPr>
        <a:xfrm>
          <a:off x="0" y="0"/>
          <a:ext cx="0" cy="0"/>
          <a:chOff x="0" y="0"/>
          <a:chExt cx="0" cy="0"/>
        </a:xfrm>
      </p:grpSpPr>
      <p:sp>
        <p:nvSpPr>
          <p:cNvPr id="2" name="Shape 0"/>
          <p:cNvSpPr/>
          <p:nvPr/>
        </p:nvSpPr>
        <p:spPr>
          <a:xfrm>
            <a:off x="8138160" y="-1463040"/>
            <a:ext cx="5669280" cy="5669280"/>
          </a:xfrm>
          <a:prstGeom prst="ellipse">
            <a:avLst/>
          </a:prstGeom>
          <a:solidFill>
            <a:srgbClr val="4A4AF4"/>
          </a:solidFill>
          <a:ln w="12700">
            <a:solidFill>
              <a:srgbClr val="4A4AF4"/>
            </a:solidFill>
            <a:prstDash val="solid"/>
          </a:ln>
        </p:spPr>
      </p:sp>
      <p:sp>
        <p:nvSpPr>
          <p:cNvPr id="3" name="Shape 1"/>
          <p:cNvSpPr/>
          <p:nvPr/>
        </p:nvSpPr>
        <p:spPr>
          <a:xfrm>
            <a:off x="9692640" y="3291840"/>
            <a:ext cx="3108960" cy="3108960"/>
          </a:xfrm>
          <a:prstGeom prst="ellipse">
            <a:avLst/>
          </a:prstGeom>
          <a:solidFill>
            <a:srgbClr val="2B2CA8"/>
          </a:solidFill>
          <a:ln w="12700">
            <a:solidFill>
              <a:srgbClr val="2B2CA8"/>
            </a:solidFill>
            <a:prstDash val="solid"/>
          </a:ln>
        </p:spPr>
      </p:sp>
      <p:sp>
        <p:nvSpPr>
          <p:cNvPr id="4" name="Text 2"/>
          <p:cNvSpPr txBox="1"/>
          <p:nvPr/>
        </p:nvSpPr>
        <p:spPr>
          <a:xfrm>
            <a:off x="548640" y="1554480"/>
            <a:ext cx="7315200" cy="320040"/>
          </a:xfrm>
          <a:prstGeom prst="rect">
            <a:avLst/>
          </a:prstGeom>
          <a:noFill/>
          <a:ln/>
        </p:spPr>
        <p:txBody>
          <a:bodyPr wrap="square" lIns="0" tIns="0" rIns="0" bIns="0" rtlCol="0" anchor="ctr"/>
          <a:lstStyle/>
          <a:p>
            <a:pPr indent="0" marL="0">
              <a:buNone/>
            </a:pPr>
            <a:r>
              <a:rPr lang="en-US" sz="1200" b="1" spc="200" kern="0" dirty="0">
                <a:solidFill>
                  <a:srgbClr val="D9D9FC"/>
                </a:solidFill>
                <a:latin typeface="Arial" pitchFamily="34" charset="0"/>
                <a:ea typeface="Arial" pitchFamily="34" charset="-122"/>
                <a:cs typeface="Arial" pitchFamily="34" charset="-120"/>
              </a:rPr>
              <a:t>RISK &amp; ANALYTICS  ·  PORTFOLIO REVIEW</a:t>
            </a:r>
            <a:endParaRPr lang="en-US" sz="1200" dirty="0"/>
          </a:p>
        </p:txBody>
      </p:sp>
      <p:sp>
        <p:nvSpPr>
          <p:cNvPr id="5" name="Text 3"/>
          <p:cNvSpPr txBox="1"/>
          <p:nvPr/>
        </p:nvSpPr>
        <p:spPr>
          <a:xfrm>
            <a:off x="548640" y="1965960"/>
            <a:ext cx="7589520"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Where to invest next year</a:t>
            </a:r>
            <a:endParaRPr lang="en-US" sz="4400" dirty="0"/>
          </a:p>
        </p:txBody>
      </p:sp>
      <p:sp>
        <p:nvSpPr>
          <p:cNvPr id="6" name="Text 4"/>
          <p:cNvSpPr txBox="1"/>
          <p:nvPr/>
        </p:nvSpPr>
        <p:spPr>
          <a:xfrm>
            <a:off x="548640" y="3017520"/>
            <a:ext cx="7132320" cy="822960"/>
          </a:xfrm>
          <a:prstGeom prst="rect">
            <a:avLst/>
          </a:prstGeom>
          <a:noFill/>
          <a:ln/>
        </p:spPr>
        <p:txBody>
          <a:bodyPr wrap="square" lIns="0" tIns="0" rIns="0" bIns="0" rtlCol="0" anchor="t"/>
          <a:lstStyle/>
          <a:p>
            <a:pPr indent="0" marL="0">
              <a:buNone/>
            </a:pPr>
            <a:r>
              <a:rPr lang="en-US" sz="2000" dirty="0">
                <a:solidFill>
                  <a:srgbClr val="D9D9FC"/>
                </a:solidFill>
                <a:latin typeface="Arial" pitchFamily="34" charset="0"/>
                <a:ea typeface="Arial" pitchFamily="34" charset="-122"/>
                <a:cs typeface="Arial" pitchFamily="34" charset="-120"/>
              </a:rPr>
              <a:t>Grow low-loss verticals and repeat customers; tighten the riskiest travel credit</a:t>
            </a:r>
            <a:endParaRPr lang="en-US" sz="2000" dirty="0"/>
          </a:p>
        </p:txBody>
      </p:sp>
      <p:sp>
        <p:nvSpPr>
          <p:cNvPr id="7" name="Text 5"/>
          <p:cNvSpPr txBox="1"/>
          <p:nvPr/>
        </p:nvSpPr>
        <p:spPr>
          <a:xfrm>
            <a:off x="54864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$4.0M</a:t>
            </a:r>
            <a:endParaRPr lang="en-US" sz="2400" dirty="0"/>
          </a:p>
        </p:txBody>
      </p:sp>
      <p:sp>
        <p:nvSpPr>
          <p:cNvPr id="8" name="Text 6"/>
          <p:cNvSpPr txBox="1"/>
          <p:nvPr/>
        </p:nvSpPr>
        <p:spPr>
          <a:xfrm>
            <a:off x="54864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GMV</a:t>
            </a:r>
            <a:endParaRPr lang="en-US" sz="1200" dirty="0"/>
          </a:p>
        </p:txBody>
      </p:sp>
      <p:sp>
        <p:nvSpPr>
          <p:cNvPr id="9" name="Text 7"/>
          <p:cNvSpPr txBox="1"/>
          <p:nvPr/>
        </p:nvSpPr>
        <p:spPr>
          <a:xfrm>
            <a:off x="233172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7,134</a:t>
            </a:r>
            <a:endParaRPr lang="en-US" sz="2400" dirty="0"/>
          </a:p>
        </p:txBody>
      </p:sp>
      <p:sp>
        <p:nvSpPr>
          <p:cNvPr id="10" name="Text 8"/>
          <p:cNvSpPr txBox="1"/>
          <p:nvPr/>
        </p:nvSpPr>
        <p:spPr>
          <a:xfrm>
            <a:off x="233172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loans</a:t>
            </a:r>
            <a:endParaRPr lang="en-US" sz="1200" dirty="0"/>
          </a:p>
        </p:txBody>
      </p:sp>
      <p:sp>
        <p:nvSpPr>
          <p:cNvPr id="11" name="Text 9"/>
          <p:cNvSpPr txBox="1"/>
          <p:nvPr/>
        </p:nvSpPr>
        <p:spPr>
          <a:xfrm>
            <a:off x="411480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4,000</a:t>
            </a:r>
            <a:endParaRPr lang="en-US" sz="2400" dirty="0"/>
          </a:p>
        </p:txBody>
      </p:sp>
      <p:sp>
        <p:nvSpPr>
          <p:cNvPr id="12" name="Text 10"/>
          <p:cNvSpPr txBox="1"/>
          <p:nvPr/>
        </p:nvSpPr>
        <p:spPr>
          <a:xfrm>
            <a:off x="411480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consumers</a:t>
            </a:r>
            <a:endParaRPr lang="en-US" sz="1200" dirty="0"/>
          </a:p>
        </p:txBody>
      </p:sp>
      <p:sp>
        <p:nvSpPr>
          <p:cNvPr id="13" name="Text 11"/>
          <p:cNvSpPr txBox="1"/>
          <p:nvPr/>
        </p:nvSpPr>
        <p:spPr>
          <a:xfrm>
            <a:off x="589788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7.0%</a:t>
            </a:r>
            <a:endParaRPr lang="en-US" sz="2400" dirty="0"/>
          </a:p>
        </p:txBody>
      </p:sp>
      <p:sp>
        <p:nvSpPr>
          <p:cNvPr id="14" name="Text 12"/>
          <p:cNvSpPr txBox="1"/>
          <p:nvPr/>
        </p:nvSpPr>
        <p:spPr>
          <a:xfrm>
            <a:off x="589788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contribution margin</a:t>
            </a:r>
            <a:endParaRPr lang="en-US" sz="1200" dirty="0"/>
          </a:p>
        </p:txBody>
      </p:sp>
      <p:sp>
        <p:nvSpPr>
          <p:cNvPr id="15" name="Text 13"/>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D9D9FC"/>
                </a:solidFill>
                <a:latin typeface="Arial" pitchFamily="34" charset="0"/>
                <a:ea typeface="Arial" pitchFamily="34" charset="-122"/>
                <a:cs typeface="Arial" pitchFamily="34" charset="-120"/>
              </a:rPr>
              <a:t>Loans originated Jul 2024 – Dec 2025, snapshot 31 Dec 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PORTFOLIO HEALTH</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The book grew 33% year over year with stable credit quality and a ~7% margin</a:t>
            </a:r>
            <a:endParaRPr lang="en-US" sz="2600" dirty="0"/>
          </a:p>
        </p:txBody>
      </p:sp>
      <p:graphicFrame>
        <p:nvGraphicFramePr>
          <p:cNvPr id="4" name="Chart 0" descr=""/>
          <p:cNvGraphicFramePr/>
          <p:nvPr/>
        </p:nvGraphicFramePr>
        <p:xfrm>
          <a:off x="548640" y="132588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589520" y="1417320"/>
            <a:ext cx="4053535" cy="320040"/>
          </a:xfrm>
          <a:prstGeom prst="rect">
            <a:avLst/>
          </a:prstGeom>
          <a:noFill/>
          <a:ln/>
        </p:spPr>
        <p:txBody>
          <a:bodyPr wrap="square" lIns="0" tIns="0" rIns="0" bIns="0" rtlCol="0" anchor="ctr"/>
          <a:lstStyle/>
          <a:p>
            <a:pPr indent="0" marL="0">
              <a:buNone/>
            </a:pPr>
            <a:r>
              <a:rPr lang="en-US" sz="1300" b="1" dirty="0">
                <a:solidFill>
                  <a:srgbClr val="1A1A2E"/>
                </a:solidFill>
                <a:latin typeface="Arial" pitchFamily="34" charset="0"/>
                <a:ea typeface="Arial" pitchFamily="34" charset="-122"/>
                <a:cs typeface="Arial" pitchFamily="34" charset="-120"/>
              </a:rPr>
              <a:t>Unit economics, % of GMV</a:t>
            </a:r>
            <a:endParaRPr lang="en-US" sz="1300" dirty="0"/>
          </a:p>
        </p:txBody>
      </p:sp>
      <p:sp>
        <p:nvSpPr>
          <p:cNvPr id="6" name="Text 3"/>
          <p:cNvSpPr txBox="1"/>
          <p:nvPr/>
        </p:nvSpPr>
        <p:spPr>
          <a:xfrm>
            <a:off x="7589520" y="182880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Revenue (merchant fee + interest)</a:t>
            </a:r>
            <a:endParaRPr lang="en-US" sz="1300" dirty="0"/>
          </a:p>
        </p:txBody>
      </p:sp>
      <p:sp>
        <p:nvSpPr>
          <p:cNvPr id="7" name="Text 4"/>
          <p:cNvSpPr txBox="1"/>
          <p:nvPr/>
        </p:nvSpPr>
        <p:spPr>
          <a:xfrm>
            <a:off x="10545775" y="1828800"/>
            <a:ext cx="1097280" cy="411480"/>
          </a:xfrm>
          <a:prstGeom prst="rect">
            <a:avLst/>
          </a:prstGeom>
          <a:noFill/>
          <a:ln/>
        </p:spPr>
        <p:txBody>
          <a:bodyPr wrap="square" lIns="0" tIns="0" rIns="0" bIns="0" rtlCol="0" anchor="ctr"/>
          <a:lstStyle/>
          <a:p>
            <a:pPr algn="r" indent="0" marL="0">
              <a:buNone/>
            </a:pPr>
            <a:r>
              <a:rPr lang="en-US" sz="1600" b="1" dirty="0">
                <a:solidFill>
                  <a:srgbClr val="1A1A2E"/>
                </a:solidFill>
                <a:latin typeface="Arial" pitchFamily="34" charset="0"/>
                <a:ea typeface="Arial" pitchFamily="34" charset="-122"/>
                <a:cs typeface="Arial" pitchFamily="34" charset="-120"/>
              </a:rPr>
              <a:t>10.0%</a:t>
            </a:r>
            <a:endParaRPr lang="en-US" sz="1600" dirty="0"/>
          </a:p>
        </p:txBody>
      </p:sp>
      <p:sp>
        <p:nvSpPr>
          <p:cNvPr id="8" name="Text 5"/>
          <p:cNvSpPr txBox="1"/>
          <p:nvPr/>
        </p:nvSpPr>
        <p:spPr>
          <a:xfrm>
            <a:off x="7589520" y="233172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 Credit loss</a:t>
            </a:r>
            <a:endParaRPr lang="en-US" sz="1300" dirty="0"/>
          </a:p>
        </p:txBody>
      </p:sp>
      <p:sp>
        <p:nvSpPr>
          <p:cNvPr id="9" name="Text 6"/>
          <p:cNvSpPr txBox="1"/>
          <p:nvPr/>
        </p:nvSpPr>
        <p:spPr>
          <a:xfrm>
            <a:off x="10545775" y="2331720"/>
            <a:ext cx="1097280" cy="411480"/>
          </a:xfrm>
          <a:prstGeom prst="rect">
            <a:avLst/>
          </a:prstGeom>
          <a:noFill/>
          <a:ln/>
        </p:spPr>
        <p:txBody>
          <a:bodyPr wrap="square" lIns="0" tIns="0" rIns="0" bIns="0" rtlCol="0" anchor="ctr"/>
          <a:lstStyle/>
          <a:p>
            <a:pPr algn="r" indent="0" marL="0">
              <a:buNone/>
            </a:pPr>
            <a:r>
              <a:rPr lang="en-US" sz="1600" b="1" dirty="0">
                <a:solidFill>
                  <a:srgbClr val="C93B3B"/>
                </a:solidFill>
                <a:latin typeface="Arial" pitchFamily="34" charset="0"/>
                <a:ea typeface="Arial" pitchFamily="34" charset="-122"/>
                <a:cs typeface="Arial" pitchFamily="34" charset="-120"/>
              </a:rPr>
              <a:t>2.0%</a:t>
            </a:r>
            <a:endParaRPr lang="en-US" sz="1600" dirty="0"/>
          </a:p>
        </p:txBody>
      </p:sp>
      <p:sp>
        <p:nvSpPr>
          <p:cNvPr id="10" name="Text 7"/>
          <p:cNvSpPr txBox="1"/>
          <p:nvPr/>
        </p:nvSpPr>
        <p:spPr>
          <a:xfrm>
            <a:off x="7589520" y="283464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 Funding cost</a:t>
            </a:r>
            <a:endParaRPr lang="en-US" sz="1300" dirty="0"/>
          </a:p>
        </p:txBody>
      </p:sp>
      <p:sp>
        <p:nvSpPr>
          <p:cNvPr id="11" name="Text 8"/>
          <p:cNvSpPr txBox="1"/>
          <p:nvPr/>
        </p:nvSpPr>
        <p:spPr>
          <a:xfrm>
            <a:off x="10545775" y="2834640"/>
            <a:ext cx="1097280" cy="411480"/>
          </a:xfrm>
          <a:prstGeom prst="rect">
            <a:avLst/>
          </a:prstGeom>
          <a:noFill/>
          <a:ln/>
        </p:spPr>
        <p:txBody>
          <a:bodyPr wrap="square" lIns="0" tIns="0" rIns="0" bIns="0" rtlCol="0" anchor="ctr"/>
          <a:lstStyle/>
          <a:p>
            <a:pPr algn="r" indent="0" marL="0">
              <a:buNone/>
            </a:pPr>
            <a:r>
              <a:rPr lang="en-US" sz="1600" b="1" dirty="0">
                <a:solidFill>
                  <a:srgbClr val="C93B3B"/>
                </a:solidFill>
                <a:latin typeface="Arial" pitchFamily="34" charset="0"/>
                <a:ea typeface="Arial" pitchFamily="34" charset="-122"/>
                <a:cs typeface="Arial" pitchFamily="34" charset="-120"/>
              </a:rPr>
              <a:t>1.1%</a:t>
            </a:r>
            <a:endParaRPr lang="en-US" sz="1600" dirty="0"/>
          </a:p>
        </p:txBody>
      </p:sp>
      <p:sp>
        <p:nvSpPr>
          <p:cNvPr id="12" name="Shape 9"/>
          <p:cNvSpPr/>
          <p:nvPr/>
        </p:nvSpPr>
        <p:spPr>
          <a:xfrm>
            <a:off x="7589520" y="3401568"/>
            <a:ext cx="4053535" cy="548640"/>
          </a:xfrm>
          <a:prstGeom prst="roundRect">
            <a:avLst>
              <a:gd name="adj" fmla="val 20000"/>
            </a:avLst>
          </a:prstGeom>
          <a:solidFill>
            <a:srgbClr val="ECECFE"/>
          </a:solidFill>
          <a:ln w="12700">
            <a:solidFill>
              <a:srgbClr val="ECECFE"/>
            </a:solidFill>
            <a:prstDash val="solid"/>
          </a:ln>
        </p:spPr>
      </p:sp>
      <p:sp>
        <p:nvSpPr>
          <p:cNvPr id="13" name="Text 10"/>
          <p:cNvSpPr txBox="1"/>
          <p:nvPr/>
        </p:nvSpPr>
        <p:spPr>
          <a:xfrm>
            <a:off x="7726680" y="3401568"/>
            <a:ext cx="2773375" cy="548640"/>
          </a:xfrm>
          <a:prstGeom prst="rect">
            <a:avLst/>
          </a:prstGeom>
          <a:noFill/>
          <a:ln/>
        </p:spPr>
        <p:txBody>
          <a:bodyPr wrap="square" lIns="0" tIns="0" rIns="0" bIns="0" rtlCol="0" anchor="ctr"/>
          <a:lstStyle/>
          <a:p>
            <a:pPr indent="0" marL="0">
              <a:buNone/>
            </a:pPr>
            <a:r>
              <a:rPr lang="en-US" sz="1300" b="1" dirty="0">
                <a:solidFill>
                  <a:srgbClr val="1A1A2E"/>
                </a:solidFill>
                <a:latin typeface="Arial" pitchFamily="34" charset="0"/>
                <a:ea typeface="Arial" pitchFamily="34" charset="-122"/>
                <a:cs typeface="Arial" pitchFamily="34" charset="-120"/>
              </a:rPr>
              <a:t>= Contribution margin</a:t>
            </a:r>
            <a:endParaRPr lang="en-US" sz="1300" dirty="0"/>
          </a:p>
        </p:txBody>
      </p:sp>
      <p:sp>
        <p:nvSpPr>
          <p:cNvPr id="14" name="Text 11"/>
          <p:cNvSpPr txBox="1"/>
          <p:nvPr/>
        </p:nvSpPr>
        <p:spPr>
          <a:xfrm>
            <a:off x="10408615" y="3401568"/>
            <a:ext cx="1097280" cy="548640"/>
          </a:xfrm>
          <a:prstGeom prst="rect">
            <a:avLst/>
          </a:prstGeom>
          <a:noFill/>
          <a:ln/>
        </p:spPr>
        <p:txBody>
          <a:bodyPr wrap="square" lIns="0" tIns="0" rIns="0" bIns="0" rtlCol="0" anchor="ctr"/>
          <a:lstStyle/>
          <a:p>
            <a:pPr algn="r" indent="0" marL="0">
              <a:buNone/>
            </a:pPr>
            <a:r>
              <a:rPr lang="en-US" sz="2000" b="1" dirty="0">
                <a:solidFill>
                  <a:srgbClr val="4A4AF4"/>
                </a:solidFill>
                <a:latin typeface="Arial" pitchFamily="34" charset="0"/>
                <a:ea typeface="Arial" pitchFamily="34" charset="-122"/>
                <a:cs typeface="Arial" pitchFamily="34" charset="-120"/>
              </a:rPr>
              <a:t>7.0%</a:t>
            </a:r>
            <a:endParaRPr lang="en-US" sz="2000" dirty="0"/>
          </a:p>
        </p:txBody>
      </p:sp>
      <p:sp>
        <p:nvSpPr>
          <p:cNvPr id="15" name="Text 12"/>
          <p:cNvSpPr txBox="1"/>
          <p:nvPr/>
        </p:nvSpPr>
        <p:spPr>
          <a:xfrm>
            <a:off x="7589520" y="4160520"/>
            <a:ext cx="4053535"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Growth mix: interest-bearing +64% (highest margin), fashion +84% (lowest margin)</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Average FICO flat at ~652 — growth didn't come from loosening credit</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Holiday vintage (Q4-24): 10% of loans went bad, 2× other quarters</a:t>
            </a:r>
            <a:endParaRPr lang="en-US" sz="1200" dirty="0"/>
          </a:p>
        </p:txBody>
      </p:sp>
      <p:sp>
        <p:nvSpPr>
          <p:cNvPr id="16" name="Text 13"/>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YoY = Jul–Dec 2025 vs Jul–Dec 2024. Q3–Q4 2025 loans are young, so their revenue and loss are still accruing. Funding = cost of funds × term × ½ principal.</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WHERE VALUE AND RISK SIT</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Travel carries the risk, fashion dilutes the margin, healthcare and home furnishing lead</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1600200"/>
                <a:gridCol w="960120"/>
                <a:gridCol w="960120"/>
                <a:gridCol w="868680"/>
                <a:gridCol w="868680"/>
                <a:gridCol w="868680"/>
                <a:gridCol w="1097280"/>
              </a:tblGrid>
              <a:tr h="47548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Vertical</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Share of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Share of GMV</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Bad rate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Loss rate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Margin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Share of profit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Healthcare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9.1%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Travel</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Fitness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Home furnishing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7.4%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Electronics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Auto parts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Fashion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3.8%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bl>
          </a:graphicData>
        </a:graphic>
      </p:graphicFrame>
      <p:sp>
        <p:nvSpPr>
          <p:cNvPr id="5" name="Shape 2"/>
          <p:cNvSpPr/>
          <p:nvPr/>
        </p:nvSpPr>
        <p:spPr>
          <a:xfrm>
            <a:off x="8138160" y="1463040"/>
            <a:ext cx="3504895" cy="1417320"/>
          </a:xfrm>
          <a:prstGeom prst="roundRect">
            <a:avLst>
              <a:gd name="adj" fmla="val 7742"/>
            </a:avLst>
          </a:prstGeom>
          <a:solidFill>
            <a:srgbClr val="F6F6FE"/>
          </a:solidFill>
          <a:ln w="12700">
            <a:solidFill>
              <a:srgbClr val="F6F6FE"/>
            </a:solidFill>
            <a:prstDash val="solid"/>
          </a:ln>
        </p:spPr>
      </p:sp>
      <p:sp>
        <p:nvSpPr>
          <p:cNvPr id="6" name="Text 3"/>
          <p:cNvSpPr txBox="1"/>
          <p:nvPr/>
        </p:nvSpPr>
        <p:spPr>
          <a:xfrm>
            <a:off x="8321040" y="1572768"/>
            <a:ext cx="3139135" cy="347472"/>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Travel, FICO &lt; 640</a:t>
            </a:r>
            <a:endParaRPr lang="en-US" sz="1400" dirty="0"/>
          </a:p>
        </p:txBody>
      </p:sp>
      <p:sp>
        <p:nvSpPr>
          <p:cNvPr id="7" name="Text 4"/>
          <p:cNvSpPr txBox="1"/>
          <p:nvPr/>
        </p:nvSpPr>
        <p:spPr>
          <a:xfrm>
            <a:off x="8321040" y="1938528"/>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~40% delinquent or charged off; 6.3% loss. Margin 6.7% falls to ~0% if delinquent loans charge off.</a:t>
            </a:r>
            <a:endParaRPr lang="en-US" sz="1200" dirty="0"/>
          </a:p>
        </p:txBody>
      </p:sp>
      <p:sp>
        <p:nvSpPr>
          <p:cNvPr id="8" name="Shape 5"/>
          <p:cNvSpPr/>
          <p:nvPr/>
        </p:nvSpPr>
        <p:spPr>
          <a:xfrm>
            <a:off x="8138160" y="3035808"/>
            <a:ext cx="3504895" cy="1417320"/>
          </a:xfrm>
          <a:prstGeom prst="roundRect">
            <a:avLst>
              <a:gd name="adj" fmla="val 7742"/>
            </a:avLst>
          </a:prstGeom>
          <a:solidFill>
            <a:srgbClr val="F6F6FE"/>
          </a:solidFill>
          <a:ln w="12700">
            <a:solidFill>
              <a:srgbClr val="F6F6FE"/>
            </a:solidFill>
            <a:prstDash val="solid"/>
          </a:ln>
        </p:spPr>
      </p:sp>
      <p:sp>
        <p:nvSpPr>
          <p:cNvPr id="9" name="Text 6"/>
          <p:cNvSpPr txBox="1"/>
          <p:nvPr/>
        </p:nvSpPr>
        <p:spPr>
          <a:xfrm>
            <a:off x="8321040" y="3145536"/>
            <a:ext cx="3139135" cy="347472"/>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Fashion</a:t>
            </a:r>
            <a:endParaRPr lang="en-US" sz="1400" dirty="0"/>
          </a:p>
        </p:txBody>
      </p:sp>
      <p:sp>
        <p:nvSpPr>
          <p:cNvPr id="10" name="Text 7"/>
          <p:cNvSpPr txBox="1"/>
          <p:nvPr/>
        </p:nvSpPr>
        <p:spPr>
          <a:xfrm>
            <a:off x="8321040" y="3511296"/>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51% of loans but 10% of profit. Small tickets; fashion Split Pay earns ~1% margin.</a:t>
            </a:r>
            <a:endParaRPr lang="en-US" sz="1200" dirty="0"/>
          </a:p>
        </p:txBody>
      </p:sp>
      <p:sp>
        <p:nvSpPr>
          <p:cNvPr id="11" name="Shape 8"/>
          <p:cNvSpPr/>
          <p:nvPr/>
        </p:nvSpPr>
        <p:spPr>
          <a:xfrm>
            <a:off x="8138160" y="4608576"/>
            <a:ext cx="3504895" cy="1417320"/>
          </a:xfrm>
          <a:prstGeom prst="roundRect">
            <a:avLst>
              <a:gd name="adj" fmla="val 7742"/>
            </a:avLst>
          </a:prstGeom>
          <a:solidFill>
            <a:srgbClr val="F6F6FE"/>
          </a:solidFill>
          <a:ln w="12700">
            <a:solidFill>
              <a:srgbClr val="F6F6FE"/>
            </a:solidFill>
            <a:prstDash val="solid"/>
          </a:ln>
        </p:spPr>
      </p:sp>
      <p:sp>
        <p:nvSpPr>
          <p:cNvPr id="12" name="Text 9"/>
          <p:cNvSpPr txBox="1"/>
          <p:nvPr/>
        </p:nvSpPr>
        <p:spPr>
          <a:xfrm>
            <a:off x="8321040" y="4718304"/>
            <a:ext cx="3139135" cy="347472"/>
          </a:xfrm>
          <a:prstGeom prst="rect">
            <a:avLst/>
          </a:prstGeom>
          <a:noFill/>
          <a:ln/>
        </p:spPr>
        <p:txBody>
          <a:bodyPr wrap="square" lIns="0" tIns="0" rIns="0" bIns="0" rtlCol="0" anchor="ctr"/>
          <a:lstStyle/>
          <a:p>
            <a:pPr indent="0" marL="0">
              <a:buNone/>
            </a:pPr>
            <a:r>
              <a:rPr lang="en-US" sz="1400" b="1" dirty="0">
                <a:solidFill>
                  <a:srgbClr val="1E8A4C"/>
                </a:solidFill>
                <a:latin typeface="Arial" pitchFamily="34" charset="0"/>
                <a:ea typeface="Arial" pitchFamily="34" charset="-122"/>
                <a:cs typeface="Arial" pitchFamily="34" charset="-120"/>
              </a:rPr>
              <a:t>Healthcare &amp; home furnishing</a:t>
            </a:r>
            <a:endParaRPr lang="en-US" sz="1400" dirty="0"/>
          </a:p>
        </p:txBody>
      </p:sp>
      <p:sp>
        <p:nvSpPr>
          <p:cNvPr id="13" name="Text 10"/>
          <p:cNvSpPr txBox="1"/>
          <p:nvPr/>
        </p:nvSpPr>
        <p:spPr>
          <a:xfrm>
            <a:off x="8321040" y="5084064"/>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Low loss (1.2–1.5%) with high revenue. A healthcare customer is worth ~$215 in profit over their loans.</a:t>
            </a:r>
            <a:endParaRPr lang="en-US" sz="1200" dirty="0"/>
          </a:p>
        </p:txBody>
      </p:sp>
      <p:sp>
        <p:nvSpPr>
          <p:cNvPr id="14" name="Text 11"/>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Bad rate = share of loans delinquent 30/60 or charged off. Rates are % of GMV. Ranking holds on seasoned loans (originated by Jun 2025).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WHERE VALUE SITS BY PRODUCT</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Interest-bearing earns 82% of profit; 0% APR gives up interest without a higher merchant fee</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8800"/>
                <a:gridCol w="1188720"/>
                <a:gridCol w="1188720"/>
                <a:gridCol w="1005840"/>
                <a:gridCol w="1097280"/>
                <a:gridCol w="1234440"/>
                <a:gridCol w="1097280"/>
                <a:gridCol w="1097280"/>
                <a:gridCol w="1356055"/>
              </a:tblGrid>
              <a:tr h="548640">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Product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Share of loans</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Share of GMV</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Avg FICO</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Loss rate</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Merchant fee</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Interest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Margin</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Share of profit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548640">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Interest-bearing</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58%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644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2.3%</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7.4%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9.9%</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82%</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48640">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0% APR</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683</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1.0%</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5.7%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3.4%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48640">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Split Pay</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656</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2.2%</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5.0%</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2.6%</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3840480"/>
            <a:ext cx="3515258" cy="1874520"/>
          </a:xfrm>
          <a:prstGeom prst="roundRect">
            <a:avLst>
              <a:gd name="adj" fmla="val 5854"/>
            </a:avLst>
          </a:prstGeom>
          <a:solidFill>
            <a:srgbClr val="F6F6FE"/>
          </a:solidFill>
          <a:ln w="12700">
            <a:solidFill>
              <a:srgbClr val="F6F6FE"/>
            </a:solidFill>
            <a:prstDash val="solid"/>
          </a:ln>
        </p:spPr>
      </p:sp>
      <p:sp>
        <p:nvSpPr>
          <p:cNvPr id="6" name="Text 3"/>
          <p:cNvSpPr txBox="1"/>
          <p:nvPr/>
        </p:nvSpPr>
        <p:spPr>
          <a:xfrm>
            <a:off x="777240" y="3977640"/>
            <a:ext cx="3058058" cy="365760"/>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0% APR is under-priced</a:t>
            </a:r>
            <a:endParaRPr lang="en-US" sz="1400" dirty="0"/>
          </a:p>
        </p:txBody>
      </p:sp>
      <p:sp>
        <p:nvSpPr>
          <p:cNvPr id="7" name="Text 4"/>
          <p:cNvSpPr txBox="1"/>
          <p:nvPr/>
        </p:nvSpPr>
        <p:spPr>
          <a:xfrm>
            <a:off x="777240" y="4389120"/>
            <a:ext cx="3058058" cy="123444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Lowest risk (FICO 683, 1.0% loss), but no interest and a 12–18 month term to fund. The promo is meant to be paid for by a higher merchant fee — yet at the same promo merchants its fee averages 5.0% vs 5.4% for interest-bearing.</a:t>
            </a:r>
            <a:endParaRPr lang="en-US" sz="1200" dirty="0"/>
          </a:p>
        </p:txBody>
      </p:sp>
      <p:sp>
        <p:nvSpPr>
          <p:cNvPr id="8" name="Shape 5"/>
          <p:cNvSpPr/>
          <p:nvPr/>
        </p:nvSpPr>
        <p:spPr>
          <a:xfrm>
            <a:off x="4338218" y="3840480"/>
            <a:ext cx="3515258" cy="1874520"/>
          </a:xfrm>
          <a:prstGeom prst="roundRect">
            <a:avLst>
              <a:gd name="adj" fmla="val 5854"/>
            </a:avLst>
          </a:prstGeom>
          <a:solidFill>
            <a:srgbClr val="F6F6FE"/>
          </a:solidFill>
          <a:ln w="12700">
            <a:solidFill>
              <a:srgbClr val="F6F6FE"/>
            </a:solidFill>
            <a:prstDash val="solid"/>
          </a:ln>
        </p:spPr>
      </p:sp>
      <p:sp>
        <p:nvSpPr>
          <p:cNvPr id="9" name="Text 6"/>
          <p:cNvSpPr txBox="1"/>
          <p:nvPr/>
        </p:nvSpPr>
        <p:spPr>
          <a:xfrm>
            <a:off x="4566818" y="3977640"/>
            <a:ext cx="3058058" cy="365760"/>
          </a:xfrm>
          <a:prstGeom prst="rect">
            <a:avLst/>
          </a:prstGeom>
          <a:noFill/>
          <a:ln/>
        </p:spPr>
        <p:txBody>
          <a:bodyPr wrap="square" lIns="0" tIns="0" rIns="0" bIns="0" rtlCol="0" anchor="ctr"/>
          <a:lstStyle/>
          <a:p>
            <a:pPr indent="0" marL="0">
              <a:buNone/>
            </a:pPr>
            <a:r>
              <a:rPr lang="en-US" sz="1400" b="1" dirty="0">
                <a:solidFill>
                  <a:srgbClr val="4A4AF4"/>
                </a:solidFill>
                <a:latin typeface="Arial" pitchFamily="34" charset="0"/>
                <a:ea typeface="Arial" pitchFamily="34" charset="-122"/>
                <a:cs typeface="Arial" pitchFamily="34" charset="-120"/>
              </a:rPr>
              <a:t>Split Pay is an entry product</a:t>
            </a:r>
            <a:endParaRPr lang="en-US" sz="1400" dirty="0"/>
          </a:p>
        </p:txBody>
      </p:sp>
      <p:sp>
        <p:nvSpPr>
          <p:cNvPr id="10" name="Text 7"/>
          <p:cNvSpPr txBox="1"/>
          <p:nvPr/>
        </p:nvSpPr>
        <p:spPr>
          <a:xfrm>
            <a:off x="4566818" y="4389120"/>
            <a:ext cx="3058058" cy="123444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Thin margin (2.6%) with loss as high as interest-bearing, but 63% of customers who start with Split Pay take an interest-bearing loan next.</a:t>
            </a:r>
            <a:endParaRPr lang="en-US" sz="1200" dirty="0"/>
          </a:p>
        </p:txBody>
      </p:sp>
      <p:sp>
        <p:nvSpPr>
          <p:cNvPr id="11" name="Shape 8"/>
          <p:cNvSpPr/>
          <p:nvPr/>
        </p:nvSpPr>
        <p:spPr>
          <a:xfrm>
            <a:off x="8127797" y="3840480"/>
            <a:ext cx="3515258" cy="1874520"/>
          </a:xfrm>
          <a:prstGeom prst="roundRect">
            <a:avLst>
              <a:gd name="adj" fmla="val 5854"/>
            </a:avLst>
          </a:prstGeom>
          <a:solidFill>
            <a:srgbClr val="F6F6FE"/>
          </a:solidFill>
          <a:ln w="12700">
            <a:solidFill>
              <a:srgbClr val="F6F6FE"/>
            </a:solidFill>
            <a:prstDash val="solid"/>
          </a:ln>
        </p:spPr>
      </p:sp>
      <p:sp>
        <p:nvSpPr>
          <p:cNvPr id="12" name="Text 9"/>
          <p:cNvSpPr txBox="1"/>
          <p:nvPr/>
        </p:nvSpPr>
        <p:spPr>
          <a:xfrm>
            <a:off x="8356397" y="3977640"/>
            <a:ext cx="3058058" cy="365760"/>
          </a:xfrm>
          <a:prstGeom prst="rect">
            <a:avLst/>
          </a:prstGeom>
          <a:noFill/>
          <a:ln/>
        </p:spPr>
        <p:txBody>
          <a:bodyPr wrap="square" lIns="0" tIns="0" rIns="0" bIns="0" rtlCol="0" anchor="ctr"/>
          <a:lstStyle/>
          <a:p>
            <a:pPr indent="0" marL="0">
              <a:buNone/>
            </a:pPr>
            <a:r>
              <a:rPr lang="en-US" sz="1400" b="1" dirty="0">
                <a:solidFill>
                  <a:srgbClr val="1E8A4C"/>
                </a:solidFill>
                <a:latin typeface="Arial" pitchFamily="34" charset="0"/>
                <a:ea typeface="Arial" pitchFamily="34" charset="-122"/>
                <a:cs typeface="Arial" pitchFamily="34" charset="-120"/>
              </a:rPr>
              <a:t>Interest-bearing pays for the risk</a:t>
            </a:r>
            <a:endParaRPr lang="en-US" sz="1400" dirty="0"/>
          </a:p>
        </p:txBody>
      </p:sp>
      <p:sp>
        <p:nvSpPr>
          <p:cNvPr id="13" name="Text 10"/>
          <p:cNvSpPr txBox="1"/>
          <p:nvPr/>
        </p:nvSpPr>
        <p:spPr>
          <a:xfrm>
            <a:off x="8356397" y="4389120"/>
            <a:ext cx="3058058" cy="123444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Highest loss (2.3%) is more than covered by 7.4% interest income — 58% of GMV, 82% of profit.</a:t>
            </a:r>
            <a:endParaRPr lang="en-US" sz="1200" dirty="0"/>
          </a:p>
        </p:txBody>
      </p:sp>
      <p:sp>
        <p:nvSpPr>
          <p:cNvPr id="14" name="Text 11"/>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Merchant fee and interest are % of GMV (dollar-weighted). Same-merchant comparison uses merchants with a promo program. Loss rate includes expected loss on delinquent loans.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REPEAT CUSTOMERS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Repeat customers are the cheapest growth: 2.5× lower loss, and most move up to interest-bearing</a:t>
            </a:r>
            <a:endParaRPr lang="en-US" sz="2600" dirty="0"/>
          </a:p>
        </p:txBody>
      </p:sp>
      <p:graphicFrame>
        <p:nvGraphicFramePr>
          <p:cNvPr id="4" name="Chart 0" descr=""/>
          <p:cNvGraphicFramePr/>
          <p:nvPr/>
        </p:nvGraphicFramePr>
        <p:xfrm>
          <a:off x="548640" y="141732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417320"/>
            <a:ext cx="4602175" cy="1188720"/>
          </a:xfrm>
          <a:prstGeom prst="roundRect">
            <a:avLst>
              <a:gd name="adj" fmla="val 9231"/>
            </a:avLst>
          </a:prstGeom>
          <a:solidFill>
            <a:srgbClr val="ECECFE"/>
          </a:solidFill>
          <a:ln w="12700">
            <a:solidFill>
              <a:srgbClr val="ECECFE"/>
            </a:solidFill>
            <a:prstDash val="solid"/>
          </a:ln>
        </p:spPr>
      </p:sp>
      <p:sp>
        <p:nvSpPr>
          <p:cNvPr id="6" name="Text 3"/>
          <p:cNvSpPr txBox="1"/>
          <p:nvPr/>
        </p:nvSpPr>
        <p:spPr>
          <a:xfrm>
            <a:off x="7269480" y="1527048"/>
            <a:ext cx="4144975" cy="502920"/>
          </a:xfrm>
          <a:prstGeom prst="rect">
            <a:avLst/>
          </a:prstGeom>
          <a:noFill/>
          <a:ln/>
        </p:spPr>
        <p:txBody>
          <a:bodyPr wrap="square" lIns="0" tIns="0" rIns="0" bIns="0" rtlCol="0" anchor="ctr"/>
          <a:lstStyle/>
          <a:p>
            <a:pPr indent="0" marL="0">
              <a:buNone/>
            </a:pPr>
            <a:r>
              <a:rPr lang="en-US" sz="2600" b="1" dirty="0">
                <a:solidFill>
                  <a:srgbClr val="4A4AF4"/>
                </a:solidFill>
                <a:latin typeface="Arial" pitchFamily="34" charset="0"/>
                <a:ea typeface="Arial" pitchFamily="34" charset="-122"/>
                <a:cs typeface="Arial" pitchFamily="34" charset="-120"/>
              </a:rPr>
              <a:t>2.6% vs 1.0%</a:t>
            </a:r>
            <a:endParaRPr lang="en-US" sz="2600" dirty="0"/>
          </a:p>
        </p:txBody>
      </p:sp>
      <p:sp>
        <p:nvSpPr>
          <p:cNvPr id="7" name="Text 4"/>
          <p:cNvSpPr txBox="1"/>
          <p:nvPr/>
        </p:nvSpPr>
        <p:spPr>
          <a:xfrm>
            <a:off x="7269480" y="2020824"/>
            <a:ext cx="4144975" cy="530352"/>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Loss rate, first loans vs repeat loans — lower in every vertical and product</a:t>
            </a:r>
            <a:endParaRPr lang="en-US" sz="1200" dirty="0"/>
          </a:p>
        </p:txBody>
      </p:sp>
      <p:sp>
        <p:nvSpPr>
          <p:cNvPr id="8" name="Shape 5"/>
          <p:cNvSpPr/>
          <p:nvPr/>
        </p:nvSpPr>
        <p:spPr>
          <a:xfrm>
            <a:off x="7040880" y="2743200"/>
            <a:ext cx="4602175" cy="1188720"/>
          </a:xfrm>
          <a:prstGeom prst="roundRect">
            <a:avLst>
              <a:gd name="adj" fmla="val 9231"/>
            </a:avLst>
          </a:prstGeom>
          <a:solidFill>
            <a:srgbClr val="ECECFE"/>
          </a:solidFill>
          <a:ln w="12700">
            <a:solidFill>
              <a:srgbClr val="ECECFE"/>
            </a:solidFill>
            <a:prstDash val="solid"/>
          </a:ln>
        </p:spPr>
      </p:sp>
      <p:sp>
        <p:nvSpPr>
          <p:cNvPr id="9" name="Text 6"/>
          <p:cNvSpPr txBox="1"/>
          <p:nvPr/>
        </p:nvSpPr>
        <p:spPr>
          <a:xfrm>
            <a:off x="7269480" y="2852928"/>
            <a:ext cx="4144975" cy="502920"/>
          </a:xfrm>
          <a:prstGeom prst="rect">
            <a:avLst/>
          </a:prstGeom>
          <a:noFill/>
          <a:ln/>
        </p:spPr>
        <p:txBody>
          <a:bodyPr wrap="square" lIns="0" tIns="0" rIns="0" bIns="0" rtlCol="0" anchor="ctr"/>
          <a:lstStyle/>
          <a:p>
            <a:pPr indent="0" marL="0">
              <a:buNone/>
            </a:pPr>
            <a:r>
              <a:rPr lang="en-US" sz="2600" b="1" dirty="0">
                <a:solidFill>
                  <a:srgbClr val="4A4AF4"/>
                </a:solidFill>
                <a:latin typeface="Arial" pitchFamily="34" charset="0"/>
                <a:ea typeface="Arial" pitchFamily="34" charset="-122"/>
                <a:cs typeface="Arial" pitchFamily="34" charset="-120"/>
              </a:rPr>
              <a:t>82%</a:t>
            </a:r>
            <a:endParaRPr lang="en-US" sz="2600" dirty="0"/>
          </a:p>
        </p:txBody>
      </p:sp>
      <p:sp>
        <p:nvSpPr>
          <p:cNvPr id="10" name="Text 7"/>
          <p:cNvSpPr txBox="1"/>
          <p:nvPr/>
        </p:nvSpPr>
        <p:spPr>
          <a:xfrm>
            <a:off x="7269480" y="3346704"/>
            <a:ext cx="4144975" cy="530352"/>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of credit loss dollars come from first loans</a:t>
            </a:r>
            <a:endParaRPr lang="en-US" sz="1200" dirty="0"/>
          </a:p>
        </p:txBody>
      </p:sp>
      <p:sp>
        <p:nvSpPr>
          <p:cNvPr id="11" name="Shape 8"/>
          <p:cNvSpPr/>
          <p:nvPr/>
        </p:nvSpPr>
        <p:spPr>
          <a:xfrm>
            <a:off x="7040880" y="4069080"/>
            <a:ext cx="4602175" cy="1188720"/>
          </a:xfrm>
          <a:prstGeom prst="roundRect">
            <a:avLst>
              <a:gd name="adj" fmla="val 9231"/>
            </a:avLst>
          </a:prstGeom>
          <a:solidFill>
            <a:srgbClr val="ECECFE"/>
          </a:solidFill>
          <a:ln w="12700">
            <a:solidFill>
              <a:srgbClr val="ECECFE"/>
            </a:solidFill>
            <a:prstDash val="solid"/>
          </a:ln>
        </p:spPr>
      </p:sp>
      <p:sp>
        <p:nvSpPr>
          <p:cNvPr id="12" name="Text 9"/>
          <p:cNvSpPr txBox="1"/>
          <p:nvPr/>
        </p:nvSpPr>
        <p:spPr>
          <a:xfrm>
            <a:off x="7269480" y="4178808"/>
            <a:ext cx="4144975" cy="502920"/>
          </a:xfrm>
          <a:prstGeom prst="rect">
            <a:avLst/>
          </a:prstGeom>
          <a:noFill/>
          <a:ln/>
        </p:spPr>
        <p:txBody>
          <a:bodyPr wrap="square" lIns="0" tIns="0" rIns="0" bIns="0" rtlCol="0" anchor="ctr"/>
          <a:lstStyle/>
          <a:p>
            <a:pPr indent="0" marL="0">
              <a:buNone/>
            </a:pPr>
            <a:r>
              <a:rPr lang="en-US" sz="2600" b="1" dirty="0">
                <a:solidFill>
                  <a:srgbClr val="4A4AF4"/>
                </a:solidFill>
                <a:latin typeface="Arial" pitchFamily="34" charset="0"/>
                <a:ea typeface="Arial" pitchFamily="34" charset="-122"/>
                <a:cs typeface="Arial" pitchFamily="34" charset="-120"/>
              </a:rPr>
              <a:t>63%</a:t>
            </a:r>
            <a:endParaRPr lang="en-US" sz="2600" dirty="0"/>
          </a:p>
        </p:txBody>
      </p:sp>
      <p:sp>
        <p:nvSpPr>
          <p:cNvPr id="13" name="Text 10"/>
          <p:cNvSpPr txBox="1"/>
          <p:nvPr/>
        </p:nvSpPr>
        <p:spPr>
          <a:xfrm>
            <a:off x="7269480" y="4672584"/>
            <a:ext cx="4144975" cy="530352"/>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of customers who start with Split Pay take an interest-bearing loan next</a:t>
            </a:r>
            <a:endParaRPr lang="en-US" sz="1200" dirty="0"/>
          </a:p>
        </p:txBody>
      </p:sp>
      <p:sp>
        <p:nvSpPr>
          <p:cNvPr id="14" name="Text 11"/>
          <p:cNvSpPr txBox="1"/>
          <p:nvPr/>
        </p:nvSpPr>
        <p:spPr>
          <a:xfrm>
            <a:off x="7040880" y="5440680"/>
            <a:ext cx="4602175" cy="548640"/>
          </a:xfrm>
          <a:prstGeom prst="rect">
            <a:avLst/>
          </a:prstGeom>
          <a:noFill/>
          <a:ln/>
        </p:spPr>
        <p:txBody>
          <a:bodyPr wrap="square" lIns="0" tIns="0" rIns="0" bIns="0" rtlCol="0" anchor="t"/>
          <a:lstStyle/>
          <a:p>
            <a:pPr indent="0" marL="0">
              <a:buNone/>
            </a:pPr>
            <a:r>
              <a:rPr lang="en-US" sz="1200" i="1" dirty="0">
                <a:solidFill>
                  <a:srgbClr val="5B5B73"/>
                </a:solidFill>
                <a:latin typeface="Arial" pitchFamily="34" charset="0"/>
                <a:ea typeface="Arial" pitchFamily="34" charset="-122"/>
                <a:cs typeface="Arial" pitchFamily="34" charset="-120"/>
              </a:rPr>
              <a:t>Repeat behaviour is set by the vertical, not the product. Big-ticket verticals have the most room to grow it.</a:t>
            </a:r>
            <a:endParaRPr lang="en-US" sz="1200" dirty="0"/>
          </a:p>
        </p:txBody>
      </p:sp>
      <p:sp>
        <p:nvSpPr>
          <p:cNvPr id="15" name="Text 12"/>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Customers whose first loan was by Jun 2025. Synthetic data: repeat timing is very regular (100–185 days), so read sizes as indicative.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INVESTMENT PLAN</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Shift growth to where losses are low and customers come back</a:t>
            </a:r>
            <a:endParaRPr lang="en-US" sz="2600" dirty="0"/>
          </a:p>
        </p:txBody>
      </p:sp>
      <p:sp>
        <p:nvSpPr>
          <p:cNvPr id="4" name="Shape 2"/>
          <p:cNvSpPr/>
          <p:nvPr/>
        </p:nvSpPr>
        <p:spPr>
          <a:xfrm>
            <a:off x="548640" y="1417320"/>
            <a:ext cx="6949440" cy="1051560"/>
          </a:xfrm>
          <a:prstGeom prst="roundRect">
            <a:avLst>
              <a:gd name="adj" fmla="val 10435"/>
            </a:avLst>
          </a:prstGeom>
          <a:solidFill>
            <a:srgbClr val="F6F6FE"/>
          </a:solidFill>
          <a:ln w="12700">
            <a:solidFill>
              <a:srgbClr val="F6F6FE"/>
            </a:solidFill>
            <a:prstDash val="solid"/>
          </a:ln>
        </p:spPr>
      </p:sp>
      <p:sp>
        <p:nvSpPr>
          <p:cNvPr id="5" name="Shape 3"/>
          <p:cNvSpPr/>
          <p:nvPr/>
        </p:nvSpPr>
        <p:spPr>
          <a:xfrm>
            <a:off x="777240" y="1600200"/>
            <a:ext cx="1188720" cy="274320"/>
          </a:xfrm>
          <a:prstGeom prst="roundRect">
            <a:avLst>
              <a:gd name="adj" fmla="val 50000"/>
            </a:avLst>
          </a:prstGeom>
          <a:solidFill>
            <a:srgbClr val="1E8A4C"/>
          </a:solidFill>
          <a:ln w="12700">
            <a:solidFill>
              <a:srgbClr val="1E8A4C"/>
            </a:solidFill>
            <a:prstDash val="solid"/>
          </a:ln>
        </p:spPr>
      </p:sp>
      <p:sp>
        <p:nvSpPr>
          <p:cNvPr id="6" name="Text 4"/>
          <p:cNvSpPr txBox="1"/>
          <p:nvPr/>
        </p:nvSpPr>
        <p:spPr>
          <a:xfrm>
            <a:off x="777240" y="160020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INVEST</a:t>
            </a:r>
            <a:endParaRPr lang="en-US" sz="1000" dirty="0"/>
          </a:p>
        </p:txBody>
      </p:sp>
      <p:sp>
        <p:nvSpPr>
          <p:cNvPr id="7" name="Text 5"/>
          <p:cNvSpPr txBox="1"/>
          <p:nvPr/>
        </p:nvSpPr>
        <p:spPr>
          <a:xfrm>
            <a:off x="2148840" y="153619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Merchant acquisition: healthcare &amp; home furnishing</a:t>
            </a:r>
            <a:endParaRPr lang="en-US" sz="1500" dirty="0"/>
          </a:p>
        </p:txBody>
      </p:sp>
      <p:sp>
        <p:nvSpPr>
          <p:cNvPr id="8" name="Text 6"/>
          <p:cNvSpPr txBox="1"/>
          <p:nvPr/>
        </p:nvSpPr>
        <p:spPr>
          <a:xfrm>
            <a:off x="2148840" y="189280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Best risk-adjusted margins (9.1%, 7.4%) with low loss. One new merchant ≈ +25–35% vertical GMV.</a:t>
            </a:r>
            <a:endParaRPr lang="en-US" sz="1200" dirty="0"/>
          </a:p>
        </p:txBody>
      </p:sp>
      <p:sp>
        <p:nvSpPr>
          <p:cNvPr id="9" name="Shape 7"/>
          <p:cNvSpPr/>
          <p:nvPr/>
        </p:nvSpPr>
        <p:spPr>
          <a:xfrm>
            <a:off x="548640" y="2606040"/>
            <a:ext cx="6949440" cy="1051560"/>
          </a:xfrm>
          <a:prstGeom prst="roundRect">
            <a:avLst>
              <a:gd name="adj" fmla="val 10435"/>
            </a:avLst>
          </a:prstGeom>
          <a:solidFill>
            <a:srgbClr val="F6F6FE"/>
          </a:solidFill>
          <a:ln w="12700">
            <a:solidFill>
              <a:srgbClr val="F6F6FE"/>
            </a:solidFill>
            <a:prstDash val="solid"/>
          </a:ln>
        </p:spPr>
      </p:sp>
      <p:sp>
        <p:nvSpPr>
          <p:cNvPr id="10" name="Shape 8"/>
          <p:cNvSpPr/>
          <p:nvPr/>
        </p:nvSpPr>
        <p:spPr>
          <a:xfrm>
            <a:off x="777240" y="2788920"/>
            <a:ext cx="1188720" cy="274320"/>
          </a:xfrm>
          <a:prstGeom prst="roundRect">
            <a:avLst>
              <a:gd name="adj" fmla="val 50000"/>
            </a:avLst>
          </a:prstGeom>
          <a:solidFill>
            <a:srgbClr val="1E8A4C"/>
          </a:solidFill>
          <a:ln w="12700">
            <a:solidFill>
              <a:srgbClr val="1E8A4C"/>
            </a:solidFill>
            <a:prstDash val="solid"/>
          </a:ln>
        </p:spPr>
      </p:sp>
      <p:sp>
        <p:nvSpPr>
          <p:cNvPr id="11" name="Text 9"/>
          <p:cNvSpPr txBox="1"/>
          <p:nvPr/>
        </p:nvSpPr>
        <p:spPr>
          <a:xfrm>
            <a:off x="777240" y="278892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INVEST</a:t>
            </a:r>
            <a:endParaRPr lang="en-US" sz="1000" dirty="0"/>
          </a:p>
        </p:txBody>
      </p:sp>
      <p:sp>
        <p:nvSpPr>
          <p:cNvPr id="12" name="Text 10"/>
          <p:cNvSpPr txBox="1"/>
          <p:nvPr/>
        </p:nvSpPr>
        <p:spPr>
          <a:xfrm>
            <a:off x="2148840" y="272491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Repeat customers</a:t>
            </a:r>
            <a:endParaRPr lang="en-US" sz="1500" dirty="0"/>
          </a:p>
        </p:txBody>
      </p:sp>
      <p:sp>
        <p:nvSpPr>
          <p:cNvPr id="13" name="Text 11"/>
          <p:cNvSpPr txBox="1"/>
          <p:nvPr/>
        </p:nvSpPr>
        <p:spPr>
          <a:xfrm>
            <a:off x="2148840" y="308152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Repeat loans lose 2.5× less; 82% of loss comes from first loans. Lift big-ticket repeat rate and steer second loans to interest-bearing.</a:t>
            </a:r>
            <a:endParaRPr lang="en-US" sz="1200" dirty="0"/>
          </a:p>
        </p:txBody>
      </p:sp>
      <p:sp>
        <p:nvSpPr>
          <p:cNvPr id="14" name="Shape 12"/>
          <p:cNvSpPr/>
          <p:nvPr/>
        </p:nvSpPr>
        <p:spPr>
          <a:xfrm>
            <a:off x="548640" y="3794760"/>
            <a:ext cx="6949440" cy="1051560"/>
          </a:xfrm>
          <a:prstGeom prst="roundRect">
            <a:avLst>
              <a:gd name="adj" fmla="val 10435"/>
            </a:avLst>
          </a:prstGeom>
          <a:solidFill>
            <a:srgbClr val="F6F6FE"/>
          </a:solidFill>
          <a:ln w="12700">
            <a:solidFill>
              <a:srgbClr val="F6F6FE"/>
            </a:solidFill>
            <a:prstDash val="solid"/>
          </a:ln>
        </p:spPr>
      </p:sp>
      <p:sp>
        <p:nvSpPr>
          <p:cNvPr id="15" name="Shape 13"/>
          <p:cNvSpPr/>
          <p:nvPr/>
        </p:nvSpPr>
        <p:spPr>
          <a:xfrm>
            <a:off x="777240" y="3977640"/>
            <a:ext cx="1188720" cy="274320"/>
          </a:xfrm>
          <a:prstGeom prst="roundRect">
            <a:avLst>
              <a:gd name="adj" fmla="val 50000"/>
            </a:avLst>
          </a:prstGeom>
          <a:solidFill>
            <a:srgbClr val="C93B3B"/>
          </a:solidFill>
          <a:ln w="12700">
            <a:solidFill>
              <a:srgbClr val="C93B3B"/>
            </a:solidFill>
            <a:prstDash val="solid"/>
          </a:ln>
        </p:spPr>
      </p:sp>
      <p:sp>
        <p:nvSpPr>
          <p:cNvPr id="16" name="Text 14"/>
          <p:cNvSpPr txBox="1"/>
          <p:nvPr/>
        </p:nvSpPr>
        <p:spPr>
          <a:xfrm>
            <a:off x="777240" y="397764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TIGHTEN</a:t>
            </a:r>
            <a:endParaRPr lang="en-US" sz="1000" dirty="0"/>
          </a:p>
        </p:txBody>
      </p:sp>
      <p:sp>
        <p:nvSpPr>
          <p:cNvPr id="17" name="Text 15"/>
          <p:cNvSpPr txBox="1"/>
          <p:nvPr/>
        </p:nvSpPr>
        <p:spPr>
          <a:xfrm>
            <a:off x="2148840" y="391363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Travel borrowers with FICO &lt; 640</a:t>
            </a:r>
            <a:endParaRPr lang="en-US" sz="1500" dirty="0"/>
          </a:p>
        </p:txBody>
      </p:sp>
      <p:sp>
        <p:nvSpPr>
          <p:cNvPr id="18" name="Text 16"/>
          <p:cNvSpPr txBox="1"/>
          <p:nvPr/>
        </p:nvSpPr>
        <p:spPr>
          <a:xfrm>
            <a:off x="2148840" y="427024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~40% delinquent or charged off, 6.3% loss. Raise the risk model cut-off and lower limits: −25% to −50% volume.</a:t>
            </a:r>
            <a:endParaRPr lang="en-US" sz="1200" dirty="0"/>
          </a:p>
        </p:txBody>
      </p:sp>
      <p:sp>
        <p:nvSpPr>
          <p:cNvPr id="19" name="Shape 17"/>
          <p:cNvSpPr/>
          <p:nvPr/>
        </p:nvSpPr>
        <p:spPr>
          <a:xfrm>
            <a:off x="548640" y="4983480"/>
            <a:ext cx="6949440" cy="1051560"/>
          </a:xfrm>
          <a:prstGeom prst="roundRect">
            <a:avLst>
              <a:gd name="adj" fmla="val 10435"/>
            </a:avLst>
          </a:prstGeom>
          <a:solidFill>
            <a:srgbClr val="F6F6FE"/>
          </a:solidFill>
          <a:ln w="12700">
            <a:solidFill>
              <a:srgbClr val="F6F6FE"/>
            </a:solidFill>
            <a:prstDash val="solid"/>
          </a:ln>
        </p:spPr>
      </p:sp>
      <p:sp>
        <p:nvSpPr>
          <p:cNvPr id="20" name="Shape 18"/>
          <p:cNvSpPr/>
          <p:nvPr/>
        </p:nvSpPr>
        <p:spPr>
          <a:xfrm>
            <a:off x="777240" y="5166360"/>
            <a:ext cx="1188720" cy="274320"/>
          </a:xfrm>
          <a:prstGeom prst="roundRect">
            <a:avLst>
              <a:gd name="adj" fmla="val 50000"/>
            </a:avLst>
          </a:prstGeom>
          <a:solidFill>
            <a:srgbClr val="4A4AF4"/>
          </a:solidFill>
          <a:ln w="12700">
            <a:solidFill>
              <a:srgbClr val="4A4AF4"/>
            </a:solidFill>
            <a:prstDash val="solid"/>
          </a:ln>
        </p:spPr>
      </p:sp>
      <p:sp>
        <p:nvSpPr>
          <p:cNvPr id="21" name="Text 19"/>
          <p:cNvSpPr txBox="1"/>
          <p:nvPr/>
        </p:nvSpPr>
        <p:spPr>
          <a:xfrm>
            <a:off x="777240" y="516636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REPRICE</a:t>
            </a:r>
            <a:endParaRPr lang="en-US" sz="1000" dirty="0"/>
          </a:p>
        </p:txBody>
      </p:sp>
      <p:sp>
        <p:nvSpPr>
          <p:cNvPr id="22" name="Text 20"/>
          <p:cNvSpPr txBox="1"/>
          <p:nvPr/>
        </p:nvSpPr>
        <p:spPr>
          <a:xfrm>
            <a:off x="2148840" y="510235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0% APR merchant fee</a:t>
            </a:r>
            <a:endParaRPr lang="en-US" sz="1500" dirty="0"/>
          </a:p>
        </p:txBody>
      </p:sp>
      <p:sp>
        <p:nvSpPr>
          <p:cNvPr id="23" name="Text 21"/>
          <p:cNvSpPr txBox="1"/>
          <p:nvPr/>
        </p:nvSpPr>
        <p:spPr>
          <a:xfrm>
            <a:off x="2148840" y="545896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Fee (5.0%) is below interest-bearing (5.4%) at the same merchants. Raise to at least parity.</a:t>
            </a:r>
            <a:endParaRPr lang="en-US" sz="1200" dirty="0"/>
          </a:p>
        </p:txBody>
      </p:sp>
      <p:sp>
        <p:nvSpPr>
          <p:cNvPr id="24" name="Shape 22"/>
          <p:cNvSpPr/>
          <p:nvPr/>
        </p:nvSpPr>
        <p:spPr>
          <a:xfrm>
            <a:off x="7909560" y="1417320"/>
            <a:ext cx="3733495" cy="4617720"/>
          </a:xfrm>
          <a:prstGeom prst="roundRect">
            <a:avLst>
              <a:gd name="adj" fmla="val 2939"/>
            </a:avLst>
          </a:prstGeom>
          <a:solidFill>
            <a:srgbClr val="0F1033"/>
          </a:solidFill>
          <a:ln w="12700">
            <a:solidFill>
              <a:srgbClr val="0F1033"/>
            </a:solidFill>
            <a:prstDash val="solid"/>
          </a:ln>
        </p:spPr>
      </p:sp>
      <p:sp>
        <p:nvSpPr>
          <p:cNvPr id="25" name="Text 23"/>
          <p:cNvSpPr txBox="1"/>
          <p:nvPr/>
        </p:nvSpPr>
        <p:spPr>
          <a:xfrm>
            <a:off x="8229600" y="1645920"/>
            <a:ext cx="3093415" cy="365760"/>
          </a:xfrm>
          <a:prstGeom prst="rect">
            <a:avLst/>
          </a:prstGeom>
          <a:noFill/>
          <a:ln/>
        </p:spPr>
        <p:txBody>
          <a:bodyPr wrap="square" lIns="0" tIns="0" rIns="0" bIns="0" rtlCol="0" anchor="ctr"/>
          <a:lstStyle/>
          <a:p>
            <a:pPr indent="0" marL="0">
              <a:buNone/>
            </a:pPr>
            <a:r>
              <a:rPr lang="en-US" sz="1400" b="1" dirty="0">
                <a:solidFill>
                  <a:srgbClr val="D9D9FC"/>
                </a:solidFill>
                <a:latin typeface="Arial" pitchFamily="34" charset="0"/>
                <a:ea typeface="Arial" pitchFamily="34" charset="-122"/>
                <a:cs typeface="Arial" pitchFamily="34" charset="-120"/>
              </a:rPr>
              <a:t>One-year impact</a:t>
            </a:r>
            <a:endParaRPr lang="en-US" sz="1400" dirty="0"/>
          </a:p>
        </p:txBody>
      </p:sp>
      <p:sp>
        <p:nvSpPr>
          <p:cNvPr id="26" name="Text 24"/>
          <p:cNvSpPr txBox="1"/>
          <p:nvPr/>
        </p:nvSpPr>
        <p:spPr>
          <a:xfrm>
            <a:off x="8229600" y="1965960"/>
            <a:ext cx="3093415" cy="274320"/>
          </a:xfrm>
          <a:prstGeom prst="rect">
            <a:avLst/>
          </a:prstGeom>
          <a:noFill/>
          <a:ln/>
        </p:spPr>
        <p:txBody>
          <a:bodyPr wrap="square" lIns="0" tIns="0" rIns="0" bIns="0" rtlCol="0" anchor="ctr"/>
          <a:lstStyle/>
          <a:p>
            <a:pPr indent="0" marL="0">
              <a:buNone/>
            </a:pPr>
            <a:r>
              <a:rPr lang="en-US" sz="1100" dirty="0">
                <a:solidFill>
                  <a:srgbClr val="D9D9FC"/>
                </a:solidFill>
                <a:latin typeface="Arial" pitchFamily="34" charset="0"/>
                <a:ea typeface="Arial" pitchFamily="34" charset="-122"/>
                <a:cs typeface="Arial" pitchFamily="34" charset="-120"/>
              </a:rPr>
              <a:t>conservative → ambitious</a:t>
            </a:r>
            <a:endParaRPr lang="en-US" sz="1100" dirty="0"/>
          </a:p>
        </p:txBody>
      </p:sp>
      <p:sp>
        <p:nvSpPr>
          <p:cNvPr id="27" name="Text 25"/>
          <p:cNvSpPr txBox="1"/>
          <p:nvPr/>
        </p:nvSpPr>
        <p:spPr>
          <a:xfrm>
            <a:off x="8229600" y="2468880"/>
            <a:ext cx="3093415"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 → +15%</a:t>
            </a:r>
            <a:endParaRPr lang="en-US" sz="2600" dirty="0"/>
          </a:p>
        </p:txBody>
      </p:sp>
      <p:sp>
        <p:nvSpPr>
          <p:cNvPr id="28" name="Text 26"/>
          <p:cNvSpPr txBox="1"/>
          <p:nvPr/>
        </p:nvSpPr>
        <p:spPr>
          <a:xfrm>
            <a:off x="8229600" y="2971800"/>
            <a:ext cx="3093415"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profit (contribution)</a:t>
            </a:r>
            <a:endParaRPr lang="en-US" sz="1200" dirty="0"/>
          </a:p>
        </p:txBody>
      </p:sp>
      <p:sp>
        <p:nvSpPr>
          <p:cNvPr id="29" name="Text 27"/>
          <p:cNvSpPr txBox="1"/>
          <p:nvPr/>
        </p:nvSpPr>
        <p:spPr>
          <a:xfrm>
            <a:off x="8229600" y="3611880"/>
            <a:ext cx="3093415"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+4% → +8%</a:t>
            </a:r>
            <a:endParaRPr lang="en-US" sz="2600" dirty="0"/>
          </a:p>
        </p:txBody>
      </p:sp>
      <p:sp>
        <p:nvSpPr>
          <p:cNvPr id="30" name="Text 28"/>
          <p:cNvSpPr txBox="1"/>
          <p:nvPr/>
        </p:nvSpPr>
        <p:spPr>
          <a:xfrm>
            <a:off x="8229600" y="4114800"/>
            <a:ext cx="3093415"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GMV</a:t>
            </a:r>
            <a:endParaRPr lang="en-US" sz="1200" dirty="0"/>
          </a:p>
        </p:txBody>
      </p:sp>
      <p:sp>
        <p:nvSpPr>
          <p:cNvPr id="31" name="Text 29"/>
          <p:cNvSpPr txBox="1"/>
          <p:nvPr/>
        </p:nvSpPr>
        <p:spPr>
          <a:xfrm>
            <a:off x="8229600" y="4754880"/>
            <a:ext cx="3093415"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2.32% → 2.1–2.2%</a:t>
            </a:r>
            <a:endParaRPr lang="en-US" sz="2600" dirty="0"/>
          </a:p>
        </p:txBody>
      </p:sp>
      <p:sp>
        <p:nvSpPr>
          <p:cNvPr id="32" name="Text 30"/>
          <p:cNvSpPr txBox="1"/>
          <p:nvPr/>
        </p:nvSpPr>
        <p:spPr>
          <a:xfrm>
            <a:off x="8229600" y="5257800"/>
            <a:ext cx="3093415"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credit loss rate</a:t>
            </a:r>
            <a:endParaRPr lang="en-US" sz="1200" dirty="0"/>
          </a:p>
        </p:txBody>
      </p:sp>
      <p:sp>
        <p:nvSpPr>
          <p:cNvPr id="33" name="Text 31"/>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Impact sized on 2025 volume at seasoned (Jul 2024–Jun 2025) margins and loss rates; 0% APR repricing not included in totals.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SIZING</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Together the moves add ~7–15% profit while lowering the loss rate</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51760"/>
                <a:gridCol w="3749040"/>
                <a:gridCol w="1600200"/>
                <a:gridCol w="1554480"/>
                <a:gridCol w="1538935"/>
              </a:tblGrid>
              <a:tr h="41148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Recommendation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Assumption (conservative / ambitious)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GMV</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Profit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Credit loss $</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731520">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1. Grow healthcare &amp; home furnishing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+10% / +20% vertical GMV (≈ 1 new merchant each at +20%)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+$78K / +$155K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+$7.0K / +$14.0K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+$1.3K / +$2.7K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731520">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2. Repeat customers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+5 / +10 pts big-ticket repeat rate; 5% / 10% of repeat loans move Split Pay → interest-bearing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+$86K / +$172K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+$12.4K / +$24.9K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+$1.3K / +$2.5K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731520">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3. Tighten travel, FICO &lt; 640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Risk model cut-off and limits cut segment volume −25% / −50%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C93B3B"/>
                          </a:solidFill>
                          <a:latin typeface="Arial" pitchFamily="34" charset="0"/>
                          <a:ea typeface="Arial" pitchFamily="34" charset="-122"/>
                          <a:cs typeface="Arial" pitchFamily="34" charset="-120"/>
                        </a:rPr>
                        <a:t>−$54K / −$107K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C93B3B"/>
                          </a:solidFill>
                          <a:latin typeface="Arial" pitchFamily="34" charset="0"/>
                          <a:ea typeface="Arial" pitchFamily="34" charset="-122"/>
                          <a:cs typeface="Arial" pitchFamily="34" charset="-120"/>
                        </a:rPr>
                        <a:t>−$3.8K / −$7.6K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C93B3B"/>
                          </a:solidFill>
                          <a:latin typeface="Arial" pitchFamily="34" charset="0"/>
                          <a:ea typeface="Arial" pitchFamily="34" charset="-122"/>
                          <a:cs typeface="Arial" pitchFamily="34" charset="-120"/>
                        </a:rPr>
                        <a:t>−$3.4K / −$6.9K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640080">
                <a:tc>
                  <a:txBody>
                    <a:bodyPr/>
                    <a:lstStyle/>
                    <a:p>
                      <a:pPr indent="0" marL="0">
                        <a:buNone/>
                      </a:pPr>
                      <a:r>
                        <a:rPr lang="en-US" sz="1200" b="1" dirty="0">
                          <a:solidFill>
                            <a:srgbClr val="4A4AF4"/>
                          </a:solidFill>
                          <a:latin typeface="Arial" pitchFamily="34" charset="0"/>
                          <a:ea typeface="Arial" pitchFamily="34" charset="-122"/>
                          <a:cs typeface="Arial" pitchFamily="34" charset="-120"/>
                        </a:rPr>
                        <a:t>Total vs 2025 baseline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indent="0" marL="0">
                        <a:buNone/>
                      </a:pPr>
                      <a:r>
                        <a:rPr lang="en-US" sz="1200" dirty="0">
                          <a:solidFill>
                            <a:srgbClr val="1A1A2E"/>
                          </a:solidFill>
                          <a:latin typeface="Arial" pitchFamily="34" charset="0"/>
                          <a:ea typeface="Arial" pitchFamily="34" charset="-122"/>
                          <a:cs typeface="Arial" pitchFamily="34" charset="-120"/>
                        </a:rPr>
                        <a:t>Baseline: $2.85M GMV, $212K profit, 2.32% loss rate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4A4AF4"/>
                          </a:solidFill>
                          <a:latin typeface="Arial" pitchFamily="34" charset="0"/>
                          <a:ea typeface="Arial" pitchFamily="34" charset="-122"/>
                          <a:cs typeface="Arial" pitchFamily="34" charset="-120"/>
                        </a:rPr>
                        <a:t>+3.9% / +7.7%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4A4AF4"/>
                          </a:solidFill>
                          <a:latin typeface="Arial" pitchFamily="34" charset="0"/>
                          <a:ea typeface="Arial" pitchFamily="34" charset="-122"/>
                          <a:cs typeface="Arial" pitchFamily="34" charset="-120"/>
                        </a:rPr>
                        <a:t>+7.4% / +14.8%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Loss rate → 2.21% / 2.10%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bl>
          </a:graphicData>
        </a:graphic>
      </p:graphicFrame>
      <p:sp>
        <p:nvSpPr>
          <p:cNvPr id="5" name="Shape 2"/>
          <p:cNvSpPr/>
          <p:nvPr/>
        </p:nvSpPr>
        <p:spPr>
          <a:xfrm>
            <a:off x="548640" y="4937760"/>
            <a:ext cx="11094415" cy="1097280"/>
          </a:xfrm>
          <a:prstGeom prst="roundRect">
            <a:avLst>
              <a:gd name="adj" fmla="val 10000"/>
            </a:avLst>
          </a:prstGeom>
          <a:solidFill>
            <a:srgbClr val="F6F6FE"/>
          </a:solidFill>
          <a:ln w="12700">
            <a:solidFill>
              <a:srgbClr val="F6F6FE"/>
            </a:solidFill>
            <a:prstDash val="solid"/>
          </a:ln>
        </p:spPr>
      </p:sp>
      <p:sp>
        <p:nvSpPr>
          <p:cNvPr id="6" name="Shape 3"/>
          <p:cNvSpPr/>
          <p:nvPr/>
        </p:nvSpPr>
        <p:spPr>
          <a:xfrm>
            <a:off x="777240" y="5349240"/>
            <a:ext cx="1371600" cy="274320"/>
          </a:xfrm>
          <a:prstGeom prst="roundRect">
            <a:avLst>
              <a:gd name="adj" fmla="val 50000"/>
            </a:avLst>
          </a:prstGeom>
          <a:solidFill>
            <a:srgbClr val="4A4AF4"/>
          </a:solidFill>
          <a:ln w="12700">
            <a:solidFill>
              <a:srgbClr val="4A4AF4"/>
            </a:solidFill>
            <a:prstDash val="solid"/>
          </a:ln>
        </p:spPr>
      </p:sp>
      <p:sp>
        <p:nvSpPr>
          <p:cNvPr id="7" name="Text 4"/>
          <p:cNvSpPr txBox="1"/>
          <p:nvPr/>
        </p:nvSpPr>
        <p:spPr>
          <a:xfrm>
            <a:off x="777240" y="5349240"/>
            <a:ext cx="13716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NOT IN TOTALS</a:t>
            </a:r>
            <a:endParaRPr lang="en-US" sz="1000" dirty="0"/>
          </a:p>
        </p:txBody>
      </p:sp>
      <p:sp>
        <p:nvSpPr>
          <p:cNvPr id="8" name="Text 5"/>
          <p:cNvSpPr txBox="1"/>
          <p:nvPr/>
        </p:nvSpPr>
        <p:spPr>
          <a:xfrm>
            <a:off x="2377440" y="5029200"/>
            <a:ext cx="9037015" cy="868680"/>
          </a:xfrm>
          <a:prstGeom prst="rect">
            <a:avLst/>
          </a:prstGeom>
          <a:noFill/>
          <a:ln/>
        </p:spPr>
        <p:txBody>
          <a:bodyPr wrap="square" lIns="0" tIns="0" rIns="0" bIns="0" rtlCol="0" anchor="ctr"/>
          <a:lstStyle/>
          <a:p>
            <a:pPr indent="0" marL="0">
              <a:buNone/>
            </a:pPr>
            <a:r>
              <a:rPr lang="en-US" sz="1200" dirty="0">
                <a:solidFill>
                  <a:srgbClr val="1A1A2E"/>
                </a:solidFill>
                <a:latin typeface="Arial" pitchFamily="34" charset="0"/>
                <a:ea typeface="Arial" pitchFamily="34" charset="-122"/>
                <a:cs typeface="Arial" pitchFamily="34" charset="-120"/>
              </a:rPr>
              <a:t>4. Reprice 0% APR: raising the merchant fee +0.4 pt to interest-bearing parity adds ≈ +$1.9K a year (+0.9% profit), if merchants keep the program — a call for Merchant Partnerships.</a:t>
            </a:r>
            <a:endParaRPr lang="en-US" sz="1200" dirty="0"/>
          </a:p>
        </p:txBody>
      </p:sp>
      <p:sp>
        <p:nvSpPr>
          <p:cNvPr id="9" name="Text 6"/>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One year = 2025 volume × seasoned margins/loss rates. The data is a sample of total volume, so read $ as relative sizes. New merchants assumed to perform like the vertical average.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033"/>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D9D9FC"/>
                </a:solidFill>
                <a:latin typeface="Arial" pitchFamily="34" charset="0"/>
                <a:ea typeface="Arial" pitchFamily="34" charset="-122"/>
                <a:cs typeface="Arial" pitchFamily="34" charset="-120"/>
              </a:rPr>
              <a:t>TRADE-OFFS AND NEXT STEPS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What could change the picture, and what we would do next</a:t>
            </a:r>
            <a:endParaRPr lang="en-US" sz="2600" dirty="0"/>
          </a:p>
        </p:txBody>
      </p:sp>
      <p:sp>
        <p:nvSpPr>
          <p:cNvPr id="4" name="Shape 2"/>
          <p:cNvSpPr/>
          <p:nvPr/>
        </p:nvSpPr>
        <p:spPr>
          <a:xfrm>
            <a:off x="548640" y="1463040"/>
            <a:ext cx="3515258" cy="3383280"/>
          </a:xfrm>
          <a:prstGeom prst="roundRect">
            <a:avLst>
              <a:gd name="adj" fmla="val 3243"/>
            </a:avLst>
          </a:prstGeom>
          <a:solidFill>
            <a:srgbClr val="1C1E52"/>
          </a:solidFill>
          <a:ln w="12700">
            <a:solidFill>
              <a:srgbClr val="1C1E52"/>
            </a:solidFill>
            <a:prstDash val="solid"/>
          </a:ln>
        </p:spPr>
      </p:sp>
      <p:sp>
        <p:nvSpPr>
          <p:cNvPr id="5" name="Text 3"/>
          <p:cNvSpPr txBox="1"/>
          <p:nvPr/>
        </p:nvSpPr>
        <p:spPr>
          <a:xfrm>
            <a:off x="777240"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Trade-offs &amp; caveats</a:t>
            </a:r>
            <a:endParaRPr lang="en-US" sz="1600" dirty="0"/>
          </a:p>
        </p:txBody>
      </p:sp>
      <p:sp>
        <p:nvSpPr>
          <p:cNvPr id="6" name="Text 4"/>
          <p:cNvSpPr txBox="1"/>
          <p:nvPr/>
        </p:nvSpPr>
        <p:spPr>
          <a:xfrm>
            <a:off x="777240"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Tightening travel gives up ~$4–8K profit: the segment is still profitable on base assumptions; we trade it for lower loss and volatility</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0% APR repricing may push some merchants to drop the program</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Data is a synthetic sample; recent quarters aren't fully seasoned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Delinquent-loan loss is an estimate (30% / 60% of unpaid principal)</a:t>
            </a:r>
            <a:endParaRPr lang="en-US" sz="1250" dirty="0"/>
          </a:p>
        </p:txBody>
      </p:sp>
      <p:sp>
        <p:nvSpPr>
          <p:cNvPr id="7" name="Shape 5"/>
          <p:cNvSpPr/>
          <p:nvPr/>
        </p:nvSpPr>
        <p:spPr>
          <a:xfrm>
            <a:off x="4338218" y="1463040"/>
            <a:ext cx="3515258" cy="3383280"/>
          </a:xfrm>
          <a:prstGeom prst="roundRect">
            <a:avLst>
              <a:gd name="adj" fmla="val 3243"/>
            </a:avLst>
          </a:prstGeom>
          <a:solidFill>
            <a:srgbClr val="1C1E52"/>
          </a:solidFill>
          <a:ln w="12700">
            <a:solidFill>
              <a:srgbClr val="1C1E52"/>
            </a:solidFill>
            <a:prstDash val="solid"/>
          </a:ln>
        </p:spPr>
      </p:sp>
      <p:sp>
        <p:nvSpPr>
          <p:cNvPr id="8" name="Text 6"/>
          <p:cNvSpPr txBox="1"/>
          <p:nvPr/>
        </p:nvSpPr>
        <p:spPr>
          <a:xfrm>
            <a:off x="4566818"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Watch</a:t>
            </a:r>
            <a:endParaRPr lang="en-US" sz="1600" dirty="0"/>
          </a:p>
        </p:txBody>
      </p:sp>
      <p:sp>
        <p:nvSpPr>
          <p:cNvPr id="9" name="Text 7"/>
          <p:cNvSpPr txBox="1"/>
          <p:nvPr/>
        </p:nvSpPr>
        <p:spPr>
          <a:xfrm>
            <a:off x="4566818"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Split Pay loss rose from 1.1% (Q3-24) to 2.5–3.1% — its loans finish in 6 weeks, so this is a real trend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Q4-2025 holiday vintage: last year's doubled its bad rate</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Travel data feed: all 160 corrupted duplicate loans were travel</a:t>
            </a:r>
            <a:endParaRPr lang="en-US" sz="1250" dirty="0"/>
          </a:p>
        </p:txBody>
      </p:sp>
      <p:sp>
        <p:nvSpPr>
          <p:cNvPr id="10" name="Shape 8"/>
          <p:cNvSpPr/>
          <p:nvPr/>
        </p:nvSpPr>
        <p:spPr>
          <a:xfrm>
            <a:off x="8127797" y="1463040"/>
            <a:ext cx="3515258" cy="3383280"/>
          </a:xfrm>
          <a:prstGeom prst="roundRect">
            <a:avLst>
              <a:gd name="adj" fmla="val 3243"/>
            </a:avLst>
          </a:prstGeom>
          <a:solidFill>
            <a:srgbClr val="1C1E52"/>
          </a:solidFill>
          <a:ln w="12700">
            <a:solidFill>
              <a:srgbClr val="1C1E52"/>
            </a:solidFill>
            <a:prstDash val="solid"/>
          </a:ln>
        </p:spPr>
      </p:sp>
      <p:sp>
        <p:nvSpPr>
          <p:cNvPr id="11" name="Text 9"/>
          <p:cNvSpPr txBox="1"/>
          <p:nvPr/>
        </p:nvSpPr>
        <p:spPr>
          <a:xfrm>
            <a:off x="8356397"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Next steps</a:t>
            </a:r>
            <a:endParaRPr lang="en-US" sz="1600" dirty="0"/>
          </a:p>
        </p:txBody>
      </p:sp>
      <p:sp>
        <p:nvSpPr>
          <p:cNvPr id="12" name="Text 10"/>
          <p:cNvSpPr txBox="1"/>
          <p:nvPr/>
        </p:nvSpPr>
        <p:spPr>
          <a:xfrm>
            <a:off x="8356397"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Pilot the tighter travel cut-off on a share of traffic; track approvals and 90-day losses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Test second-loan offers for big-ticket first-time customers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Build a merchant pipeline for healthcare and home furnishing</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A · DATA QUALITY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One root cause explained most data issues; the rest were kept with stated assumptions</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5120640"/>
                <a:gridCol w="1280160"/>
                <a:gridCol w="4693615"/>
              </a:tblGrid>
              <a:tr h="56692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Issue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Rows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handled</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Duplicate loan IDs; the extra copy has an impossible date (1923–25, 2031). All were travel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160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Dropped the bad copy — also fixed user-table mismatches and new-customer flags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Missing FICO</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483 (6.8%)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Not riskier than other loans; kept as an 'Unknown' band, no imputation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credit_loss on delinquent loans is ~30% / ~60% of unpaid principal (100% for charge-offs)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236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Treated as expected loss (32% of loss $); stress case = all delinquents charge off</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Delinquency status earlier than loan age allows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Kept; can't tell whether date or flag is wrong; 0.3% of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'current' Split Pay loans already fully repaid</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134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Kept; no loss impact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Split Pay term coded as 1 month (product is ~6 weeks)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2,951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Used 1.5 months where duration matters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bl>
          </a:graphicData>
        </a:graphic>
      </p:graphicFrame>
      <p:sp>
        <p:nvSpPr>
          <p:cNvPr id="5" name="Text 2"/>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Also checked and clean: keys and joins, product/term/APR rules, fee and repayment arithmetic. Code: notebooks/01_data_integrity.ipynb.</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B · METHODOLOGY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How the numbers were built</a:t>
            </a:r>
            <a:endParaRPr lang="en-US" sz="2600" dirty="0"/>
          </a:p>
        </p:txBody>
      </p:sp>
      <p:sp>
        <p:nvSpPr>
          <p:cNvPr id="4" name="Shape 2"/>
          <p:cNvSpPr/>
          <p:nvPr/>
        </p:nvSpPr>
        <p:spPr>
          <a:xfrm>
            <a:off x="548640" y="1463040"/>
            <a:ext cx="5394960" cy="1691640"/>
          </a:xfrm>
          <a:prstGeom prst="roundRect">
            <a:avLst>
              <a:gd name="adj" fmla="val 6486"/>
            </a:avLst>
          </a:prstGeom>
          <a:solidFill>
            <a:srgbClr val="F6F6FE"/>
          </a:solidFill>
          <a:ln w="12700">
            <a:solidFill>
              <a:srgbClr val="F6F6FE"/>
            </a:solidFill>
            <a:prstDash val="solid"/>
          </a:ln>
        </p:spPr>
      </p:sp>
      <p:sp>
        <p:nvSpPr>
          <p:cNvPr id="5" name="Text 3"/>
          <p:cNvSpPr txBox="1"/>
          <p:nvPr/>
        </p:nvSpPr>
        <p:spPr>
          <a:xfrm>
            <a:off x="822960" y="164592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Unit economics per loan</a:t>
            </a:r>
            <a:endParaRPr lang="en-US" sz="1500" dirty="0"/>
          </a:p>
        </p:txBody>
      </p:sp>
      <p:sp>
        <p:nvSpPr>
          <p:cNvPr id="6" name="Text 4"/>
          <p:cNvSpPr txBox="1"/>
          <p:nvPr/>
        </p:nvSpPr>
        <p:spPr>
          <a:xfrm>
            <a:off x="822960" y="205740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Contribution = merchant fee + interest collected − credit loss − funding cost. Funding = cost of funds × term × ½ principal (average balance of an amortizing loan). Full principal would lower margins ~1 pt but not change the vertical ranking.</a:t>
            </a:r>
            <a:endParaRPr lang="en-US" sz="1250" dirty="0"/>
          </a:p>
        </p:txBody>
      </p:sp>
      <p:sp>
        <p:nvSpPr>
          <p:cNvPr id="7" name="Shape 5"/>
          <p:cNvSpPr/>
          <p:nvPr/>
        </p:nvSpPr>
        <p:spPr>
          <a:xfrm>
            <a:off x="6217920" y="1463040"/>
            <a:ext cx="5394960" cy="1691640"/>
          </a:xfrm>
          <a:prstGeom prst="roundRect">
            <a:avLst>
              <a:gd name="adj" fmla="val 6486"/>
            </a:avLst>
          </a:prstGeom>
          <a:solidFill>
            <a:srgbClr val="F6F6FE"/>
          </a:solidFill>
          <a:ln w="12700">
            <a:solidFill>
              <a:srgbClr val="F6F6FE"/>
            </a:solidFill>
            <a:prstDash val="solid"/>
          </a:ln>
        </p:spPr>
      </p:sp>
      <p:sp>
        <p:nvSpPr>
          <p:cNvPr id="8" name="Text 6"/>
          <p:cNvSpPr txBox="1"/>
          <p:nvPr/>
        </p:nvSpPr>
        <p:spPr>
          <a:xfrm>
            <a:off x="6492240" y="164592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Maturity</a:t>
            </a:r>
            <a:endParaRPr lang="en-US" sz="1500" dirty="0"/>
          </a:p>
        </p:txBody>
      </p:sp>
      <p:sp>
        <p:nvSpPr>
          <p:cNvPr id="9" name="Text 7"/>
          <p:cNvSpPr txBox="1"/>
          <p:nvPr/>
        </p:nvSpPr>
        <p:spPr>
          <a:xfrm>
            <a:off x="6492240" y="205740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Young loans haven't paid interest or defaulted yet. Loss/margin comparisons are checked on seasoned loans (originated by Jun 2025).</a:t>
            </a:r>
            <a:endParaRPr lang="en-US" sz="1250" dirty="0"/>
          </a:p>
        </p:txBody>
      </p:sp>
      <p:sp>
        <p:nvSpPr>
          <p:cNvPr id="10" name="Shape 8"/>
          <p:cNvSpPr/>
          <p:nvPr/>
        </p:nvSpPr>
        <p:spPr>
          <a:xfrm>
            <a:off x="548640" y="3383280"/>
            <a:ext cx="5394960" cy="1691640"/>
          </a:xfrm>
          <a:prstGeom prst="roundRect">
            <a:avLst>
              <a:gd name="adj" fmla="val 6486"/>
            </a:avLst>
          </a:prstGeom>
          <a:solidFill>
            <a:srgbClr val="F6F6FE"/>
          </a:solidFill>
          <a:ln w="12700">
            <a:solidFill>
              <a:srgbClr val="F6F6FE"/>
            </a:solidFill>
            <a:prstDash val="solid"/>
          </a:ln>
        </p:spPr>
      </p:sp>
      <p:sp>
        <p:nvSpPr>
          <p:cNvPr id="11" name="Text 9"/>
          <p:cNvSpPr txBox="1"/>
          <p:nvPr/>
        </p:nvSpPr>
        <p:spPr>
          <a:xfrm>
            <a:off x="822960" y="356616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Repeat customers</a:t>
            </a:r>
            <a:endParaRPr lang="en-US" sz="1500" dirty="0"/>
          </a:p>
        </p:txBody>
      </p:sp>
      <p:sp>
        <p:nvSpPr>
          <p:cNvPr id="12" name="Text 10"/>
          <p:cNvSpPr txBox="1"/>
          <p:nvPr/>
        </p:nvSpPr>
        <p:spPr>
          <a:xfrm>
            <a:off x="822960" y="397764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First loans by Jun 2025; repeat = another loan within 180 days. Loss by new vs repeat checked on seasoned loans.</a:t>
            </a:r>
            <a:endParaRPr lang="en-US" sz="1250" dirty="0"/>
          </a:p>
        </p:txBody>
      </p:sp>
      <p:sp>
        <p:nvSpPr>
          <p:cNvPr id="13" name="Shape 11"/>
          <p:cNvSpPr/>
          <p:nvPr/>
        </p:nvSpPr>
        <p:spPr>
          <a:xfrm>
            <a:off x="6217920" y="3383280"/>
            <a:ext cx="5394960" cy="1691640"/>
          </a:xfrm>
          <a:prstGeom prst="roundRect">
            <a:avLst>
              <a:gd name="adj" fmla="val 6486"/>
            </a:avLst>
          </a:prstGeom>
          <a:solidFill>
            <a:srgbClr val="F6F6FE"/>
          </a:solidFill>
          <a:ln w="12700">
            <a:solidFill>
              <a:srgbClr val="F6F6FE"/>
            </a:solidFill>
            <a:prstDash val="solid"/>
          </a:ln>
        </p:spPr>
      </p:sp>
      <p:sp>
        <p:nvSpPr>
          <p:cNvPr id="14" name="Text 12"/>
          <p:cNvSpPr txBox="1"/>
          <p:nvPr/>
        </p:nvSpPr>
        <p:spPr>
          <a:xfrm>
            <a:off x="6492240" y="356616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Sizing</a:t>
            </a:r>
            <a:endParaRPr lang="en-US" sz="1500" dirty="0"/>
          </a:p>
        </p:txBody>
      </p:sp>
      <p:sp>
        <p:nvSpPr>
          <p:cNvPr id="15" name="Text 13"/>
          <p:cNvSpPr txBox="1"/>
          <p:nvPr/>
        </p:nvSpPr>
        <p:spPr>
          <a:xfrm>
            <a:off x="6492240" y="397764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One year = 2025 volume × seasoned rates. Changes scale proportionally; new merchants perform like the vertical average.</a:t>
            </a:r>
            <a:endParaRPr lang="en-US" sz="1250" dirty="0"/>
          </a:p>
        </p:txBody>
      </p:sp>
      <p:sp>
        <p:nvSpPr>
          <p:cNvPr id="16" name="Text 14"/>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Code: notebooks/01_data_integrity.ipynb, 02_portfolio_risk.ipynb, 03_recommendation_sizing.ipynb.</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C · TREND</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Interest-bearing margin falls only because recent loans are young; Split Pay's dip is real</a:t>
            </a:r>
            <a:endParaRPr lang="en-US" sz="2600" dirty="0"/>
          </a:p>
        </p:txBody>
      </p:sp>
      <p:graphicFrame>
        <p:nvGraphicFramePr>
          <p:cNvPr id="4" name="Chart 0" descr=""/>
          <p:cNvGraphicFramePr/>
          <p:nvPr/>
        </p:nvGraphicFramePr>
        <p:xfrm>
          <a:off x="548640" y="14173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554480"/>
            <a:ext cx="3779215" cy="420624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Interest-bearing: revenue falls 16.5% → 9.0% because recent loans haven't paid their interest yet; loss rate doesn't rise.</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Split Pay loans finish in ~6 weeks, so quarters are complete: loss rose from 1.1% to 2.5–3.1% and margin fell from 4.0% to ~2–3%.</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0% APR revenue is the merchant fee, fixed up front; margin ~3–4%.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to invest next year</dc:title>
  <dc:subject>PptxGenJS Presentation</dc:subject>
  <dc:creator>PptxGenJS</dc:creator>
  <cp:lastModifiedBy>PptxGenJS</cp:lastModifiedBy>
  <cp:revision>1</cp:revision>
  <dcterms:created xsi:type="dcterms:W3CDTF">2026-09-29T20:37:47Z</dcterms:created>
  <dcterms:modified xsi:type="dcterms:W3CDTF">2026-09-29T20:37:47Z</dcterms:modified>
</cp:coreProperties>
</file>
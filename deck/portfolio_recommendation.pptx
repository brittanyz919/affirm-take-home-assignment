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Arial"/>
              </a:defRPr>
            </a:pPr>
            <a:r>
              <a:rPr sz="1300" b="0" i="0" u="none" strike="noStrike">
                <a:solidFill>
                  <a:srgbClr val="1A1A2E"/>
                </a:solidFill>
                <a:latin typeface="Arial"/>
              </a:rPr>
              <a:t>GMV and unit economics by origination quarter</a:t>
            </a:r>
          </a:p>
        </c:rich>
      </c:tx>
      <c:layout/>
      <c:overlay val="0"/>
    </c:title>
    <c:autoTitleDeleted val="0"/>
    <c:plotArea>
      <c:layout/>
      <c:barChart>
        <c:barDir val="col"/>
        <c:grouping val="clustered"/>
        <c:varyColors val="0"/>
        <c:ser>
          <c:idx val="0"/>
          <c:order val="0"/>
          <c:tx>
            <c:strRef>
              <c:f>Sheet1!$B$1</c:f>
              <c:strCache>
                <c:ptCount val="1"/>
                <c:pt idx="0">
                  <c:v>GMV ($K, left axis)</c:v>
                </c:pt>
              </c:strCache>
            </c:strRef>
          </c:tx>
          <c:spPr>
            <a:solidFill>
              <a:srgbClr val="D9D9FC"/>
            </a:solidFill>
            <a:effectLst/>
          </c:spPr>
          <c:invertIfNegative val="0"/>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459</c:v>
                </c:pt>
                <c:pt idx="1">
                  <c:v>664</c:v>
                </c:pt>
                <c:pt idx="2">
                  <c:v>650</c:v>
                </c:pt>
                <c:pt idx="3">
                  <c:v>704</c:v>
                </c:pt>
                <c:pt idx="4">
                  <c:v>721</c:v>
                </c:pt>
                <c:pt idx="5">
                  <c:v>771</c:v>
                </c:pt>
              </c:numCache>
            </c:numRef>
          </c:val>
        </c:ser>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Revenue (% of GMV)</c:v>
                </c:pt>
              </c:strCache>
            </c:strRef>
          </c:tx>
          <c:spPr>
            <a:solidFill>
              <a:srgbClr val="4A4AF4"/>
            </a:solidFill>
            <a:ln w="3175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93B3B"/>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10.8</c:v>
                </c:pt>
                <c:pt idx="1">
                  <c:v>11</c:v>
                </c:pt>
                <c:pt idx="2">
                  <c:v>11.3</c:v>
                </c:pt>
                <c:pt idx="3">
                  <c:v>10.7</c:v>
                </c:pt>
                <c:pt idx="4">
                  <c:v>9.7</c:v>
                </c:pt>
                <c:pt idx="5">
                  <c:v>7.5</c:v>
                </c:pt>
              </c:numCache>
            </c:numRef>
          </c:val>
          <c:smooth val="0"/>
        </c:ser>
        <c:ser>
          <c:idx val="2"/>
          <c:order val="2"/>
          <c:tx>
            <c:strRef>
              <c:f>Sheet1!$D$1</c:f>
              <c:strCache>
                <c:ptCount val="1"/>
                <c:pt idx="0">
                  <c:v>Credit loss (% of GMV)</c:v>
                </c:pt>
              </c:strCache>
            </c:strRef>
          </c:tx>
          <c:spPr>
            <a:solidFill>
              <a:srgbClr val="C93B3B"/>
            </a:solidFill>
            <a:ln w="31750" cap="flat">
              <a:solidFill>
                <a:srgbClr val="C9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5B5B73"/>
              </a:solidFill>
              <a:ln w="9525" cap="flat">
                <a:solidFill>
                  <a:srgbClr val="C93B3B"/>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1.4</c:v>
                </c:pt>
                <c:pt idx="1">
                  <c:v>2.9</c:v>
                </c:pt>
                <c:pt idx="2">
                  <c:v>2.1</c:v>
                </c:pt>
                <c:pt idx="3">
                  <c:v>2.5</c:v>
                </c:pt>
                <c:pt idx="4">
                  <c:v>2</c:v>
                </c:pt>
                <c:pt idx="5">
                  <c:v>1.2</c:v>
                </c:pt>
              </c:numCache>
            </c:numRef>
          </c:val>
          <c:smooth val="0"/>
        </c:ser>
        <c:ser>
          <c:idx val="3"/>
          <c:order val="3"/>
          <c:tx>
            <c:strRef>
              <c:f>Sheet1!$E$1</c:f>
              <c:strCache>
                <c:ptCount val="1"/>
                <c:pt idx="0">
                  <c:v>Funding cost (% of GMV)</c:v>
                </c:pt>
              </c:strCache>
            </c:strRef>
          </c:tx>
          <c:spPr>
            <a:solidFill>
              <a:srgbClr val="5B5B73"/>
            </a:solidFill>
            <a:ln w="31750" cap="flat">
              <a:solidFill>
                <a:srgbClr val="5B5B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5B5B73"/>
              </a:solidFill>
              <a:ln w="9525" cap="flat">
                <a:solidFill>
                  <a:srgbClr val="5B5B73"/>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Sheet1!$E$2:$E$7</c:f>
              <c:numCache>
                <c:formatCode>General</c:formatCode>
                <c:ptCount val="6"/>
                <c:pt idx="0">
                  <c:v>1</c:v>
                </c:pt>
                <c:pt idx="1">
                  <c:v>1.1</c:v>
                </c:pt>
                <c:pt idx="2">
                  <c:v>1.1</c:v>
                </c:pt>
                <c:pt idx="3">
                  <c:v>1.1</c:v>
                </c:pt>
                <c:pt idx="4">
                  <c:v>1.1</c:v>
                </c:pt>
                <c:pt idx="5">
                  <c:v>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ax val="900"/>
          <c:min val="0"/>
        </c:scaling>
        <c:delete val="0"/>
        <c:axPos val="l"/>
        <c:majorGridlines>
          <c:spPr>
            <a:ln w="6350" cap="flat">
              <a:solidFill>
                <a:srgbClr val="E6E6EE"/>
              </a:solidFill>
              <a:prstDash val="solid"/>
              <a:round/>
            </a:ln>
          </c:spPr>
        </c:majorGridlines>
        <c:title>
          <c:tx>
            <c:rich>
              <a:bodyPr/>
              <a:lstStyle/>
              <a:p>
                <a:pPr>
                  <a:defRPr sz="1000" b="0" i="0" u="none" strike="noStrike">
                    <a:solidFill>
                      <a:srgbClr val="5B5B73"/>
                    </a:solidFill>
                    <a:latin typeface="Arial"/>
                  </a:defRPr>
                </a:pPr>
                <a:r>
                  <a:rPr sz="1000" b="0" i="0" u="none" strike="noStrike">
                    <a:solidFill>
                      <a:srgbClr val="5B5B73"/>
                    </a:solidFill>
                    <a:latin typeface="Arial"/>
                  </a:rPr>
                  <a:t>GMV ($K)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valAx>
        <c:axId val="2094734553"/>
        <c:scaling>
          <c:orientation val="minMax"/>
          <c:max val="12"/>
          <c:min val="0"/>
        </c:scaling>
        <c:delete val="0"/>
        <c:axPos val="r"/>
        <c:title>
          <c:tx>
            <c:rich>
              <a:bodyPr/>
              <a:lstStyle/>
              <a:p>
                <a:pPr>
                  <a:defRPr sz="1000" b="0" i="0" u="none" strike="noStrike">
                    <a:solidFill>
                      <a:srgbClr val="5B5B73"/>
                    </a:solidFill>
                    <a:latin typeface="Arial"/>
                  </a:defRPr>
                </a:pPr>
                <a:r>
                  <a:rPr sz="1000" b="0" i="0" u="none" strike="noStrike">
                    <a:solidFill>
                      <a:srgbClr val="5B5B73"/>
                    </a:solidFill>
                    <a:latin typeface="Arial"/>
                  </a:rPr>
                  <a:t>% of GMV</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000">
              <a:solidFill>
                <a:srgbClr val="1A1A2E"/>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Customers who take a 2nd loan within 180 days (%), by first-loan vertical</a:t>
            </a:r>
          </a:p>
        </c:rich>
      </c:tx>
      <c:layout/>
      <c:overlay val="0"/>
    </c:title>
    <c:autoTitleDeleted val="0"/>
    <c:plotArea>
      <c:layout/>
      <c:barChart>
        <c:barDir val="bar"/>
        <c:grouping val="clustered"/>
        <c:varyColors val="0"/>
        <c:ser>
          <c:idx val="0"/>
          <c:order val="0"/>
          <c:tx>
            <c:strRef>
              <c:f>Sheet1!$B$1</c:f>
              <c:strCache>
                <c:ptCount val="1"/>
                <c:pt idx="0">
                  <c:v>Repeat within 180 days</c:v>
                </c:pt>
              </c:strCache>
            </c:strRef>
          </c:tx>
          <c:spPr>
            <a:solidFill>
              <a:srgbClr val="4A4AF4"/>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Sheet1!$A$2:$A$8</c:f>
              <c:multiLvlStrCache>
                <c:ptCount val="7"/>
                <c:lvl>
                  <c:pt idx="0">
                    <c:v>Healthcare</c:v>
                  </c:pt>
                  <c:pt idx="1">
                    <c:v>Auto parts</c:v>
                  </c:pt>
                  <c:pt idx="2">
                    <c:v>Travel</c:v>
                  </c:pt>
                  <c:pt idx="3">
                    <c:v>Home furnishing</c:v>
                  </c:pt>
                  <c:pt idx="4">
                    <c:v>Fashion</c:v>
                  </c:pt>
                  <c:pt idx="5">
                    <c:v>Electronics</c:v>
                  </c:pt>
                  <c:pt idx="6">
                    <c:v>Fitness</c:v>
                  </c:pt>
                </c:lvl>
              </c:multiLvlStrCache>
            </c:multiLvlStrRef>
          </c:cat>
          <c:val>
            <c:numRef>
              <c:f>Sheet1!$B$2:$B$8</c:f>
              <c:numCache>
                <c:formatCode>General</c:formatCode>
                <c:ptCount val="7"/>
                <c:pt idx="0">
                  <c:v>17</c:v>
                </c:pt>
                <c:pt idx="1">
                  <c:v>17</c:v>
                </c:pt>
                <c:pt idx="2">
                  <c:v>20</c:v>
                </c:pt>
                <c:pt idx="3">
                  <c:v>23</c:v>
                </c:pt>
                <c:pt idx="4">
                  <c:v>94</c:v>
                </c:pt>
                <c:pt idx="5">
                  <c:v>95</c:v>
                </c:pt>
                <c:pt idx="6">
                  <c:v>96</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E6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Contribution margin by origination quarter (% of GMV)</a:t>
            </a:r>
          </a:p>
        </c:rich>
      </c:tx>
      <c:layout/>
      <c:overlay val="0"/>
    </c:title>
    <c:autoTitleDeleted val="0"/>
    <c:plotArea>
      <c:layout/>
      <c:lineChart>
        <c:varyColors val="0"/>
        <c:ser>
          <c:idx val="0"/>
          <c:order val="0"/>
          <c:tx>
            <c:strRef>
              <c:f>Sheet1!$B$1</c:f>
              <c:strCache>
                <c:ptCount val="1"/>
                <c:pt idx="0">
                  <c:v>Interest-bearing</c:v>
                </c:pt>
              </c:strCache>
            </c:strRef>
          </c:tx>
          <c:spPr>
            <a:solidFill>
              <a:srgbClr val="4A4AF4"/>
            </a:solidFill>
            <a:ln w="2540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A4AF4"/>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13.2</c:v>
                </c:pt>
                <c:pt idx="1">
                  <c:v>11.6</c:v>
                </c:pt>
                <c:pt idx="2">
                  <c:v>11.6</c:v>
                </c:pt>
                <c:pt idx="3">
                  <c:v>9.8</c:v>
                </c:pt>
                <c:pt idx="4">
                  <c:v>9.1</c:v>
                </c:pt>
                <c:pt idx="5">
                  <c:v>6.5</c:v>
                </c:pt>
              </c:numCache>
            </c:numRef>
          </c:val>
          <c:smooth val="0"/>
        </c:ser>
        <c:ser>
          <c:idx val="1"/>
          <c:order val="1"/>
          <c:tx>
            <c:strRef>
              <c:f>Sheet1!$C$1</c:f>
              <c:strCache>
                <c:ptCount val="1"/>
                <c:pt idx="0">
                  <c:v>0% APR</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4</c:v>
                </c:pt>
                <c:pt idx="1">
                  <c:v>3</c:v>
                </c:pt>
                <c:pt idx="2">
                  <c:v>4.3</c:v>
                </c:pt>
                <c:pt idx="3">
                  <c:v>4</c:v>
                </c:pt>
                <c:pt idx="4">
                  <c:v>1.6</c:v>
                </c:pt>
                <c:pt idx="5">
                  <c:v>3.7</c:v>
                </c:pt>
              </c:numCache>
            </c:numRef>
          </c:val>
          <c:smooth val="0"/>
        </c:ser>
        <c:ser>
          <c:idx val="2"/>
          <c:order val="2"/>
          <c:tx>
            <c:strRef>
              <c:f>Sheet1!$D$1</c:f>
              <c:strCache>
                <c:ptCount val="1"/>
                <c:pt idx="0">
                  <c:v>Split Pay</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4</c:v>
                </c:pt>
                <c:pt idx="1">
                  <c:v>1.7</c:v>
                </c:pt>
                <c:pt idx="2">
                  <c:v>1.8</c:v>
                </c:pt>
                <c:pt idx="3">
                  <c:v>2.4</c:v>
                </c:pt>
                <c:pt idx="4">
                  <c:v>3.2</c:v>
                </c:pt>
                <c:pt idx="5">
                  <c:v>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where to add and where to pull back capital next year. One-line answer: grow healthcare and home furnishing merchants, invest in turning first-time customers into repeat customers, and tighten credit for the riskiest travel borrowers. The portfolio in scope: $4.0M GMV, 7,134 loans, 4,000 consumers, ~7% contribution margin after losses and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Healthy trajectory: GMV up every quarter, 33% year over year for the second half. Credit quality is stable: average FICO ~652 throughout. Economics: revenue 10% of GMV, loss 2%, funding 1%, leaving ~7% contribution. Two things to flag: growth is led by interest-bearing, which is good, but also by fashion, our lowest-margin vertical; and the Q4-2024 holiday vintage had double the bad rate. Recent quarters show lower margins only because those loans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margin; rates are on seasoned loans so young loans do not flatter them. Travel has five times the bad rate of any other vertical, but it is still our largest profit pool because revenue is high. The risk is concentrated in sub-640 FICO travel borrowers: 43% bad rate, and the margin disappears if the delinquent loans charge off. Fashion is half our loans but a tenth of profit. Healthcare and home furnishing combine low loss with high revenue. Shares of loans, GMV and profit use all loans.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by product. Interest-bearing is where the profit is: its loss rate is the highest, but interest income more than covers it. 0% APR is our safest product, yet it earns a third of the interest-bearing margin: we give up the interest, fund a 12-18 month loan, and the merchant fee is not higher — at the same merchants it is actually lower than on interest-bearing loans. That is the basis for repricing. Split Pay is thin too, but it is the entry product that leads customers to interest-bearing, so we keep it as an acquisition tool rather than reprice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who repays their first loan is a much better risk the second time: on seasoned loans, loss falls from 2.8% to 1.1%, and that holds in every vertical and product. 82% of loss dollars come from first loans. Repeat rates are set by the vertical: frequent-purchase verticals like fashion and electronics already get ~95%; big-ticket verticals only ~20%, which is where the upside is. Split Pay works as an entry product: most customers move to interest-bearing on their next loan. And customers mostly come back to the same vertical (86%), so repeat growth has to be built vertical by vertical — cross-selling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moves, each with the evidence and the sizing on one line. Two where we invest: healthcare and home furnishing merchants — one new average merchant adds 25–35% to the vertical — and repeat customers, which is the biggest profit lever. One where we pull back: travel below 640 FICO, through the risk model's cut-off and limits; it costs some profit, a deliberate trade for lower risk. One pricing fix: 0% APR merchant fee, shown separately because it depends on how merchants respond. Net: profit +7–15%, GMV +4–8%, and the loss rate goes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trade-offs: the travel tightening is a risk decision, not a profit one. Caveats on data. Three things to watch, notably Split Pay loss creeping up, which is the cleanest read on credit trend because those loans complete in six weeks. Next steps are pilots rather than big-bang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33"/>
        </a:solidFill>
      </p:bgPr>
    </p:bg>
    <p:spTree>
      <p:nvGrpSpPr>
        <p:cNvPr id="1" name=""/>
        <p:cNvGrpSpPr/>
        <p:nvPr/>
      </p:nvGrpSpPr>
      <p:grpSpPr>
        <a:xfrm>
          <a:off x="0" y="0"/>
          <a:ext cx="0" cy="0"/>
          <a:chOff x="0" y="0"/>
          <a:chExt cx="0" cy="0"/>
        </a:xfrm>
      </p:grpSpPr>
      <p:sp>
        <p:nvSpPr>
          <p:cNvPr id="2" name="Shape 0"/>
          <p:cNvSpPr/>
          <p:nvPr/>
        </p:nvSpPr>
        <p:spPr>
          <a:xfrm>
            <a:off x="8138160" y="-1463040"/>
            <a:ext cx="5669280" cy="5669280"/>
          </a:xfrm>
          <a:prstGeom prst="ellipse">
            <a:avLst/>
          </a:prstGeom>
          <a:solidFill>
            <a:srgbClr val="4A4AF4"/>
          </a:solidFill>
          <a:ln w="12700">
            <a:solidFill>
              <a:srgbClr val="4A4AF4"/>
            </a:solidFill>
            <a:prstDash val="solid"/>
          </a:ln>
        </p:spPr>
      </p:sp>
      <p:sp>
        <p:nvSpPr>
          <p:cNvPr id="3" name="Shape 1"/>
          <p:cNvSpPr/>
          <p:nvPr/>
        </p:nvSpPr>
        <p:spPr>
          <a:xfrm>
            <a:off x="9692640" y="3291840"/>
            <a:ext cx="3108960" cy="3108960"/>
          </a:xfrm>
          <a:prstGeom prst="ellipse">
            <a:avLst/>
          </a:prstGeom>
          <a:solidFill>
            <a:srgbClr val="2B2CA8"/>
          </a:solidFill>
          <a:ln w="12700">
            <a:solidFill>
              <a:srgbClr val="2B2CA8"/>
            </a:solidFill>
            <a:prstDash val="solid"/>
          </a:ln>
        </p:spPr>
      </p:sp>
      <p:sp>
        <p:nvSpPr>
          <p:cNvPr id="4" name="Text 2"/>
          <p:cNvSpPr txBox="1"/>
          <p:nvPr/>
        </p:nvSpPr>
        <p:spPr>
          <a:xfrm>
            <a:off x="548640" y="1554480"/>
            <a:ext cx="7315200" cy="320040"/>
          </a:xfrm>
          <a:prstGeom prst="rect">
            <a:avLst/>
          </a:prstGeom>
          <a:noFill/>
          <a:ln/>
        </p:spPr>
        <p:txBody>
          <a:bodyPr wrap="square" lIns="0" tIns="0" rIns="0" bIns="0" rtlCol="0" anchor="ctr"/>
          <a:lstStyle/>
          <a:p>
            <a:pPr indent="0" marL="0">
              <a:buNone/>
            </a:pPr>
            <a:r>
              <a:rPr lang="en-US" sz="1200" b="1" spc="200" kern="0" dirty="0">
                <a:solidFill>
                  <a:srgbClr val="D9D9FC"/>
                </a:solidFill>
                <a:latin typeface="Arial" pitchFamily="34" charset="0"/>
                <a:ea typeface="Arial" pitchFamily="34" charset="-122"/>
                <a:cs typeface="Arial" pitchFamily="34" charset="-120"/>
              </a:rPr>
              <a:t>RISK &amp; ANALYTICS  ·  PORTFOLIO REVIEW</a:t>
            </a:r>
            <a:endParaRPr lang="en-US" sz="1200" dirty="0"/>
          </a:p>
        </p:txBody>
      </p:sp>
      <p:sp>
        <p:nvSpPr>
          <p:cNvPr id="5" name="Text 3"/>
          <p:cNvSpPr txBox="1"/>
          <p:nvPr/>
        </p:nvSpPr>
        <p:spPr>
          <a:xfrm>
            <a:off x="548640" y="1965960"/>
            <a:ext cx="7589520"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Where to invest next year</a:t>
            </a:r>
            <a:endParaRPr lang="en-US" sz="4400" dirty="0"/>
          </a:p>
        </p:txBody>
      </p:sp>
      <p:sp>
        <p:nvSpPr>
          <p:cNvPr id="6" name="Text 4"/>
          <p:cNvSpPr txBox="1"/>
          <p:nvPr/>
        </p:nvSpPr>
        <p:spPr>
          <a:xfrm>
            <a:off x="548640" y="3017520"/>
            <a:ext cx="7132320" cy="822960"/>
          </a:xfrm>
          <a:prstGeom prst="rect">
            <a:avLst/>
          </a:prstGeom>
          <a:noFill/>
          <a:ln/>
        </p:spPr>
        <p:txBody>
          <a:bodyPr wrap="square" lIns="0" tIns="0" rIns="0" bIns="0" rtlCol="0" anchor="t"/>
          <a:lstStyle/>
          <a:p>
            <a:pPr indent="0" marL="0">
              <a:buNone/>
            </a:pPr>
            <a:r>
              <a:rPr lang="en-US" sz="2000" dirty="0">
                <a:solidFill>
                  <a:srgbClr val="D9D9FC"/>
                </a:solidFill>
                <a:latin typeface="Arial" pitchFamily="34" charset="0"/>
                <a:ea typeface="Arial" pitchFamily="34" charset="-122"/>
                <a:cs typeface="Arial" pitchFamily="34" charset="-120"/>
              </a:rPr>
              <a:t>Grow low-loss verticals and repeat customers; tighten the riskiest travel credit</a:t>
            </a:r>
            <a:endParaRPr lang="en-US" sz="2000" dirty="0"/>
          </a:p>
        </p:txBody>
      </p:sp>
      <p:sp>
        <p:nvSpPr>
          <p:cNvPr id="7" name="Text 5"/>
          <p:cNvSpPr txBox="1"/>
          <p:nvPr/>
        </p:nvSpPr>
        <p:spPr>
          <a:xfrm>
            <a:off x="54864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$4.0M</a:t>
            </a:r>
            <a:endParaRPr lang="en-US" sz="2400" dirty="0"/>
          </a:p>
        </p:txBody>
      </p:sp>
      <p:sp>
        <p:nvSpPr>
          <p:cNvPr id="8" name="Text 6"/>
          <p:cNvSpPr txBox="1"/>
          <p:nvPr/>
        </p:nvSpPr>
        <p:spPr>
          <a:xfrm>
            <a:off x="54864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9" name="Text 7"/>
          <p:cNvSpPr txBox="1"/>
          <p:nvPr/>
        </p:nvSpPr>
        <p:spPr>
          <a:xfrm>
            <a:off x="233172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7,134</a:t>
            </a:r>
            <a:endParaRPr lang="en-US" sz="2400" dirty="0"/>
          </a:p>
        </p:txBody>
      </p:sp>
      <p:sp>
        <p:nvSpPr>
          <p:cNvPr id="10" name="Text 8"/>
          <p:cNvSpPr txBox="1"/>
          <p:nvPr/>
        </p:nvSpPr>
        <p:spPr>
          <a:xfrm>
            <a:off x="233172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loans</a:t>
            </a:r>
            <a:endParaRPr lang="en-US" sz="1200" dirty="0"/>
          </a:p>
        </p:txBody>
      </p:sp>
      <p:sp>
        <p:nvSpPr>
          <p:cNvPr id="11" name="Text 9"/>
          <p:cNvSpPr txBox="1"/>
          <p:nvPr/>
        </p:nvSpPr>
        <p:spPr>
          <a:xfrm>
            <a:off x="411480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4,000</a:t>
            </a:r>
            <a:endParaRPr lang="en-US" sz="2400" dirty="0"/>
          </a:p>
        </p:txBody>
      </p:sp>
      <p:sp>
        <p:nvSpPr>
          <p:cNvPr id="12" name="Text 10"/>
          <p:cNvSpPr txBox="1"/>
          <p:nvPr/>
        </p:nvSpPr>
        <p:spPr>
          <a:xfrm>
            <a:off x="411480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consumers</a:t>
            </a:r>
            <a:endParaRPr lang="en-US" sz="1200" dirty="0"/>
          </a:p>
        </p:txBody>
      </p:sp>
      <p:sp>
        <p:nvSpPr>
          <p:cNvPr id="13" name="Text 11"/>
          <p:cNvSpPr txBox="1"/>
          <p:nvPr/>
        </p:nvSpPr>
        <p:spPr>
          <a:xfrm>
            <a:off x="589788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7.0%</a:t>
            </a:r>
            <a:endParaRPr lang="en-US" sz="2400" dirty="0"/>
          </a:p>
        </p:txBody>
      </p:sp>
      <p:sp>
        <p:nvSpPr>
          <p:cNvPr id="14" name="Text 12"/>
          <p:cNvSpPr txBox="1"/>
          <p:nvPr/>
        </p:nvSpPr>
        <p:spPr>
          <a:xfrm>
            <a:off x="589788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contribution margin</a:t>
            </a:r>
            <a:endParaRPr lang="en-US" sz="1200" dirty="0"/>
          </a:p>
        </p:txBody>
      </p:sp>
      <p:sp>
        <p:nvSpPr>
          <p:cNvPr id="15"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D9D9FC"/>
                </a:solidFill>
                <a:latin typeface="Arial" pitchFamily="34" charset="0"/>
                <a:ea typeface="Arial" pitchFamily="34" charset="-122"/>
                <a:cs typeface="Arial" pitchFamily="34" charset="-120"/>
              </a:rPr>
              <a:t>Loans originated Jul 2024 – Dec 2025, snapshot 31 Dec 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PORTFOLIO HEALTH</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The book grew 33% year over year with stable credit quality and a ~7% margin</a:t>
            </a:r>
            <a:endParaRPr lang="en-US" sz="2600" dirty="0"/>
          </a:p>
        </p:txBody>
      </p:sp>
      <p:graphicFrame>
        <p:nvGraphicFramePr>
          <p:cNvPr id="4" name="Chart 0" descr=""/>
          <p:cNvGraphicFramePr/>
          <p:nvPr/>
        </p:nvGraphicFramePr>
        <p:xfrm>
          <a:off x="548640" y="13258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89520" y="1417320"/>
            <a:ext cx="4053535" cy="3200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Unit economics, % of GMV</a:t>
            </a:r>
            <a:endParaRPr lang="en-US" sz="1300" dirty="0"/>
          </a:p>
        </p:txBody>
      </p:sp>
      <p:sp>
        <p:nvSpPr>
          <p:cNvPr id="6" name="Text 3"/>
          <p:cNvSpPr txBox="1"/>
          <p:nvPr/>
        </p:nvSpPr>
        <p:spPr>
          <a:xfrm>
            <a:off x="7589520" y="182880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Revenue (merchant fee + interest)</a:t>
            </a:r>
            <a:endParaRPr lang="en-US" sz="1300" dirty="0"/>
          </a:p>
        </p:txBody>
      </p:sp>
      <p:sp>
        <p:nvSpPr>
          <p:cNvPr id="7" name="Text 4"/>
          <p:cNvSpPr txBox="1"/>
          <p:nvPr/>
        </p:nvSpPr>
        <p:spPr>
          <a:xfrm>
            <a:off x="10545775" y="1828800"/>
            <a:ext cx="1097280" cy="411480"/>
          </a:xfrm>
          <a:prstGeom prst="rect">
            <a:avLst/>
          </a:prstGeom>
          <a:noFill/>
          <a:ln/>
        </p:spPr>
        <p:txBody>
          <a:bodyPr wrap="square" lIns="0" tIns="0" rIns="0" bIns="0" rtlCol="0" anchor="ctr"/>
          <a:lstStyle/>
          <a:p>
            <a:pPr algn="r" indent="0" marL="0">
              <a:buNone/>
            </a:pPr>
            <a:r>
              <a:rPr lang="en-US" sz="1600" b="1" dirty="0">
                <a:solidFill>
                  <a:srgbClr val="1A1A2E"/>
                </a:solidFill>
                <a:latin typeface="Arial" pitchFamily="34" charset="0"/>
                <a:ea typeface="Arial" pitchFamily="34" charset="-122"/>
                <a:cs typeface="Arial" pitchFamily="34" charset="-120"/>
              </a:rPr>
              <a:t>10.0%</a:t>
            </a:r>
            <a:endParaRPr lang="en-US" sz="1600" dirty="0"/>
          </a:p>
        </p:txBody>
      </p:sp>
      <p:sp>
        <p:nvSpPr>
          <p:cNvPr id="8" name="Text 5"/>
          <p:cNvSpPr txBox="1"/>
          <p:nvPr/>
        </p:nvSpPr>
        <p:spPr>
          <a:xfrm>
            <a:off x="7589520" y="233172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Credit loss</a:t>
            </a:r>
            <a:endParaRPr lang="en-US" sz="1300" dirty="0"/>
          </a:p>
        </p:txBody>
      </p:sp>
      <p:sp>
        <p:nvSpPr>
          <p:cNvPr id="9" name="Text 6"/>
          <p:cNvSpPr txBox="1"/>
          <p:nvPr/>
        </p:nvSpPr>
        <p:spPr>
          <a:xfrm>
            <a:off x="10545775" y="233172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2.0%</a:t>
            </a:r>
            <a:endParaRPr lang="en-US" sz="1600" dirty="0"/>
          </a:p>
        </p:txBody>
      </p:sp>
      <p:sp>
        <p:nvSpPr>
          <p:cNvPr id="10" name="Text 7"/>
          <p:cNvSpPr txBox="1"/>
          <p:nvPr/>
        </p:nvSpPr>
        <p:spPr>
          <a:xfrm>
            <a:off x="7589520" y="283464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Funding cost</a:t>
            </a:r>
            <a:endParaRPr lang="en-US" sz="1300" dirty="0"/>
          </a:p>
        </p:txBody>
      </p:sp>
      <p:sp>
        <p:nvSpPr>
          <p:cNvPr id="11" name="Text 8"/>
          <p:cNvSpPr txBox="1"/>
          <p:nvPr/>
        </p:nvSpPr>
        <p:spPr>
          <a:xfrm>
            <a:off x="10545775" y="283464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1.1%</a:t>
            </a:r>
            <a:endParaRPr lang="en-US" sz="1600" dirty="0"/>
          </a:p>
        </p:txBody>
      </p:sp>
      <p:sp>
        <p:nvSpPr>
          <p:cNvPr id="12" name="Shape 9"/>
          <p:cNvSpPr/>
          <p:nvPr/>
        </p:nvSpPr>
        <p:spPr>
          <a:xfrm>
            <a:off x="7589520" y="3401568"/>
            <a:ext cx="4053535" cy="548640"/>
          </a:xfrm>
          <a:prstGeom prst="roundRect">
            <a:avLst>
              <a:gd name="adj" fmla="val 20000"/>
            </a:avLst>
          </a:prstGeom>
          <a:solidFill>
            <a:srgbClr val="ECECFE"/>
          </a:solidFill>
          <a:ln w="12700">
            <a:solidFill>
              <a:srgbClr val="ECECFE"/>
            </a:solidFill>
            <a:prstDash val="solid"/>
          </a:ln>
        </p:spPr>
      </p:sp>
      <p:sp>
        <p:nvSpPr>
          <p:cNvPr id="13" name="Text 10"/>
          <p:cNvSpPr txBox="1"/>
          <p:nvPr/>
        </p:nvSpPr>
        <p:spPr>
          <a:xfrm>
            <a:off x="7726680" y="3401568"/>
            <a:ext cx="2773375" cy="5486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 Contribution margin</a:t>
            </a:r>
            <a:endParaRPr lang="en-US" sz="1300" dirty="0"/>
          </a:p>
        </p:txBody>
      </p:sp>
      <p:sp>
        <p:nvSpPr>
          <p:cNvPr id="14" name="Text 11"/>
          <p:cNvSpPr txBox="1"/>
          <p:nvPr/>
        </p:nvSpPr>
        <p:spPr>
          <a:xfrm>
            <a:off x="10408615" y="3401568"/>
            <a:ext cx="1097280" cy="548640"/>
          </a:xfrm>
          <a:prstGeom prst="rect">
            <a:avLst/>
          </a:prstGeom>
          <a:noFill/>
          <a:ln/>
        </p:spPr>
        <p:txBody>
          <a:bodyPr wrap="square" lIns="0" tIns="0" rIns="0" bIns="0" rtlCol="0" anchor="ctr"/>
          <a:lstStyle/>
          <a:p>
            <a:pPr algn="r" indent="0" marL="0">
              <a:buNone/>
            </a:pPr>
            <a:r>
              <a:rPr lang="en-US" sz="2000" b="1" dirty="0">
                <a:solidFill>
                  <a:srgbClr val="4A4AF4"/>
                </a:solidFill>
                <a:latin typeface="Arial" pitchFamily="34" charset="0"/>
                <a:ea typeface="Arial" pitchFamily="34" charset="-122"/>
                <a:cs typeface="Arial" pitchFamily="34" charset="-120"/>
              </a:rPr>
              <a:t>7.0%</a:t>
            </a:r>
            <a:endParaRPr lang="en-US" sz="2000" dirty="0"/>
          </a:p>
        </p:txBody>
      </p:sp>
      <p:sp>
        <p:nvSpPr>
          <p:cNvPr id="15" name="Text 12"/>
          <p:cNvSpPr txBox="1"/>
          <p:nvPr/>
        </p:nvSpPr>
        <p:spPr>
          <a:xfrm>
            <a:off x="7589520" y="4160520"/>
            <a:ext cx="4053535"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Growth mix: interest-bearing +64% (highest margin), fashion +84% (lowest margin)</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Average FICO flat at ~652 — growth didn't come from loosening credit</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Holiday vintage (Q4-24): 10% of loans went bad, 2× other quarters</a:t>
            </a:r>
            <a:endParaRPr lang="en-US" sz="1200" dirty="0"/>
          </a:p>
        </p:txBody>
      </p:sp>
      <p:sp>
        <p:nvSpPr>
          <p:cNvPr id="16"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YoY = Jul–Dec 2025 vs Jul–Dec 2024. Q3–Q4 2025 loans are young, so their revenue and loss are still accruing. Funding = cost of funds × term × ½ principal.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AND RISK SIT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Travel carries the risk, fashion dilutes the margin, healthcare and home furnishing lead</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600200"/>
                <a:gridCol w="960120"/>
                <a:gridCol w="960120"/>
                <a:gridCol w="868680"/>
                <a:gridCol w="868680"/>
                <a:gridCol w="868680"/>
                <a:gridCol w="1097280"/>
              </a:tblGrid>
              <a:tr h="47548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Vertical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GMV</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Bad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Loss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Margin*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profit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9.8%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23.5%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9.4%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6.2%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8138160" y="1463040"/>
            <a:ext cx="3504895" cy="1417320"/>
          </a:xfrm>
          <a:prstGeom prst="roundRect">
            <a:avLst>
              <a:gd name="adj" fmla="val 7742"/>
            </a:avLst>
          </a:prstGeom>
          <a:solidFill>
            <a:srgbClr val="F6F6FE"/>
          </a:solidFill>
          <a:ln w="12700">
            <a:solidFill>
              <a:srgbClr val="F6F6FE"/>
            </a:solidFill>
            <a:prstDash val="solid"/>
          </a:ln>
        </p:spPr>
      </p:sp>
      <p:sp>
        <p:nvSpPr>
          <p:cNvPr id="6" name="Text 3"/>
          <p:cNvSpPr txBox="1"/>
          <p:nvPr/>
        </p:nvSpPr>
        <p:spPr>
          <a:xfrm>
            <a:off x="8321040" y="1572768"/>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Travel, FICO &lt; 640</a:t>
            </a:r>
            <a:endParaRPr lang="en-US" sz="1400" dirty="0"/>
          </a:p>
        </p:txBody>
      </p:sp>
      <p:sp>
        <p:nvSpPr>
          <p:cNvPr id="7" name="Text 4"/>
          <p:cNvSpPr txBox="1"/>
          <p:nvPr/>
        </p:nvSpPr>
        <p:spPr>
          <a:xfrm>
            <a:off x="8321040" y="1938528"/>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~43% delinquent or charged off; 6.4% loss. Margin 7.1% falls to ~1% if delinquent loans charge off.</a:t>
            </a:r>
            <a:endParaRPr lang="en-US" sz="1200" dirty="0"/>
          </a:p>
        </p:txBody>
      </p:sp>
      <p:sp>
        <p:nvSpPr>
          <p:cNvPr id="8" name="Shape 5"/>
          <p:cNvSpPr/>
          <p:nvPr/>
        </p:nvSpPr>
        <p:spPr>
          <a:xfrm>
            <a:off x="8138160" y="3035808"/>
            <a:ext cx="3504895" cy="1417320"/>
          </a:xfrm>
          <a:prstGeom prst="roundRect">
            <a:avLst>
              <a:gd name="adj" fmla="val 7742"/>
            </a:avLst>
          </a:prstGeom>
          <a:solidFill>
            <a:srgbClr val="F6F6FE"/>
          </a:solidFill>
          <a:ln w="12700">
            <a:solidFill>
              <a:srgbClr val="F6F6FE"/>
            </a:solidFill>
            <a:prstDash val="solid"/>
          </a:ln>
        </p:spPr>
      </p:sp>
      <p:sp>
        <p:nvSpPr>
          <p:cNvPr id="9" name="Text 6"/>
          <p:cNvSpPr txBox="1"/>
          <p:nvPr/>
        </p:nvSpPr>
        <p:spPr>
          <a:xfrm>
            <a:off x="8321040" y="3145536"/>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Fashion</a:t>
            </a:r>
            <a:endParaRPr lang="en-US" sz="1400" dirty="0"/>
          </a:p>
        </p:txBody>
      </p:sp>
      <p:sp>
        <p:nvSpPr>
          <p:cNvPr id="10" name="Text 7"/>
          <p:cNvSpPr txBox="1"/>
          <p:nvPr/>
        </p:nvSpPr>
        <p:spPr>
          <a:xfrm>
            <a:off x="8321040" y="3511296"/>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51% of loans but 10% of profit. Small tickets; fashion Split Pay earns ~0.5% margin.</a:t>
            </a:r>
            <a:endParaRPr lang="en-US" sz="1200" dirty="0"/>
          </a:p>
        </p:txBody>
      </p:sp>
      <p:sp>
        <p:nvSpPr>
          <p:cNvPr id="11" name="Shape 8"/>
          <p:cNvSpPr/>
          <p:nvPr/>
        </p:nvSpPr>
        <p:spPr>
          <a:xfrm>
            <a:off x="8138160" y="4608576"/>
            <a:ext cx="3504895" cy="1417320"/>
          </a:xfrm>
          <a:prstGeom prst="roundRect">
            <a:avLst>
              <a:gd name="adj" fmla="val 7742"/>
            </a:avLst>
          </a:prstGeom>
          <a:solidFill>
            <a:srgbClr val="F6F6FE"/>
          </a:solidFill>
          <a:ln w="12700">
            <a:solidFill>
              <a:srgbClr val="F6F6FE"/>
            </a:solidFill>
            <a:prstDash val="solid"/>
          </a:ln>
        </p:spPr>
      </p:sp>
      <p:sp>
        <p:nvSpPr>
          <p:cNvPr id="12" name="Text 9"/>
          <p:cNvSpPr txBox="1"/>
          <p:nvPr/>
        </p:nvSpPr>
        <p:spPr>
          <a:xfrm>
            <a:off x="8321040" y="4718304"/>
            <a:ext cx="3139135" cy="347472"/>
          </a:xfrm>
          <a:prstGeom prst="rect">
            <a:avLst/>
          </a:prstGeom>
          <a:noFill/>
          <a:ln/>
        </p:spPr>
        <p:txBody>
          <a:bodyPr wrap="square" lIns="0" tIns="0" rIns="0" bIns="0" rtlCol="0" anchor="ctr"/>
          <a:lstStyle/>
          <a:p>
            <a:pPr indent="0" marL="0">
              <a:buNone/>
            </a:pPr>
            <a:r>
              <a:rPr lang="en-US" sz="1400" b="1" dirty="0">
                <a:solidFill>
                  <a:srgbClr val="1E8A4C"/>
                </a:solidFill>
                <a:latin typeface="Arial" pitchFamily="34" charset="0"/>
                <a:ea typeface="Arial" pitchFamily="34" charset="-122"/>
                <a:cs typeface="Arial" pitchFamily="34" charset="-120"/>
              </a:rPr>
              <a:t>Healthcare &amp; home furnishing</a:t>
            </a:r>
            <a:endParaRPr lang="en-US" sz="1400" dirty="0"/>
          </a:p>
        </p:txBody>
      </p:sp>
      <p:sp>
        <p:nvSpPr>
          <p:cNvPr id="13" name="Text 10"/>
          <p:cNvSpPr txBox="1"/>
          <p:nvPr/>
        </p:nvSpPr>
        <p:spPr>
          <a:xfrm>
            <a:off x="8321040" y="5084064"/>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Low loss (1.3–2.0%) with high revenue. A healthcare customer is worth ~$215 in profit over their loans.</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 Rates on seasoned loans (originated Jul 2024–Jun 2025); shares on all loans. Bad rate = delinquent 30/60 or charged off. Rates are % of GMV.</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SITS BY PRODUCT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earns 82% of profit; 0% APR gives up interest without a higher merchant fee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1188720"/>
                <a:gridCol w="1188720"/>
                <a:gridCol w="1005840"/>
                <a:gridCol w="1097280"/>
                <a:gridCol w="1234440"/>
                <a:gridCol w="1097280"/>
                <a:gridCol w="1097280"/>
                <a:gridCol w="1356055"/>
              </a:tblGrid>
              <a:tr h="54864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Product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loans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GMV</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Avg FICO</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Loss rate*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Merchant fee*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Interest*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Margin*</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profit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48640">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Interest-bearing</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644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9.3%</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11.3%</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82%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48640">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0% APR</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683</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0.7%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5.7%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3.7%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48640">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Split Pay</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656</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840480"/>
            <a:ext cx="3515258" cy="1874520"/>
          </a:xfrm>
          <a:prstGeom prst="roundRect">
            <a:avLst>
              <a:gd name="adj" fmla="val 5854"/>
            </a:avLst>
          </a:prstGeom>
          <a:solidFill>
            <a:srgbClr val="F6F6FE"/>
          </a:solidFill>
          <a:ln w="12700">
            <a:solidFill>
              <a:srgbClr val="F6F6FE"/>
            </a:solidFill>
            <a:prstDash val="solid"/>
          </a:ln>
        </p:spPr>
      </p:sp>
      <p:sp>
        <p:nvSpPr>
          <p:cNvPr id="6" name="Text 3"/>
          <p:cNvSpPr txBox="1"/>
          <p:nvPr/>
        </p:nvSpPr>
        <p:spPr>
          <a:xfrm>
            <a:off x="777240" y="3977640"/>
            <a:ext cx="3058058" cy="365760"/>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0% APR is under-priced</a:t>
            </a:r>
            <a:endParaRPr lang="en-US" sz="1400" dirty="0"/>
          </a:p>
        </p:txBody>
      </p:sp>
      <p:sp>
        <p:nvSpPr>
          <p:cNvPr id="7" name="Text 4"/>
          <p:cNvSpPr txBox="1"/>
          <p:nvPr/>
        </p:nvSpPr>
        <p:spPr>
          <a:xfrm>
            <a:off x="777240" y="4389120"/>
            <a:ext cx="3058058" cy="123444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Lowest risk (FICO 683, 0.7% loss), but no interest and a 12–18 month term to fund. The promo is meant to be paid for by a higher merchant fee — yet at the same promo merchants its fee averages 5.1% vs 5.5% for interest-bearing.</a:t>
            </a:r>
            <a:endParaRPr lang="en-US" sz="1200" dirty="0"/>
          </a:p>
        </p:txBody>
      </p:sp>
      <p:sp>
        <p:nvSpPr>
          <p:cNvPr id="8" name="Shape 5"/>
          <p:cNvSpPr/>
          <p:nvPr/>
        </p:nvSpPr>
        <p:spPr>
          <a:xfrm>
            <a:off x="4338218" y="3840480"/>
            <a:ext cx="3515258" cy="1874520"/>
          </a:xfrm>
          <a:prstGeom prst="roundRect">
            <a:avLst>
              <a:gd name="adj" fmla="val 5854"/>
            </a:avLst>
          </a:prstGeom>
          <a:solidFill>
            <a:srgbClr val="F6F6FE"/>
          </a:solidFill>
          <a:ln w="12700">
            <a:solidFill>
              <a:srgbClr val="F6F6FE"/>
            </a:solidFill>
            <a:prstDash val="solid"/>
          </a:ln>
        </p:spPr>
      </p:sp>
      <p:sp>
        <p:nvSpPr>
          <p:cNvPr id="9" name="Text 6"/>
          <p:cNvSpPr txBox="1"/>
          <p:nvPr/>
        </p:nvSpPr>
        <p:spPr>
          <a:xfrm>
            <a:off x="4566818" y="3977640"/>
            <a:ext cx="3058058" cy="365760"/>
          </a:xfrm>
          <a:prstGeom prst="rect">
            <a:avLst/>
          </a:prstGeom>
          <a:noFill/>
          <a:ln/>
        </p:spPr>
        <p:txBody>
          <a:bodyPr wrap="square" lIns="0" tIns="0" rIns="0" bIns="0" rtlCol="0" anchor="ctr"/>
          <a:lstStyle/>
          <a:p>
            <a:pPr indent="0" marL="0">
              <a:buNone/>
            </a:pPr>
            <a:r>
              <a:rPr lang="en-US" sz="1400" b="1" dirty="0">
                <a:solidFill>
                  <a:srgbClr val="4A4AF4"/>
                </a:solidFill>
                <a:latin typeface="Arial" pitchFamily="34" charset="0"/>
                <a:ea typeface="Arial" pitchFamily="34" charset="-122"/>
                <a:cs typeface="Arial" pitchFamily="34" charset="-120"/>
              </a:rPr>
              <a:t>Split Pay is an entry product</a:t>
            </a:r>
            <a:endParaRPr lang="en-US" sz="1400" dirty="0"/>
          </a:p>
        </p:txBody>
      </p:sp>
      <p:sp>
        <p:nvSpPr>
          <p:cNvPr id="10" name="Text 7"/>
          <p:cNvSpPr txBox="1"/>
          <p:nvPr/>
        </p:nvSpPr>
        <p:spPr>
          <a:xfrm>
            <a:off x="4566818" y="4389120"/>
            <a:ext cx="3058058" cy="123444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Thin margin (2.4%) with loss (2.5%) close to interest-bearing, but 63% of customers who start with Split Pay take an interest-bearing loan next.</a:t>
            </a:r>
            <a:endParaRPr lang="en-US" sz="1200" dirty="0"/>
          </a:p>
        </p:txBody>
      </p:sp>
      <p:sp>
        <p:nvSpPr>
          <p:cNvPr id="11" name="Shape 8"/>
          <p:cNvSpPr/>
          <p:nvPr/>
        </p:nvSpPr>
        <p:spPr>
          <a:xfrm>
            <a:off x="8127797" y="3840480"/>
            <a:ext cx="3515258" cy="1874520"/>
          </a:xfrm>
          <a:prstGeom prst="roundRect">
            <a:avLst>
              <a:gd name="adj" fmla="val 5854"/>
            </a:avLst>
          </a:prstGeom>
          <a:solidFill>
            <a:srgbClr val="F6F6FE"/>
          </a:solidFill>
          <a:ln w="12700">
            <a:solidFill>
              <a:srgbClr val="F6F6FE"/>
            </a:solidFill>
            <a:prstDash val="solid"/>
          </a:ln>
        </p:spPr>
      </p:sp>
      <p:sp>
        <p:nvSpPr>
          <p:cNvPr id="12" name="Text 9"/>
          <p:cNvSpPr txBox="1"/>
          <p:nvPr/>
        </p:nvSpPr>
        <p:spPr>
          <a:xfrm>
            <a:off x="8356397" y="3977640"/>
            <a:ext cx="3058058" cy="365760"/>
          </a:xfrm>
          <a:prstGeom prst="rect">
            <a:avLst/>
          </a:prstGeom>
          <a:noFill/>
          <a:ln/>
        </p:spPr>
        <p:txBody>
          <a:bodyPr wrap="square" lIns="0" tIns="0" rIns="0" bIns="0" rtlCol="0" anchor="ctr"/>
          <a:lstStyle/>
          <a:p>
            <a:pPr indent="0" marL="0">
              <a:buNone/>
            </a:pPr>
            <a:r>
              <a:rPr lang="en-US" sz="1400" b="1" dirty="0">
                <a:solidFill>
                  <a:srgbClr val="1E8A4C"/>
                </a:solidFill>
                <a:latin typeface="Arial" pitchFamily="34" charset="0"/>
                <a:ea typeface="Arial" pitchFamily="34" charset="-122"/>
                <a:cs typeface="Arial" pitchFamily="34" charset="-120"/>
              </a:rPr>
              <a:t>Interest-bearing pays for the risk</a:t>
            </a:r>
            <a:endParaRPr lang="en-US" sz="1400" dirty="0"/>
          </a:p>
        </p:txBody>
      </p:sp>
      <p:sp>
        <p:nvSpPr>
          <p:cNvPr id="13" name="Text 10"/>
          <p:cNvSpPr txBox="1"/>
          <p:nvPr/>
        </p:nvSpPr>
        <p:spPr>
          <a:xfrm>
            <a:off x="8356397" y="4389120"/>
            <a:ext cx="3058058" cy="123444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Highest loss (2.8%) is more than covered by 9.3% interest income — 58% of GMV, 82% of profit.</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 Rates on seasoned loans (originated Jul 2024–Jun 2025), % of GMV; shares and FICO on all loans. Same-merchant fee comparison uses merchants with a promo program.</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Repeat customers are the cheapest growth: 2.5× lower loss, and most move up to interest-bearing</a:t>
            </a:r>
            <a:endParaRPr lang="en-US" sz="2600" dirty="0"/>
          </a:p>
        </p:txBody>
      </p:sp>
      <p:graphicFrame>
        <p:nvGraphicFramePr>
          <p:cNvPr id="4" name="Chart 0" descr=""/>
          <p:cNvGraphicFramePr/>
          <p:nvPr/>
        </p:nvGraphicFramePr>
        <p:xfrm>
          <a:off x="548640" y="141732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417320"/>
            <a:ext cx="4602175" cy="987552"/>
          </a:xfrm>
          <a:prstGeom prst="roundRect">
            <a:avLst>
              <a:gd name="adj" fmla="val 11111"/>
            </a:avLst>
          </a:prstGeom>
          <a:solidFill>
            <a:srgbClr val="ECECFE"/>
          </a:solidFill>
          <a:ln w="12700">
            <a:solidFill>
              <a:srgbClr val="ECECFE"/>
            </a:solidFill>
            <a:prstDash val="solid"/>
          </a:ln>
        </p:spPr>
      </p:sp>
      <p:sp>
        <p:nvSpPr>
          <p:cNvPr id="6" name="Text 3"/>
          <p:cNvSpPr txBox="1"/>
          <p:nvPr/>
        </p:nvSpPr>
        <p:spPr>
          <a:xfrm>
            <a:off x="7269480" y="1490472"/>
            <a:ext cx="4144975" cy="438912"/>
          </a:xfrm>
          <a:prstGeom prst="rect">
            <a:avLst/>
          </a:prstGeom>
          <a:noFill/>
          <a:ln/>
        </p:spPr>
        <p:txBody>
          <a:bodyPr wrap="square" lIns="0" tIns="0" rIns="0" bIns="0" rtlCol="0" anchor="ctr"/>
          <a:lstStyle/>
          <a:p>
            <a:pPr indent="0" marL="0">
              <a:buNone/>
            </a:pPr>
            <a:r>
              <a:rPr lang="en-US" sz="2400" b="1" dirty="0">
                <a:solidFill>
                  <a:srgbClr val="4A4AF4"/>
                </a:solidFill>
                <a:latin typeface="Arial" pitchFamily="34" charset="0"/>
                <a:ea typeface="Arial" pitchFamily="34" charset="-122"/>
                <a:cs typeface="Arial" pitchFamily="34" charset="-120"/>
              </a:rPr>
              <a:t>2.8% vs 1.1%</a:t>
            </a:r>
            <a:endParaRPr lang="en-US" sz="2400" dirty="0"/>
          </a:p>
        </p:txBody>
      </p:sp>
      <p:sp>
        <p:nvSpPr>
          <p:cNvPr id="7" name="Text 4"/>
          <p:cNvSpPr txBox="1"/>
          <p:nvPr/>
        </p:nvSpPr>
        <p:spPr>
          <a:xfrm>
            <a:off x="7269480" y="1929384"/>
            <a:ext cx="4144975" cy="420624"/>
          </a:xfrm>
          <a:prstGeom prst="rect">
            <a:avLst/>
          </a:prstGeom>
          <a:noFill/>
          <a:ln/>
        </p:spPr>
        <p:txBody>
          <a:bodyPr wrap="square" lIns="0" tIns="0" rIns="0" bIns="0" rtlCol="0" anchor="t"/>
          <a:lstStyle/>
          <a:p>
            <a:pPr indent="0" marL="0">
              <a:buNone/>
            </a:pPr>
            <a:r>
              <a:rPr lang="en-US" sz="1150" dirty="0">
                <a:solidFill>
                  <a:srgbClr val="1A1A2E"/>
                </a:solidFill>
                <a:latin typeface="Arial" pitchFamily="34" charset="0"/>
                <a:ea typeface="Arial" pitchFamily="34" charset="-122"/>
                <a:cs typeface="Arial" pitchFamily="34" charset="-120"/>
              </a:rPr>
              <a:t>Loss rate on seasoned loans, first vs repeat — lower in every vertical and product</a:t>
            </a:r>
            <a:endParaRPr lang="en-US" sz="1150" dirty="0"/>
          </a:p>
        </p:txBody>
      </p:sp>
      <p:sp>
        <p:nvSpPr>
          <p:cNvPr id="8" name="Shape 5"/>
          <p:cNvSpPr/>
          <p:nvPr/>
        </p:nvSpPr>
        <p:spPr>
          <a:xfrm>
            <a:off x="7040880" y="2532888"/>
            <a:ext cx="4602175" cy="987552"/>
          </a:xfrm>
          <a:prstGeom prst="roundRect">
            <a:avLst>
              <a:gd name="adj" fmla="val 11111"/>
            </a:avLst>
          </a:prstGeom>
          <a:solidFill>
            <a:srgbClr val="ECECFE"/>
          </a:solidFill>
          <a:ln w="12700">
            <a:solidFill>
              <a:srgbClr val="ECECFE"/>
            </a:solidFill>
            <a:prstDash val="solid"/>
          </a:ln>
        </p:spPr>
      </p:sp>
      <p:sp>
        <p:nvSpPr>
          <p:cNvPr id="9" name="Text 6"/>
          <p:cNvSpPr txBox="1"/>
          <p:nvPr/>
        </p:nvSpPr>
        <p:spPr>
          <a:xfrm>
            <a:off x="7269480" y="2606040"/>
            <a:ext cx="4144975" cy="438912"/>
          </a:xfrm>
          <a:prstGeom prst="rect">
            <a:avLst/>
          </a:prstGeom>
          <a:noFill/>
          <a:ln/>
        </p:spPr>
        <p:txBody>
          <a:bodyPr wrap="square" lIns="0" tIns="0" rIns="0" bIns="0" rtlCol="0" anchor="ctr"/>
          <a:lstStyle/>
          <a:p>
            <a:pPr indent="0" marL="0">
              <a:buNone/>
            </a:pPr>
            <a:r>
              <a:rPr lang="en-US" sz="2400" b="1" dirty="0">
                <a:solidFill>
                  <a:srgbClr val="4A4AF4"/>
                </a:solidFill>
                <a:latin typeface="Arial" pitchFamily="34" charset="0"/>
                <a:ea typeface="Arial" pitchFamily="34" charset="-122"/>
                <a:cs typeface="Arial" pitchFamily="34" charset="-120"/>
              </a:rPr>
              <a:t>82%</a:t>
            </a:r>
            <a:endParaRPr lang="en-US" sz="2400" dirty="0"/>
          </a:p>
        </p:txBody>
      </p:sp>
      <p:sp>
        <p:nvSpPr>
          <p:cNvPr id="10" name="Text 7"/>
          <p:cNvSpPr txBox="1"/>
          <p:nvPr/>
        </p:nvSpPr>
        <p:spPr>
          <a:xfrm>
            <a:off x="7269480" y="3044952"/>
            <a:ext cx="4144975" cy="420624"/>
          </a:xfrm>
          <a:prstGeom prst="rect">
            <a:avLst/>
          </a:prstGeom>
          <a:noFill/>
          <a:ln/>
        </p:spPr>
        <p:txBody>
          <a:bodyPr wrap="square" lIns="0" tIns="0" rIns="0" bIns="0" rtlCol="0" anchor="t"/>
          <a:lstStyle/>
          <a:p>
            <a:pPr indent="0" marL="0">
              <a:buNone/>
            </a:pPr>
            <a:r>
              <a:rPr lang="en-US" sz="1150" dirty="0">
                <a:solidFill>
                  <a:srgbClr val="1A1A2E"/>
                </a:solidFill>
                <a:latin typeface="Arial" pitchFamily="34" charset="0"/>
                <a:ea typeface="Arial" pitchFamily="34" charset="-122"/>
                <a:cs typeface="Arial" pitchFamily="34" charset="-120"/>
              </a:rPr>
              <a:t>of credit loss dollars come from first loans</a:t>
            </a:r>
            <a:endParaRPr lang="en-US" sz="1150" dirty="0"/>
          </a:p>
        </p:txBody>
      </p:sp>
      <p:sp>
        <p:nvSpPr>
          <p:cNvPr id="11" name="Shape 8"/>
          <p:cNvSpPr/>
          <p:nvPr/>
        </p:nvSpPr>
        <p:spPr>
          <a:xfrm>
            <a:off x="7040880" y="3648456"/>
            <a:ext cx="4602175" cy="987552"/>
          </a:xfrm>
          <a:prstGeom prst="roundRect">
            <a:avLst>
              <a:gd name="adj" fmla="val 11111"/>
            </a:avLst>
          </a:prstGeom>
          <a:solidFill>
            <a:srgbClr val="ECECFE"/>
          </a:solidFill>
          <a:ln w="12700">
            <a:solidFill>
              <a:srgbClr val="ECECFE"/>
            </a:solidFill>
            <a:prstDash val="solid"/>
          </a:ln>
        </p:spPr>
      </p:sp>
      <p:sp>
        <p:nvSpPr>
          <p:cNvPr id="12" name="Text 9"/>
          <p:cNvSpPr txBox="1"/>
          <p:nvPr/>
        </p:nvSpPr>
        <p:spPr>
          <a:xfrm>
            <a:off x="7269480" y="3721608"/>
            <a:ext cx="4144975" cy="438912"/>
          </a:xfrm>
          <a:prstGeom prst="rect">
            <a:avLst/>
          </a:prstGeom>
          <a:noFill/>
          <a:ln/>
        </p:spPr>
        <p:txBody>
          <a:bodyPr wrap="square" lIns="0" tIns="0" rIns="0" bIns="0" rtlCol="0" anchor="ctr"/>
          <a:lstStyle/>
          <a:p>
            <a:pPr indent="0" marL="0">
              <a:buNone/>
            </a:pPr>
            <a:r>
              <a:rPr lang="en-US" sz="2400" b="1" dirty="0">
                <a:solidFill>
                  <a:srgbClr val="4A4AF4"/>
                </a:solidFill>
                <a:latin typeface="Arial" pitchFamily="34" charset="0"/>
                <a:ea typeface="Arial" pitchFamily="34" charset="-122"/>
                <a:cs typeface="Arial" pitchFamily="34" charset="-120"/>
              </a:rPr>
              <a:t>63%</a:t>
            </a:r>
            <a:endParaRPr lang="en-US" sz="2400" dirty="0"/>
          </a:p>
        </p:txBody>
      </p:sp>
      <p:sp>
        <p:nvSpPr>
          <p:cNvPr id="13" name="Text 10"/>
          <p:cNvSpPr txBox="1"/>
          <p:nvPr/>
        </p:nvSpPr>
        <p:spPr>
          <a:xfrm>
            <a:off x="7269480" y="4160520"/>
            <a:ext cx="4144975" cy="420624"/>
          </a:xfrm>
          <a:prstGeom prst="rect">
            <a:avLst/>
          </a:prstGeom>
          <a:noFill/>
          <a:ln/>
        </p:spPr>
        <p:txBody>
          <a:bodyPr wrap="square" lIns="0" tIns="0" rIns="0" bIns="0" rtlCol="0" anchor="t"/>
          <a:lstStyle/>
          <a:p>
            <a:pPr indent="0" marL="0">
              <a:buNone/>
            </a:pPr>
            <a:r>
              <a:rPr lang="en-US" sz="1150" dirty="0">
                <a:solidFill>
                  <a:srgbClr val="1A1A2E"/>
                </a:solidFill>
                <a:latin typeface="Arial" pitchFamily="34" charset="0"/>
                <a:ea typeface="Arial" pitchFamily="34" charset="-122"/>
                <a:cs typeface="Arial" pitchFamily="34" charset="-120"/>
              </a:rPr>
              <a:t>of customers who start with Split Pay take an interest-bearing loan next</a:t>
            </a:r>
            <a:endParaRPr lang="en-US" sz="1150" dirty="0"/>
          </a:p>
        </p:txBody>
      </p:sp>
      <p:sp>
        <p:nvSpPr>
          <p:cNvPr id="14" name="Shape 11"/>
          <p:cNvSpPr/>
          <p:nvPr/>
        </p:nvSpPr>
        <p:spPr>
          <a:xfrm>
            <a:off x="7040880" y="4764024"/>
            <a:ext cx="4602175" cy="987552"/>
          </a:xfrm>
          <a:prstGeom prst="roundRect">
            <a:avLst>
              <a:gd name="adj" fmla="val 11111"/>
            </a:avLst>
          </a:prstGeom>
          <a:solidFill>
            <a:srgbClr val="ECECFE"/>
          </a:solidFill>
          <a:ln w="12700">
            <a:solidFill>
              <a:srgbClr val="ECECFE"/>
            </a:solidFill>
            <a:prstDash val="solid"/>
          </a:ln>
        </p:spPr>
      </p:sp>
      <p:sp>
        <p:nvSpPr>
          <p:cNvPr id="15" name="Text 12"/>
          <p:cNvSpPr txBox="1"/>
          <p:nvPr/>
        </p:nvSpPr>
        <p:spPr>
          <a:xfrm>
            <a:off x="7269480" y="4837176"/>
            <a:ext cx="4144975" cy="438912"/>
          </a:xfrm>
          <a:prstGeom prst="rect">
            <a:avLst/>
          </a:prstGeom>
          <a:noFill/>
          <a:ln/>
        </p:spPr>
        <p:txBody>
          <a:bodyPr wrap="square" lIns="0" tIns="0" rIns="0" bIns="0" rtlCol="0" anchor="ctr"/>
          <a:lstStyle/>
          <a:p>
            <a:pPr indent="0" marL="0">
              <a:buNone/>
            </a:pPr>
            <a:r>
              <a:rPr lang="en-US" sz="2400" b="1" dirty="0">
                <a:solidFill>
                  <a:srgbClr val="4A4AF4"/>
                </a:solidFill>
                <a:latin typeface="Arial" pitchFamily="34" charset="0"/>
                <a:ea typeface="Arial" pitchFamily="34" charset="-122"/>
                <a:cs typeface="Arial" pitchFamily="34" charset="-120"/>
              </a:rPr>
              <a:t>86%</a:t>
            </a:r>
            <a:endParaRPr lang="en-US" sz="2400" dirty="0"/>
          </a:p>
        </p:txBody>
      </p:sp>
      <p:sp>
        <p:nvSpPr>
          <p:cNvPr id="16" name="Text 13"/>
          <p:cNvSpPr txBox="1"/>
          <p:nvPr/>
        </p:nvSpPr>
        <p:spPr>
          <a:xfrm>
            <a:off x="7269480" y="5276088"/>
            <a:ext cx="4144975" cy="420624"/>
          </a:xfrm>
          <a:prstGeom prst="rect">
            <a:avLst/>
          </a:prstGeom>
          <a:noFill/>
          <a:ln/>
        </p:spPr>
        <p:txBody>
          <a:bodyPr wrap="square" lIns="0" tIns="0" rIns="0" bIns="0" rtlCol="0" anchor="t"/>
          <a:lstStyle/>
          <a:p>
            <a:pPr indent="0" marL="0">
              <a:buNone/>
            </a:pPr>
            <a:r>
              <a:rPr lang="en-US" sz="1150" dirty="0">
                <a:solidFill>
                  <a:srgbClr val="1A1A2E"/>
                </a:solidFill>
                <a:latin typeface="Arial" pitchFamily="34" charset="0"/>
                <a:ea typeface="Arial" pitchFamily="34" charset="-122"/>
                <a:cs typeface="Arial" pitchFamily="34" charset="-120"/>
              </a:rPr>
              <a:t>of second loans stay in the same vertical — cross-selling is small (Appendix D)</a:t>
            </a:r>
            <a:endParaRPr lang="en-US" sz="1150" dirty="0"/>
          </a:p>
        </p:txBody>
      </p:sp>
      <p:sp>
        <p:nvSpPr>
          <p:cNvPr id="17" name="Text 14"/>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Customers whose first loan was by Jun 2025. Repeat rate is set by the vertical, not the product. Synthetic data: repeat timing is very regular, so read sizes as indicative.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INVESTMENT PLAN</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Four moves add ~7–15% profit while lowering the loss rate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03120"/>
                <a:gridCol w="2377440"/>
                <a:gridCol w="3108960"/>
                <a:gridCol w="1143000"/>
                <a:gridCol w="1188720"/>
                <a:gridCol w="1173175"/>
              </a:tblGrid>
              <a:tr h="38404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Move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Why</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How (conservative / ambitious)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GMV</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Profit</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Credit loss $</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960120">
                <a:tc>
                  <a:txBody>
                    <a:bodyPr/>
                    <a:lstStyle/>
                    <a:p>
                      <a:pPr indent="0" marL="0">
                        <a:buNone/>
                      </a:pPr>
                      <a:r>
                        <a:rPr lang="en-US" sz="950" b="1" dirty="0">
                          <a:solidFill>
                            <a:srgbClr val="1E8A4C"/>
                          </a:solidFill>
                          <a:latin typeface="Arial" pitchFamily="34" charset="0"/>
                          <a:ea typeface="Arial" pitchFamily="34" charset="-122"/>
                          <a:cs typeface="Arial" pitchFamily="34" charset="-120"/>
                        </a:rPr>
                        <a:t>INVEST</a:t>
                      </a:r>
                      <a:endParaRPr lang="en-US" sz="1100" dirty="0">
                        <a:latin typeface="Arial" charset="0"/>
                        <a:ea typeface="Arial" charset="0"/>
                        <a:cs typeface="Arial" charset="0"/>
                      </a:endParaRPr>
                    </a:p>
                    <a:p>
                      <a:pPr indent="0" marL="0">
                        <a:buNone/>
                      </a:pPr>
                      <a:r>
                        <a:rPr lang="en-US" sz="1100" b="1" dirty="0">
                          <a:solidFill>
                            <a:srgbClr val="1A1A2E"/>
                          </a:solidFill>
                          <a:latin typeface="Arial" pitchFamily="34" charset="0"/>
                          <a:ea typeface="Arial" pitchFamily="34" charset="-122"/>
                          <a:cs typeface="Arial" pitchFamily="34" charset="-120"/>
                        </a:rPr>
                        <a:t>Grow healthcare &amp; home furnishing</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Best risk-adjusted margins (9.8%, 8.2%) with 1.3–2.0% loss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Each new merchant brings ~57 (healthcare) / ~122 (home) customers a year, ~1 loan each, at ~$176 / ~$78 profit per loan (~$10K per merchant). +10% / +20% GMV ≈ 0.3–0.8 new merchants per vertical</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+$78K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+$155K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+$7.0K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+$14.0K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+$1.3K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+$2.7K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960120">
                <a:tc>
                  <a:txBody>
                    <a:bodyPr/>
                    <a:lstStyle/>
                    <a:p>
                      <a:pPr indent="0" marL="0">
                        <a:buNone/>
                      </a:pPr>
                      <a:r>
                        <a:rPr lang="en-US" sz="950" b="1" dirty="0">
                          <a:solidFill>
                            <a:srgbClr val="1E8A4C"/>
                          </a:solidFill>
                          <a:latin typeface="Arial" pitchFamily="34" charset="0"/>
                          <a:ea typeface="Arial" pitchFamily="34" charset="-122"/>
                          <a:cs typeface="Arial" pitchFamily="34" charset="-120"/>
                        </a:rPr>
                        <a:t>INVEST</a:t>
                      </a:r>
                      <a:endParaRPr lang="en-US" sz="1100" dirty="0">
                        <a:latin typeface="Arial" charset="0"/>
                        <a:ea typeface="Arial" charset="0"/>
                        <a:cs typeface="Arial" charset="0"/>
                      </a:endParaRPr>
                    </a:p>
                    <a:p>
                      <a:pPr indent="0" marL="0">
                        <a:buNone/>
                      </a:pPr>
                      <a:r>
                        <a:rPr lang="en-US" sz="1100" b="1" dirty="0">
                          <a:solidFill>
                            <a:srgbClr val="1A1A2E"/>
                          </a:solidFill>
                          <a:latin typeface="Arial" pitchFamily="34" charset="0"/>
                          <a:ea typeface="Arial" pitchFamily="34" charset="-122"/>
                          <a:cs typeface="Arial" pitchFamily="34" charset="-120"/>
                        </a:rPr>
                        <a:t>Repeat customers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Repeat loans lose 2.5× less; 82% of loss comes from first loans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Marketing offers that move repeat Split Pay customers to interest-bearing: +$49 profit per conversion (~145 / ~290 conversions). Plus +5 / +10 pts big-ticket repeat rate (~$126 profit per extra loan)</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+$86K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+$172K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+$12.4K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+$24.9K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+$1.3K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+$2.5K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868680">
                <a:tc>
                  <a:txBody>
                    <a:bodyPr/>
                    <a:lstStyle/>
                    <a:p>
                      <a:pPr indent="0" marL="0">
                        <a:buNone/>
                      </a:pPr>
                      <a:r>
                        <a:rPr lang="en-US" sz="950" b="1" dirty="0">
                          <a:solidFill>
                            <a:srgbClr val="C93B3B"/>
                          </a:solidFill>
                          <a:latin typeface="Arial" pitchFamily="34" charset="0"/>
                          <a:ea typeface="Arial" pitchFamily="34" charset="-122"/>
                          <a:cs typeface="Arial" pitchFamily="34" charset="-120"/>
                        </a:rPr>
                        <a:t>TIGHTEN</a:t>
                      </a:r>
                      <a:endParaRPr lang="en-US" sz="1100" dirty="0">
                        <a:latin typeface="Arial" charset="0"/>
                        <a:ea typeface="Arial" charset="0"/>
                        <a:cs typeface="Arial" charset="0"/>
                      </a:endParaRPr>
                    </a:p>
                    <a:p>
                      <a:pPr indent="0" marL="0">
                        <a:buNone/>
                      </a:pPr>
                      <a:r>
                        <a:rPr lang="en-US" sz="1100" b="1" dirty="0">
                          <a:solidFill>
                            <a:srgbClr val="1A1A2E"/>
                          </a:solidFill>
                          <a:latin typeface="Arial" pitchFamily="34" charset="0"/>
                          <a:ea typeface="Arial" pitchFamily="34" charset="-122"/>
                          <a:cs typeface="Arial" pitchFamily="34" charset="-120"/>
                        </a:rPr>
                        <a:t>Travel, FICO &lt; 640</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35% of travel GMV but 64% of its losses (43% bad rate); if delinquents charge off, travel margin falls 9.4% → 5.2%</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Raise the risk model cut-off and lower limits: −25% / −50% segment volume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93B3B"/>
                          </a:solidFill>
                          <a:latin typeface="Arial" pitchFamily="34" charset="0"/>
                          <a:ea typeface="Arial" pitchFamily="34" charset="-122"/>
                          <a:cs typeface="Arial" pitchFamily="34" charset="-120"/>
                        </a:rPr>
                        <a:t>−$54K</a:t>
                      </a:r>
                      <a:endParaRPr lang="en-US" sz="1100" dirty="0">
                        <a:latin typeface="Arial" charset="0"/>
                        <a:ea typeface="Arial" charset="0"/>
                        <a:cs typeface="Arial" charset="0"/>
                      </a:endParaRPr>
                    </a:p>
                    <a:p>
                      <a:pPr algn="ctr" indent="0" marL="0">
                        <a:buNone/>
                      </a:pPr>
                      <a:r>
                        <a:rPr lang="en-US" sz="1100" dirty="0">
                          <a:solidFill>
                            <a:srgbClr val="C93B3B"/>
                          </a:solidFill>
                          <a:latin typeface="Arial" pitchFamily="34" charset="0"/>
                          <a:ea typeface="Arial" pitchFamily="34" charset="-122"/>
                          <a:cs typeface="Arial" pitchFamily="34" charset="-120"/>
                        </a:rPr>
                        <a:t>−$107K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93B3B"/>
                          </a:solidFill>
                          <a:latin typeface="Arial" pitchFamily="34" charset="0"/>
                          <a:ea typeface="Arial" pitchFamily="34" charset="-122"/>
                          <a:cs typeface="Arial" pitchFamily="34" charset="-120"/>
                        </a:rPr>
                        <a:t>−$3.8K</a:t>
                      </a:r>
                      <a:endParaRPr lang="en-US" sz="1100" dirty="0">
                        <a:latin typeface="Arial" charset="0"/>
                        <a:ea typeface="Arial" charset="0"/>
                        <a:cs typeface="Arial" charset="0"/>
                      </a:endParaRPr>
                    </a:p>
                    <a:p>
                      <a:pPr algn="ctr" indent="0" marL="0">
                        <a:buNone/>
                      </a:pPr>
                      <a:r>
                        <a:rPr lang="en-US" sz="1100" dirty="0">
                          <a:solidFill>
                            <a:srgbClr val="C93B3B"/>
                          </a:solidFill>
                          <a:latin typeface="Arial" pitchFamily="34" charset="0"/>
                          <a:ea typeface="Arial" pitchFamily="34" charset="-122"/>
                          <a:cs typeface="Arial" pitchFamily="34" charset="-120"/>
                        </a:rPr>
                        <a:t>−$7.6K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93B3B"/>
                          </a:solidFill>
                          <a:latin typeface="Arial" pitchFamily="34" charset="0"/>
                          <a:ea typeface="Arial" pitchFamily="34" charset="-122"/>
                          <a:cs typeface="Arial" pitchFamily="34" charset="-120"/>
                        </a:rPr>
                        <a:t>−$3.4K</a:t>
                      </a:r>
                      <a:endParaRPr lang="en-US" sz="1100" dirty="0">
                        <a:latin typeface="Arial" charset="0"/>
                        <a:ea typeface="Arial" charset="0"/>
                        <a:cs typeface="Arial" charset="0"/>
                      </a:endParaRPr>
                    </a:p>
                    <a:p>
                      <a:pPr algn="ctr" indent="0" marL="0">
                        <a:buNone/>
                      </a:pPr>
                      <a:r>
                        <a:rPr lang="en-US" sz="1100" dirty="0">
                          <a:solidFill>
                            <a:srgbClr val="C93B3B"/>
                          </a:solidFill>
                          <a:latin typeface="Arial" pitchFamily="34" charset="0"/>
                          <a:ea typeface="Arial" pitchFamily="34" charset="-122"/>
                          <a:cs typeface="Arial" pitchFamily="34" charset="-120"/>
                        </a:rPr>
                        <a:t>−$6.9K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731520">
                <a:tc>
                  <a:txBody>
                    <a:bodyPr/>
                    <a:lstStyle/>
                    <a:p>
                      <a:pPr indent="0" marL="0">
                        <a:buNone/>
                      </a:pPr>
                      <a:r>
                        <a:rPr lang="en-US" sz="950" b="1" dirty="0">
                          <a:solidFill>
                            <a:srgbClr val="4A4AF4"/>
                          </a:solidFill>
                          <a:latin typeface="Arial" pitchFamily="34" charset="0"/>
                          <a:ea typeface="Arial" pitchFamily="34" charset="-122"/>
                          <a:cs typeface="Arial" pitchFamily="34" charset="-120"/>
                        </a:rPr>
                        <a:t>REPRICE</a:t>
                      </a:r>
                      <a:endParaRPr lang="en-US" sz="1100" dirty="0">
                        <a:latin typeface="Arial" charset="0"/>
                        <a:ea typeface="Arial" charset="0"/>
                        <a:cs typeface="Arial" charset="0"/>
                      </a:endParaRPr>
                    </a:p>
                    <a:p>
                      <a:pPr indent="0" marL="0">
                        <a:buNone/>
                      </a:pPr>
                      <a:r>
                        <a:rPr lang="en-US" sz="1100" b="1" dirty="0">
                          <a:solidFill>
                            <a:srgbClr val="1A1A2E"/>
                          </a:solidFill>
                          <a:latin typeface="Arial" pitchFamily="34" charset="0"/>
                          <a:ea typeface="Arial" pitchFamily="34" charset="-122"/>
                          <a:cs typeface="Arial" pitchFamily="34" charset="-120"/>
                        </a:rPr>
                        <a:t>0% APR merchant fee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Fee is 5.1% vs 5.5% for interest-bearing at the same merchants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+0.4 pt to parity (not in totals; depends on merchant response)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dirty="0">
                          <a:solidFill>
                            <a:srgbClr val="1A1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dirty="0">
                          <a:solidFill>
                            <a:srgbClr val="1A1A2E"/>
                          </a:solidFill>
                          <a:latin typeface="Arial" pitchFamily="34" charset="0"/>
                          <a:ea typeface="Arial" pitchFamily="34" charset="-122"/>
                          <a:cs typeface="Arial" pitchFamily="34" charset="-120"/>
                        </a:rPr>
                        <a:t>≈ +$1.9K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dirty="0">
                          <a:solidFill>
                            <a:srgbClr val="1A1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48640">
                <a:tc>
                  <a:txBody>
                    <a:bodyPr/>
                    <a:lstStyle/>
                    <a:p>
                      <a:pPr algn="l" indent="0" marL="0">
                        <a:buNone/>
                      </a:pPr>
                      <a:r>
                        <a:rPr lang="en-US" sz="1100" b="1" dirty="0">
                          <a:solidFill>
                            <a:srgbClr val="4A4AF4"/>
                          </a:solidFill>
                          <a:latin typeface="Arial" pitchFamily="34" charset="0"/>
                          <a:ea typeface="Arial" pitchFamily="34" charset="-122"/>
                          <a:cs typeface="Arial" pitchFamily="34" charset="-120"/>
                        </a:rPr>
                        <a:t>Total (moves 1–3)</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gridSpan="2">
                  <a:txBody>
                    <a:bodyPr/>
                    <a:lstStyle/>
                    <a:p>
                      <a:pPr indent="0" marL="0">
                        <a:buNone/>
                      </a:pPr>
                      <a:r>
                        <a:rPr lang="en-US" sz="1100" dirty="0">
                          <a:solidFill>
                            <a:srgbClr val="1A1A2E"/>
                          </a:solidFill>
                          <a:latin typeface="Arial" pitchFamily="34" charset="0"/>
                          <a:ea typeface="Arial" pitchFamily="34" charset="-122"/>
                          <a:cs typeface="Arial" pitchFamily="34" charset="-120"/>
                        </a:rPr>
                        <a:t>vs 2025 baseline: $2.85M GMV, $212K profit, 2.32% loss rate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hMerge="1">
                  <a:tcPr/>
                </a:tc>
                <a:tc>
                  <a:txBody>
                    <a:bodyPr/>
                    <a:lstStyle/>
                    <a:p>
                      <a:pPr algn="ctr" indent="0" marL="0">
                        <a:buNone/>
                      </a:pPr>
                      <a:r>
                        <a:rPr lang="en-US" sz="1100" b="1" dirty="0">
                          <a:solidFill>
                            <a:srgbClr val="4A4AF4"/>
                          </a:solidFill>
                          <a:latin typeface="Arial" pitchFamily="34" charset="0"/>
                          <a:ea typeface="Arial" pitchFamily="34" charset="-122"/>
                          <a:cs typeface="Arial" pitchFamily="34" charset="-120"/>
                        </a:rPr>
                        <a:t>+3.9% / +7.7%</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100" b="1" dirty="0">
                          <a:solidFill>
                            <a:srgbClr val="4A4AF4"/>
                          </a:solidFill>
                          <a:latin typeface="Arial" pitchFamily="34" charset="0"/>
                          <a:ea typeface="Arial" pitchFamily="34" charset="-122"/>
                          <a:cs typeface="Arial" pitchFamily="34" charset="-120"/>
                        </a:rPr>
                        <a:t>+7.4% / +14.8%</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100" b="1" dirty="0">
                          <a:solidFill>
                            <a:srgbClr val="1E8A4C"/>
                          </a:solidFill>
                          <a:latin typeface="Arial" pitchFamily="34" charset="0"/>
                          <a:ea typeface="Arial" pitchFamily="34" charset="-122"/>
                          <a:cs typeface="Arial" pitchFamily="34" charset="-120"/>
                        </a:rPr>
                        <a:t>Loss rate → 2.21% / 2.10%</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bl>
          </a:graphicData>
        </a:graphic>
      </p:graphicFrame>
      <p:sp>
        <p:nvSpPr>
          <p:cNvPr id="5" name="Text 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GMV / profit / loss cells: top = conservative, bottom = ambitious. One year = 2025 volume × seasoned (Jul 2024–Jun 2025) rates; the data is a sample, so read $ as relative sizes.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033"/>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D9D9FC"/>
                </a:solidFill>
                <a:latin typeface="Arial" pitchFamily="34" charset="0"/>
                <a:ea typeface="Arial" pitchFamily="34" charset="-122"/>
                <a:cs typeface="Arial" pitchFamily="34" charset="-120"/>
              </a:rPr>
              <a:t>TRADE-OFFS AND NEXT STEPS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What could change the picture, and what we would do next</a:t>
            </a:r>
            <a:endParaRPr lang="en-US" sz="2600" dirty="0"/>
          </a:p>
        </p:txBody>
      </p:sp>
      <p:sp>
        <p:nvSpPr>
          <p:cNvPr id="4" name="Shape 2"/>
          <p:cNvSpPr/>
          <p:nvPr/>
        </p:nvSpPr>
        <p:spPr>
          <a:xfrm>
            <a:off x="548640" y="1463040"/>
            <a:ext cx="3515258" cy="3383280"/>
          </a:xfrm>
          <a:prstGeom prst="roundRect">
            <a:avLst>
              <a:gd name="adj" fmla="val 3243"/>
            </a:avLst>
          </a:prstGeom>
          <a:solidFill>
            <a:srgbClr val="1C1E52"/>
          </a:solidFill>
          <a:ln w="12700">
            <a:solidFill>
              <a:srgbClr val="1C1E52"/>
            </a:solidFill>
            <a:prstDash val="solid"/>
          </a:ln>
        </p:spPr>
      </p:sp>
      <p:sp>
        <p:nvSpPr>
          <p:cNvPr id="5" name="Text 3"/>
          <p:cNvSpPr txBox="1"/>
          <p:nvPr/>
        </p:nvSpPr>
        <p:spPr>
          <a:xfrm>
            <a:off x="777240"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Trade-offs &amp; caveats</a:t>
            </a:r>
            <a:endParaRPr lang="en-US" sz="1600" dirty="0"/>
          </a:p>
        </p:txBody>
      </p:sp>
      <p:sp>
        <p:nvSpPr>
          <p:cNvPr id="6" name="Text 4"/>
          <p:cNvSpPr txBox="1"/>
          <p:nvPr/>
        </p:nvSpPr>
        <p:spPr>
          <a:xfrm>
            <a:off x="777240"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Tightening travel gives up ~$4–8K profit: the segment is still profitable on base assumptions; we trade it for lower loss and volatility</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0% APR repricing may push some merchants to drop the program</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Data is a synthetic sample; recent quarters aren't fully seasoned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Delinquent-loan loss is an estimate (30% / 60% of unpaid principal)</a:t>
            </a:r>
            <a:endParaRPr lang="en-US" sz="1250" dirty="0"/>
          </a:p>
        </p:txBody>
      </p:sp>
      <p:sp>
        <p:nvSpPr>
          <p:cNvPr id="7" name="Shape 5"/>
          <p:cNvSpPr/>
          <p:nvPr/>
        </p:nvSpPr>
        <p:spPr>
          <a:xfrm>
            <a:off x="4338218" y="1463040"/>
            <a:ext cx="3515258" cy="3383280"/>
          </a:xfrm>
          <a:prstGeom prst="roundRect">
            <a:avLst>
              <a:gd name="adj" fmla="val 3243"/>
            </a:avLst>
          </a:prstGeom>
          <a:solidFill>
            <a:srgbClr val="1C1E52"/>
          </a:solidFill>
          <a:ln w="12700">
            <a:solidFill>
              <a:srgbClr val="1C1E52"/>
            </a:solidFill>
            <a:prstDash val="solid"/>
          </a:ln>
        </p:spPr>
      </p:sp>
      <p:sp>
        <p:nvSpPr>
          <p:cNvPr id="8" name="Text 6"/>
          <p:cNvSpPr txBox="1"/>
          <p:nvPr/>
        </p:nvSpPr>
        <p:spPr>
          <a:xfrm>
            <a:off x="4566818"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Watch</a:t>
            </a:r>
            <a:endParaRPr lang="en-US" sz="1600" dirty="0"/>
          </a:p>
        </p:txBody>
      </p:sp>
      <p:sp>
        <p:nvSpPr>
          <p:cNvPr id="9" name="Text 7"/>
          <p:cNvSpPr txBox="1"/>
          <p:nvPr/>
        </p:nvSpPr>
        <p:spPr>
          <a:xfrm>
            <a:off x="4566818"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Split Pay loss rose from 1.1% (Q3-24) to 2.5–3.1% — its loans finish in 6 weeks, so this is a real trend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Q4-2025 holiday vintage: last year's doubled its bad rate</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Travel data feed: all 160 corrupted duplicate loans were travel</a:t>
            </a:r>
            <a:endParaRPr lang="en-US" sz="1250" dirty="0"/>
          </a:p>
        </p:txBody>
      </p:sp>
      <p:sp>
        <p:nvSpPr>
          <p:cNvPr id="10" name="Shape 8"/>
          <p:cNvSpPr/>
          <p:nvPr/>
        </p:nvSpPr>
        <p:spPr>
          <a:xfrm>
            <a:off x="8127797" y="1463040"/>
            <a:ext cx="3515258" cy="3383280"/>
          </a:xfrm>
          <a:prstGeom prst="roundRect">
            <a:avLst>
              <a:gd name="adj" fmla="val 3243"/>
            </a:avLst>
          </a:prstGeom>
          <a:solidFill>
            <a:srgbClr val="1C1E52"/>
          </a:solidFill>
          <a:ln w="12700">
            <a:solidFill>
              <a:srgbClr val="1C1E52"/>
            </a:solidFill>
            <a:prstDash val="solid"/>
          </a:ln>
        </p:spPr>
      </p:sp>
      <p:sp>
        <p:nvSpPr>
          <p:cNvPr id="11" name="Text 9"/>
          <p:cNvSpPr txBox="1"/>
          <p:nvPr/>
        </p:nvSpPr>
        <p:spPr>
          <a:xfrm>
            <a:off x="8356397"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Next steps</a:t>
            </a:r>
            <a:endParaRPr lang="en-US" sz="1600" dirty="0"/>
          </a:p>
        </p:txBody>
      </p:sp>
      <p:sp>
        <p:nvSpPr>
          <p:cNvPr id="12" name="Text 10"/>
          <p:cNvSpPr txBox="1"/>
          <p:nvPr/>
        </p:nvSpPr>
        <p:spPr>
          <a:xfrm>
            <a:off x="8356397"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Pilot the tighter travel cut-off on a share of traffic; track approvals and 90-day losses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Test second-loan offers for big-ticket first-time customers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Build a merchant pipeline for healthcare and home furnishing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A · DATA QUALITY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One root cause explained most data issues; the rest were kept with stated assumptions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5120640"/>
                <a:gridCol w="1280160"/>
                <a:gridCol w="4693615"/>
              </a:tblGrid>
              <a:tr h="5669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handled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Duplicate loan IDs; the extra copy has an impossible date (1923–25, 2031). All were travel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160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Dropped the bad copy — also fixed user-table mismatches and new-customer flags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Missing FICO</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483 (6.8%)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Not riskier than other loans; kept as an 'Unknown' band, no imputation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credit_loss on delinquent loans is ~30% / ~60% of unpaid principal (100% for charge-offs)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236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Treated as expected loss (32% of loss $); stress case = all delinquents charge off</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Delinquency status earlier than loan age allows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can't tell whether date or flag is wrong; 0.3%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'current' Split Pay loans already fully repaid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no loss impact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Split Pay term coded as 1 month (product is ~6 weeks)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2,951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Used 1.5 months where duration matters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bl>
          </a:graphicData>
        </a:graphic>
      </p:graphicFrame>
      <p:sp>
        <p:nvSpPr>
          <p:cNvPr id="5" name="Text 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Also checked and clean: keys and joins, product/term/APR rules, fee and repayment arithmetic. Code: notebooks/01_data_integrity.ipynb.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B · METHODOLOGY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How the numbers were built</a:t>
            </a:r>
            <a:endParaRPr lang="en-US" sz="2600" dirty="0"/>
          </a:p>
        </p:txBody>
      </p:sp>
      <p:sp>
        <p:nvSpPr>
          <p:cNvPr id="4" name="Shape 2"/>
          <p:cNvSpPr/>
          <p:nvPr/>
        </p:nvSpPr>
        <p:spPr>
          <a:xfrm>
            <a:off x="548640" y="1463040"/>
            <a:ext cx="5394960" cy="1691640"/>
          </a:xfrm>
          <a:prstGeom prst="roundRect">
            <a:avLst>
              <a:gd name="adj" fmla="val 6486"/>
            </a:avLst>
          </a:prstGeom>
          <a:solidFill>
            <a:srgbClr val="F6F6FE"/>
          </a:solidFill>
          <a:ln w="12700">
            <a:solidFill>
              <a:srgbClr val="F6F6FE"/>
            </a:solidFill>
            <a:prstDash val="solid"/>
          </a:ln>
        </p:spPr>
      </p:sp>
      <p:sp>
        <p:nvSpPr>
          <p:cNvPr id="5" name="Text 3"/>
          <p:cNvSpPr txBox="1"/>
          <p:nvPr/>
        </p:nvSpPr>
        <p:spPr>
          <a:xfrm>
            <a:off x="82296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Unit economics per loan</a:t>
            </a:r>
            <a:endParaRPr lang="en-US" sz="1500" dirty="0"/>
          </a:p>
        </p:txBody>
      </p:sp>
      <p:sp>
        <p:nvSpPr>
          <p:cNvPr id="6" name="Text 4"/>
          <p:cNvSpPr txBox="1"/>
          <p:nvPr/>
        </p:nvSpPr>
        <p:spPr>
          <a:xfrm>
            <a:off x="82296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Contribution = merchant fee + interest collected − credit loss − funding cost. Funding = cost of funds × term × ½ principal (average balance of an amortizing loan). Full principal would lower margins ~1 pt but not change the vertical ranking.</a:t>
            </a:r>
            <a:endParaRPr lang="en-US" sz="1250" dirty="0"/>
          </a:p>
        </p:txBody>
      </p:sp>
      <p:sp>
        <p:nvSpPr>
          <p:cNvPr id="7" name="Shape 5"/>
          <p:cNvSpPr/>
          <p:nvPr/>
        </p:nvSpPr>
        <p:spPr>
          <a:xfrm>
            <a:off x="6217920" y="1463040"/>
            <a:ext cx="5394960" cy="1691640"/>
          </a:xfrm>
          <a:prstGeom prst="roundRect">
            <a:avLst>
              <a:gd name="adj" fmla="val 6486"/>
            </a:avLst>
          </a:prstGeom>
          <a:solidFill>
            <a:srgbClr val="F6F6FE"/>
          </a:solidFill>
          <a:ln w="12700">
            <a:solidFill>
              <a:srgbClr val="F6F6FE"/>
            </a:solidFill>
            <a:prstDash val="solid"/>
          </a:ln>
        </p:spPr>
      </p:sp>
      <p:sp>
        <p:nvSpPr>
          <p:cNvPr id="8" name="Text 6"/>
          <p:cNvSpPr txBox="1"/>
          <p:nvPr/>
        </p:nvSpPr>
        <p:spPr>
          <a:xfrm>
            <a:off x="649224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Maturity</a:t>
            </a:r>
            <a:endParaRPr lang="en-US" sz="1500" dirty="0"/>
          </a:p>
        </p:txBody>
      </p:sp>
      <p:sp>
        <p:nvSpPr>
          <p:cNvPr id="9" name="Text 7"/>
          <p:cNvSpPr txBox="1"/>
          <p:nvPr/>
        </p:nvSpPr>
        <p:spPr>
          <a:xfrm>
            <a:off x="649224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Young loans haven't paid interest or defaulted yet, so segment rates (bad rate, loss, fees, interest, margin) use seasoned loans (originated Jul 2024–Jun 2025); shares use all loans.</a:t>
            </a:r>
            <a:endParaRPr lang="en-US" sz="1250" dirty="0"/>
          </a:p>
        </p:txBody>
      </p:sp>
      <p:sp>
        <p:nvSpPr>
          <p:cNvPr id="10" name="Shape 8"/>
          <p:cNvSpPr/>
          <p:nvPr/>
        </p:nvSpPr>
        <p:spPr>
          <a:xfrm>
            <a:off x="548640" y="3383280"/>
            <a:ext cx="5394960" cy="1691640"/>
          </a:xfrm>
          <a:prstGeom prst="roundRect">
            <a:avLst>
              <a:gd name="adj" fmla="val 6486"/>
            </a:avLst>
          </a:prstGeom>
          <a:solidFill>
            <a:srgbClr val="F6F6FE"/>
          </a:solidFill>
          <a:ln w="12700">
            <a:solidFill>
              <a:srgbClr val="F6F6FE"/>
            </a:solidFill>
            <a:prstDash val="solid"/>
          </a:ln>
        </p:spPr>
      </p:sp>
      <p:sp>
        <p:nvSpPr>
          <p:cNvPr id="11" name="Text 9"/>
          <p:cNvSpPr txBox="1"/>
          <p:nvPr/>
        </p:nvSpPr>
        <p:spPr>
          <a:xfrm>
            <a:off x="82296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Repeat customers</a:t>
            </a:r>
            <a:endParaRPr lang="en-US" sz="1500" dirty="0"/>
          </a:p>
        </p:txBody>
      </p:sp>
      <p:sp>
        <p:nvSpPr>
          <p:cNvPr id="12" name="Text 10"/>
          <p:cNvSpPr txBox="1"/>
          <p:nvPr/>
        </p:nvSpPr>
        <p:spPr>
          <a:xfrm>
            <a:off x="82296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First loans by Jun 2025; repeat = another loan within 180 days. Loss by new vs repeat checked on seasoned loans.</a:t>
            </a:r>
            <a:endParaRPr lang="en-US" sz="1250" dirty="0"/>
          </a:p>
        </p:txBody>
      </p:sp>
      <p:sp>
        <p:nvSpPr>
          <p:cNvPr id="13" name="Shape 11"/>
          <p:cNvSpPr/>
          <p:nvPr/>
        </p:nvSpPr>
        <p:spPr>
          <a:xfrm>
            <a:off x="6217920" y="3383280"/>
            <a:ext cx="5394960" cy="1691640"/>
          </a:xfrm>
          <a:prstGeom prst="roundRect">
            <a:avLst>
              <a:gd name="adj" fmla="val 6486"/>
            </a:avLst>
          </a:prstGeom>
          <a:solidFill>
            <a:srgbClr val="F6F6FE"/>
          </a:solidFill>
          <a:ln w="12700">
            <a:solidFill>
              <a:srgbClr val="F6F6FE"/>
            </a:solidFill>
            <a:prstDash val="solid"/>
          </a:ln>
        </p:spPr>
      </p:sp>
      <p:sp>
        <p:nvSpPr>
          <p:cNvPr id="14" name="Text 12"/>
          <p:cNvSpPr txBox="1"/>
          <p:nvPr/>
        </p:nvSpPr>
        <p:spPr>
          <a:xfrm>
            <a:off x="649224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Sizing</a:t>
            </a:r>
            <a:endParaRPr lang="en-US" sz="1500" dirty="0"/>
          </a:p>
        </p:txBody>
      </p:sp>
      <p:sp>
        <p:nvSpPr>
          <p:cNvPr id="15" name="Text 13"/>
          <p:cNvSpPr txBox="1"/>
          <p:nvPr/>
        </p:nvSpPr>
        <p:spPr>
          <a:xfrm>
            <a:off x="649224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One year = 2025 volume × seasoned rates. Changes scale proportionally; new merchants perform like the vertical average.</a:t>
            </a:r>
            <a:endParaRPr lang="en-US" sz="1250" dirty="0"/>
          </a:p>
        </p:txBody>
      </p:sp>
      <p:sp>
        <p:nvSpPr>
          <p:cNvPr id="16" name="Text 14"/>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Code: notebooks/01_data_integrity.ipynb, 02_portfolio_risk.ipynb, 03_recommendation_sizing.ipynb.</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C · TREND</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margin falls only because recent loans are young; Split Pay's dip is real</a:t>
            </a:r>
            <a:endParaRPr lang="en-US" sz="2600" dirty="0"/>
          </a:p>
        </p:txBody>
      </p:sp>
      <p:graphicFrame>
        <p:nvGraphicFramePr>
          <p:cNvPr id="4" name="Chart 0" descr=""/>
          <p:cNvGraphicFramePr/>
          <p:nvPr/>
        </p:nvGraphicFramePr>
        <p:xfrm>
          <a:off x="548640" y="14173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554480"/>
            <a:ext cx="3779215" cy="4206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Interest-bearing: revenue falls 16.5% → 9.0% because recent loans haven't paid their interest yet; loss rate doesn't rise.</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Split Pay loans finish in ~6 weeks, so quarters are complete: loss rose from 1.1% to 2.5–3.1% and margin fell from 4.0% to ~2–3%.</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0% APR revenue is the merchant fee, fixed up front; margin ~3–4%.</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D · 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86% of repeat customers come back to the same vertical; fashion is the main source of cross-selling</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88720"/>
                <a:gridCol w="1114654"/>
                <a:gridCol w="1114654"/>
                <a:gridCol w="1114654"/>
                <a:gridCol w="1114654"/>
                <a:gridCol w="1114654"/>
                <a:gridCol w="1114654"/>
                <a:gridCol w="1114654"/>
              </a:tblGrid>
              <a:tr h="5029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First loan ↓ / second loan →</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Repeat customers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1,340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88%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80%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84%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79%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86%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77%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76%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r>
            </a:tbl>
          </a:graphicData>
        </a:graphic>
      </p:graphicFrame>
      <p:sp>
        <p:nvSpPr>
          <p:cNvPr id="5" name="Text 2"/>
          <p:cNvSpPr txBox="1"/>
          <p:nvPr/>
        </p:nvSpPr>
        <p:spPr>
          <a:xfrm>
            <a:off x="548640" y="5577840"/>
            <a:ext cx="11094415" cy="685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A1A2E"/>
                </a:solidFill>
                <a:latin typeface="Arial" pitchFamily="34" charset="0"/>
                <a:ea typeface="Arial" pitchFamily="34" charset="-122"/>
                <a:cs typeface="Arial" pitchFamily="34" charset="-120"/>
              </a:rPr>
              <a:t>Each row = customers whose first loan was in that vertical; cells = where their second loan was (row %).</a:t>
            </a:r>
            <a:endParaRPr lang="en-US" sz="1200" dirty="0"/>
          </a:p>
          <a:p>
            <a:pPr marL="342900" indent="-342900">
              <a:spcAft>
                <a:spcPts val="400"/>
              </a:spcAft>
              <a:buSzPct val="100000"/>
              <a:buChar char="•"/>
            </a:pPr>
            <a:r>
              <a:rPr lang="en-US" sz="1200" dirty="0">
                <a:solidFill>
                  <a:srgbClr val="1A1A2E"/>
                </a:solidFill>
                <a:latin typeface="Arial" pitchFamily="34" charset="0"/>
                <a:ea typeface="Arial" pitchFamily="34" charset="-122"/>
                <a:cs typeface="Arial" pitchFamily="34" charset="-120"/>
              </a:rPr>
              <a:t>Fashion is the main cross-sell source: 157 fashion customers took their second loan elsewhere, 101 of them in big-ticket verticals.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to invest next year</dc:title>
  <dc:subject>PptxGenJS Presentation</dc:subject>
  <dc:creator>PptxGenJS</dc:creator>
  <cp:lastModifiedBy>PptxGenJS</cp:lastModifiedBy>
  <cp:revision>1</cp:revision>
  <dcterms:created xsi:type="dcterms:W3CDTF">2026-09-29T22:35:32Z</dcterms:created>
  <dcterms:modified xsi:type="dcterms:W3CDTF">2026-09-29T22:35:32Z</dcterms:modified>
</cp:coreProperties>
</file>
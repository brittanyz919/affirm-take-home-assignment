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6" r:id="rId5"/>
    <p:sldId id="267" r:id="rId6"/>
    <p:sldId id="269" r:id="rId7"/>
    <p:sldId id="262" r:id="rId8"/>
    <p:sldId id="271" r:id="rId18"/>
    <p:sldId id="270" r:id="rId9"/>
    <p:sldId id="264" r:id="rId10"/>
    <p:sldId id="265" r:id="rId11"/>
    <p:sldId id="268" r:id="rId12"/>
    <p:sldId id="272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A4A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567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  <Relationship Id="rId18" Type="http://schemas.openxmlformats.org/officeDocument/2006/relationships/slide" Target="slides/slide12.xml"/>
  <Relationship Id="rId19" Type="http://schemas.openxmlformats.org/officeDocument/2006/relationships/slide" Target="slides/slide13.xml"/>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2E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A1A2E"/>
                </a:solidFill>
                <a:latin typeface="Arial"/>
              </a:rPr>
              <a:t>GMV and unit economics by origination quarter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GMV ($K, left axis)</c:v>
                </c:pt>
              </c:strCache>
            </c:strRef>
          </c:tx>
          <c:spPr>
            <a:solidFill>
              <a:srgbClr val="D9D9F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n-CN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Q3-24</c:v>
                </c:pt>
                <c:pt idx="1">
                  <c:v>Q4-24</c:v>
                </c:pt>
                <c:pt idx="2">
                  <c:v>Q1-25</c:v>
                </c:pt>
                <c:pt idx="3">
                  <c:v>Q2-25</c:v>
                </c:pt>
                <c:pt idx="4">
                  <c:v>Q3-25</c:v>
                </c:pt>
                <c:pt idx="5">
                  <c:v>Q4-25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459</c:v>
                </c:pt>
                <c:pt idx="1">
                  <c:v>664</c:v>
                </c:pt>
                <c:pt idx="2">
                  <c:v>650</c:v>
                </c:pt>
                <c:pt idx="3">
                  <c:v>704</c:v>
                </c:pt>
                <c:pt idx="4">
                  <c:v>721</c:v>
                </c:pt>
                <c:pt idx="5">
                  <c:v>771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1D8-4C4B-9045-4375C3424A18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Revenue (% of GMV)</c:v>
                </c:pt>
              </c:strCache>
            </c:strRef>
          </c:tx>
          <c:spPr>
            <a:ln w="31750" cap="flat">
              <a:solidFill>
                <a:srgbClr val="4A4AF4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C93B3B"/>
              </a:solidFill>
              <a:ln w="9525" cap="flat">
                <a:solidFill>
                  <a:srgbClr val="4A4AF4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Q3-24</c:v>
                </c:pt>
                <c:pt idx="1">
                  <c:v>Q4-24</c:v>
                </c:pt>
                <c:pt idx="2">
                  <c:v>Q1-25</c:v>
                </c:pt>
                <c:pt idx="3">
                  <c:v>Q2-25</c:v>
                </c:pt>
                <c:pt idx="4">
                  <c:v>Q3-25</c:v>
                </c:pt>
                <c:pt idx="5">
                  <c:v>Q4-25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10.8</c:v>
                </c:pt>
                <c:pt idx="1">
                  <c:v>11</c:v>
                </c:pt>
                <c:pt idx="2">
                  <c:v>11.3</c:v>
                </c:pt>
                <c:pt idx="3">
                  <c:v>10.7</c:v>
                </c:pt>
                <c:pt idx="4">
                  <c:v>9.6999999999999993</c:v>
                </c:pt>
                <c:pt idx="5">
                  <c:v>7.5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1D8-4C4B-9045-4375C3424A1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Credit loss (% of GMV)</c:v>
                </c:pt>
              </c:strCache>
            </c:strRef>
          </c:tx>
          <c:spPr>
            <a:ln w="31750" cap="flat">
              <a:solidFill>
                <a:srgbClr val="C93B3B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5B5B73"/>
              </a:solidFill>
              <a:ln w="9525" cap="flat">
                <a:solidFill>
                  <a:srgbClr val="C93B3B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Q3-24</c:v>
                </c:pt>
                <c:pt idx="1">
                  <c:v>Q4-24</c:v>
                </c:pt>
                <c:pt idx="2">
                  <c:v>Q1-25</c:v>
                </c:pt>
                <c:pt idx="3">
                  <c:v>Q2-25</c:v>
                </c:pt>
                <c:pt idx="4">
                  <c:v>Q3-25</c:v>
                </c:pt>
                <c:pt idx="5">
                  <c:v>Q4-25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1.4</c:v>
                </c:pt>
                <c:pt idx="1">
                  <c:v>2.9</c:v>
                </c:pt>
                <c:pt idx="2">
                  <c:v>2.1</c:v>
                </c:pt>
                <c:pt idx="3">
                  <c:v>2.5</c:v>
                </c:pt>
                <c:pt idx="4">
                  <c:v>2</c:v>
                </c:pt>
                <c:pt idx="5">
                  <c:v>1.2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1D8-4C4B-9045-4375C3424A1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Funding cost (% of GMV)</c:v>
                </c:pt>
              </c:strCache>
            </c:strRef>
          </c:tx>
          <c:spPr>
            <a:ln w="31750" cap="flat">
              <a:solidFill>
                <a:srgbClr val="5B5B73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C93B3B"/>
              </a:solidFill>
              <a:ln w="9525" cap="flat">
                <a:solidFill>
                  <a:srgbClr val="5B5B73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Q3-24</c:v>
                </c:pt>
                <c:pt idx="1">
                  <c:v>Q4-24</c:v>
                </c:pt>
                <c:pt idx="2">
                  <c:v>Q1-25</c:v>
                </c:pt>
                <c:pt idx="3">
                  <c:v>Q2-25</c:v>
                </c:pt>
                <c:pt idx="4">
                  <c:v>Q3-25</c:v>
                </c:pt>
                <c:pt idx="5">
                  <c:v>Q4-25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</c:v>
                </c:pt>
                <c:pt idx="1">
                  <c:v>1.1000000000000001</c:v>
                </c:pt>
                <c:pt idx="2">
                  <c:v>1.1000000000000001</c:v>
                </c:pt>
                <c:pt idx="3">
                  <c:v>1.1000000000000001</c:v>
                </c:pt>
                <c:pt idx="4">
                  <c:v>1.1000000000000001</c:v>
                </c:pt>
                <c:pt idx="5">
                  <c:v>1.1000000000000001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1D8-4C4B-9045-4375C3424A1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5"/>
        <c:axId val="2094734553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5B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0"/>
          <c:min val="0"/>
        </c:scaling>
        <c:delete val="0"/>
        <c:axPos val="l"/>
        <c:majorGridlines>
          <c:spPr>
            <a:ln w="6350" cap="flat">
              <a:solidFill>
                <a:srgbClr val="E6E6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5B73"/>
                    </a:solidFill>
                    <a:latin typeface="Arial"/>
                  </a:defRPr>
                </a:pPr>
                <a:r>
                  <a:rPr lang="en-US" sz="1000" b="0" i="0" u="none" strike="noStrike">
                    <a:solidFill>
                      <a:srgbClr val="5B5B73"/>
                    </a:solidFill>
                    <a:latin typeface="Arial"/>
                  </a:rPr>
                  <a:t>GMV ($K)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5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12"/>
          <c:min val="0"/>
        </c:scaling>
        <c:delete val="0"/>
        <c:axPos val="r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5B73"/>
                    </a:solidFill>
                    <a:latin typeface="Arial"/>
                  </a:defRPr>
                </a:pPr>
                <a:r>
                  <a:rPr lang="en-US" sz="1000" b="0" i="0" u="none" strike="noStrike">
                    <a:solidFill>
                      <a:srgbClr val="5B5B73"/>
                    </a:solidFill>
                    <a:latin typeface="Arial"/>
                  </a:rPr>
                  <a:t>% of GMV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5B73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3"/>
        <c:crosses val="autoZero"/>
        <c:auto val="1"/>
        <c:lblAlgn val="ctr"/>
        <c:lblOffset val="100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A1A2E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2E"/>
                </a:solidFill>
                <a:latin typeface="Arial"/>
              </a:defRPr>
            </a:pPr>
            <a:r>
              <a:rPr lang="en-US" sz="1200" b="0" i="0" u="none" strike="noStrike" dirty="0">
                <a:solidFill>
                  <a:srgbClr val="1A1A2E"/>
                </a:solidFill>
                <a:latin typeface="Arial"/>
              </a:rPr>
              <a:t>Customers who take a 2nd loan within 180 days (%)</a:t>
            </a:r>
          </a:p>
          <a:p>
            <a:pPr>
              <a:defRPr sz="1200" b="0" i="0" u="none" strike="noStrike">
                <a:solidFill>
                  <a:srgbClr val="1A1A2E"/>
                </a:solidFill>
                <a:latin typeface="Arial"/>
              </a:defRPr>
            </a:pPr>
            <a:r>
              <a:rPr lang="en-US" sz="1200" b="0" i="0" u="none" strike="noStrike" dirty="0">
                <a:solidFill>
                  <a:srgbClr val="1A1A2E"/>
                </a:solidFill>
                <a:latin typeface="Arial"/>
              </a:rPr>
              <a:t>by first-loan vertical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Repeat within 180 days</c:v>
                </c:pt>
              </c:strCache>
            </c:strRef>
          </c:tx>
          <c:spPr>
            <a:solidFill>
              <a:srgbClr val="4A4AF4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en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Healthcare</c:v>
                </c:pt>
                <c:pt idx="1">
                  <c:v>Auto parts</c:v>
                </c:pt>
                <c:pt idx="2">
                  <c:v>Travel</c:v>
                </c:pt>
                <c:pt idx="3">
                  <c:v>Home furnishing</c:v>
                </c:pt>
                <c:pt idx="4">
                  <c:v>Fashion</c:v>
                </c:pt>
                <c:pt idx="5">
                  <c:v>Electronics</c:v>
                </c:pt>
                <c:pt idx="6">
                  <c:v>Fitness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</c:v>
                </c:pt>
                <c:pt idx="1">
                  <c:v>17</c:v>
                </c:pt>
                <c:pt idx="2">
                  <c:v>20</c:v>
                </c:pt>
                <c:pt idx="3">
                  <c:v>23</c:v>
                </c:pt>
                <c:pt idx="4">
                  <c:v>94</c:v>
                </c:pt>
                <c:pt idx="5">
                  <c:v>95</c:v>
                </c:pt>
                <c:pt idx="6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E6E-D34A-AA49-9FB35EE1FB4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6350" cap="flat">
              <a:solidFill>
                <a:srgbClr val="E6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5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2E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1A1A2E"/>
                </a:solidFill>
                <a:latin typeface="Arial"/>
              </a:rPr>
              <a:t>Contribution margin by origination quarter (% of GMV)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Interest-bearing</c:v>
                </c:pt>
              </c:strCache>
            </c:strRef>
          </c:tx>
          <c:spPr>
            <a:ln w="25400" cap="flat">
              <a:solidFill>
                <a:srgbClr val="4A4AF4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4A4AF4"/>
              </a:solidFill>
              <a:ln w="9525" cap="flat">
                <a:solidFill>
                  <a:srgbClr val="4A4AF4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Q3-24</c:v>
                </c:pt>
                <c:pt idx="1">
                  <c:v>Q4-24</c:v>
                </c:pt>
                <c:pt idx="2">
                  <c:v>Q1-25</c:v>
                </c:pt>
                <c:pt idx="3">
                  <c:v>Q2-25</c:v>
                </c:pt>
                <c:pt idx="4">
                  <c:v>Q3-25</c:v>
                </c:pt>
                <c:pt idx="5">
                  <c:v>Q4-25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13.2</c:v>
                </c:pt>
                <c:pt idx="1">
                  <c:v>11.6</c:v>
                </c:pt>
                <c:pt idx="2">
                  <c:v>11.6</c:v>
                </c:pt>
                <c:pt idx="3">
                  <c:v>9.8000000000000007</c:v>
                </c:pt>
                <c:pt idx="4">
                  <c:v>9.1</c:v>
                </c:pt>
                <c:pt idx="5">
                  <c:v>6.5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73-9B4E-BE38-1F34A9E4B5F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0% APR</c:v>
                </c:pt>
              </c:strCache>
            </c:strRef>
          </c:tx>
          <c:spPr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Q3-24</c:v>
                </c:pt>
                <c:pt idx="1">
                  <c:v>Q4-24</c:v>
                </c:pt>
                <c:pt idx="2">
                  <c:v>Q1-25</c:v>
                </c:pt>
                <c:pt idx="3">
                  <c:v>Q2-25</c:v>
                </c:pt>
                <c:pt idx="4">
                  <c:v>Q3-25</c:v>
                </c:pt>
                <c:pt idx="5">
                  <c:v>Q4-25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3</c:v>
                </c:pt>
                <c:pt idx="2">
                  <c:v>4.3</c:v>
                </c:pt>
                <c:pt idx="3">
                  <c:v>4</c:v>
                </c:pt>
                <c:pt idx="4">
                  <c:v>1.6</c:v>
                </c:pt>
                <c:pt idx="5">
                  <c:v>3.7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73-9B4E-BE38-1F34A9E4B5F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Split Pay</c:v>
                </c:pt>
              </c:strCache>
            </c:strRef>
          </c:tx>
          <c:spPr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Q3-24</c:v>
                </c:pt>
                <c:pt idx="1">
                  <c:v>Q4-24</c:v>
                </c:pt>
                <c:pt idx="2">
                  <c:v>Q1-25</c:v>
                </c:pt>
                <c:pt idx="3">
                  <c:v>Q2-25</c:v>
                </c:pt>
                <c:pt idx="4">
                  <c:v>Q3-25</c:v>
                </c:pt>
                <c:pt idx="5">
                  <c:v>Q4-25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</c:v>
                </c:pt>
                <c:pt idx="1">
                  <c:v>1.7</c:v>
                </c:pt>
                <c:pt idx="2">
                  <c:v>1.8</c:v>
                </c:pt>
                <c:pt idx="3">
                  <c:v>2.4</c:v>
                </c:pt>
                <c:pt idx="4">
                  <c:v>3.2</c:v>
                </c:pt>
                <c:pt idx="5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E73-9B4E-BE38-1F34A9E4B5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5B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5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6757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1463040"/>
            <a:ext cx="5669280" cy="5669280"/>
          </a:xfrm>
          <a:prstGeom prst="ellipse">
            <a:avLst/>
          </a:prstGeom>
          <a:solidFill>
            <a:srgbClr val="4A4AF4"/>
          </a:solidFill>
          <a:ln w="12700">
            <a:solidFill>
              <a:srgbClr val="4A4AF4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Shape 1"/>
          <p:cNvSpPr/>
          <p:nvPr/>
        </p:nvSpPr>
        <p:spPr>
          <a:xfrm>
            <a:off x="9692640" y="3291840"/>
            <a:ext cx="3108960" cy="3108960"/>
          </a:xfrm>
          <a:prstGeom prst="ellipse">
            <a:avLst/>
          </a:prstGeom>
          <a:solidFill>
            <a:srgbClr val="2B2CA8"/>
          </a:solidFill>
          <a:ln w="12700">
            <a:solidFill>
              <a:srgbClr val="2B2CA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&amp; ANALYTICS  ·  PORTFOLIO REVIEW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invest next year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 high-margin, low-loss verticals and repeat customers; tighten the riskiest travel credit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5720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$4.0M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029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GMV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45720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7,134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331720" y="5029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45720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5029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897880" y="45720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7.0%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50292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 margin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Loans originated Jul 2024 – Dec 2025, snapshot 31 Dec 2025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HEALTH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book grew 33% year over year with stable credit quality and a ~7% margin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325880"/>
          <a:ext cx="667512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589520" y="1417320"/>
            <a:ext cx="4053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economics, % of GMV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589520" y="1828800"/>
            <a:ext cx="2956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(merchant fee + interest)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0545775" y="1828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10.0%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2331720"/>
            <a:ext cx="2956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Credit loss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0545775" y="23317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C9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2.0%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2834640"/>
            <a:ext cx="2956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Funding cost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545775" y="28346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C9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1.1%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589520" y="3401568"/>
            <a:ext cx="4053535" cy="548640"/>
          </a:xfrm>
          <a:prstGeom prst="roundRect">
            <a:avLst>
              <a:gd name="adj" fmla="val 20000"/>
            </a:avLst>
          </a:prstGeom>
          <a:solidFill>
            <a:srgbClr val="ECECFE"/>
          </a:solidFill>
          <a:ln w="12700">
            <a:solidFill>
              <a:srgbClr val="ECEC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3" name="Text 10"/>
          <p:cNvSpPr txBox="1"/>
          <p:nvPr/>
        </p:nvSpPr>
        <p:spPr>
          <a:xfrm>
            <a:off x="7726680" y="3401568"/>
            <a:ext cx="2773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Contribution margin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408615" y="340156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7.0%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7589520" y="4160520"/>
            <a:ext cx="40535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mix: interest-bearing +64% (highest margin), fashion +84% (lowest margin)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FICO flat at ~652 — growth didn't come from loosening credit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Holiday vintage (Q4-24): 10% of loans went bad, 2× other quarters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</a:t>
            </a:r>
          </a:p>
          <a:p>
            <a:pPr marL="228600" indent="-228600">
              <a:buAutoNum type="arabicPeriod"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YoY = Jul–Dec 2025 vs Jul–Dec 2024. Q3–Q4 2025 loans are young, so their revenue and loss are still accruing. </a:t>
            </a:r>
          </a:p>
          <a:p>
            <a:pPr marL="228600" indent="-228600">
              <a:buAutoNum type="arabicPeriod"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= cost of funds × term × ½ principal.</a:t>
            </a:r>
          </a:p>
          <a:p>
            <a:pPr marL="228600" indent="-228600">
              <a:buAutoNum type="arabicPeriod"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cs typeface="Arial" pitchFamily="34" charset="-120"/>
              </a:rPr>
              <a:t>Data source: script part2 1.1 &amp; 1.2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AND RISK SIT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Travel carries the risk, fashion dilutes the margin, healthcare and home furnishing lead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8644564"/>
              </p:ext>
            </p:extLst>
          </p:nvPr>
        </p:nvGraphicFramePr>
        <p:xfrm>
          <a:off x="548640" y="1547368"/>
          <a:ext cx="7223760" cy="4209288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75488">
                <a:tc rowSpan="2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Vertical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loans #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GMV $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Loss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profit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384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kern="12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Seasoned loans, originated by Jun ‘25</a:t>
                      </a: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750077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Travel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 furnishing</a:t>
                      </a: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Fitness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1.3%</a:t>
                      </a:r>
                      <a:endParaRPr lang="en-US" sz="1200" b="1" kern="1200" dirty="0">
                        <a:solidFill>
                          <a:srgbClr val="1E8A4C"/>
                        </a:solidFill>
                        <a:latin typeface="Arial" pitchFamily="34" charset="0"/>
                        <a:ea typeface="Arial" charset="0"/>
                        <a:cs typeface="Arial" pitchFamily="34" charset="-12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Electronics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 parts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Fashion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19" name="Group 18">
            <a:extLst>
              <a:ext uri="{FF2B5EF4-FFF2-40B4-BE49-F238E27FC236}">
                <a16:creationId xmlns:a16="http://schemas.microsoft.com/office/drawing/2014/main" id="{B09FDF81-1400-657D-5773-1DDF3554986B}"/>
              </a:ext>
            </a:extLst>
          </p:cNvPr>
          <p:cNvGrpSpPr/>
          <p:nvPr/>
        </p:nvGrpSpPr>
        <p:grpSpPr>
          <a:xfrm>
            <a:off x="8138157" y="4638548"/>
            <a:ext cx="3504895" cy="1498092"/>
            <a:chOff x="8138160" y="1463040"/>
            <a:chExt cx="3504895" cy="1498092"/>
          </a:xfrm>
        </p:grpSpPr>
        <p:sp>
          <p:nvSpPr>
            <p:cNvPr id="5" name="Shape 2"/>
            <p:cNvSpPr/>
            <p:nvPr/>
          </p:nvSpPr>
          <p:spPr>
            <a:xfrm>
              <a:off x="8138160" y="1463040"/>
              <a:ext cx="3504895" cy="1498092"/>
            </a:xfrm>
            <a:prstGeom prst="roundRect">
              <a:avLst>
                <a:gd name="adj" fmla="val 7742"/>
              </a:avLst>
            </a:prstGeom>
            <a:solidFill>
              <a:srgbClr val="F6F6FE"/>
            </a:solidFill>
            <a:ln w="12700">
              <a:solidFill>
                <a:srgbClr val="F6F6FE"/>
              </a:solidFill>
              <a:prstDash val="solid"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6" name="Text 3"/>
            <p:cNvSpPr txBox="1"/>
            <p:nvPr/>
          </p:nvSpPr>
          <p:spPr>
            <a:xfrm>
              <a:off x="8321040" y="1572768"/>
              <a:ext cx="3139135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C93B3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Travel, FICO &lt; 640</a:t>
              </a:r>
              <a:endParaRPr lang="en-US" sz="1400" dirty="0"/>
            </a:p>
          </p:txBody>
        </p:sp>
        <p:sp>
          <p:nvSpPr>
            <p:cNvPr id="7" name="Text 4"/>
            <p:cNvSpPr txBox="1"/>
            <p:nvPr/>
          </p:nvSpPr>
          <p:spPr>
            <a:xfrm>
              <a:off x="8321040" y="1938528"/>
              <a:ext cx="3139135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en-US" sz="1200" dirty="0">
                  <a:solidFill>
                    <a:srgbClr val="1A1A2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~43% delinquent or charged off; 6.4% loss</a:t>
              </a:r>
              <a:r>
                <a:rPr lang="zh-CN" altLang="en-US" sz="1200" dirty="0">
                  <a:solidFill>
                    <a:srgbClr val="1A1A2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en-US" altLang="zh-CN" sz="1200" dirty="0">
                  <a:solidFill>
                    <a:srgbClr val="1A1A2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(vs 7% bad rate, 2.4% loss for FICO &lt; 640 elsewhere)</a:t>
              </a:r>
              <a:r>
                <a:rPr lang="en-US" sz="1200" dirty="0">
                  <a:solidFill>
                    <a:srgbClr val="1A1A2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. It is 35% of travel GMV but 64% of travel losses. If delinquent loans charge off, travel‘s margin falls from 9.4% to 5.2%.</a:t>
              </a:r>
              <a:endParaRPr lang="en-US" sz="1200" dirty="0"/>
            </a:p>
          </p:txBody>
        </p:sp>
      </p:grpSp>
      <p:sp>
        <p:nvSpPr>
          <p:cNvPr id="8" name="Shape 5"/>
          <p:cNvSpPr/>
          <p:nvPr/>
        </p:nvSpPr>
        <p:spPr>
          <a:xfrm>
            <a:off x="8138160" y="3035808"/>
            <a:ext cx="3504895" cy="1417320"/>
          </a:xfrm>
          <a:prstGeom prst="roundRect">
            <a:avLst>
              <a:gd name="adj" fmla="val 7742"/>
            </a:avLst>
          </a:prstGeom>
          <a:solidFill>
            <a:srgbClr val="F6F6FE"/>
          </a:solidFill>
          <a:ln w="12700">
            <a:solidFill>
              <a:srgbClr val="F6F6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" name="Text 6"/>
          <p:cNvSpPr txBox="1"/>
          <p:nvPr/>
        </p:nvSpPr>
        <p:spPr>
          <a:xfrm>
            <a:off x="8321040" y="3145536"/>
            <a:ext cx="31391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Fashion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321040" y="3511296"/>
            <a:ext cx="3139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51% of loans but 10% of profit. Small tickets; Split Pay</a:t>
            </a:r>
            <a:r>
              <a:rPr lang="zh-CN" alt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dominates and</a:t>
            </a: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only earns ~1.2% margin, compared to 7.</a:t>
            </a:r>
            <a:r>
              <a:rPr lang="en-US" altLang="zh-CN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margin of interest-bearing in this vertical.</a:t>
            </a:r>
            <a:endParaRPr lang="en-US" sz="1200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C18A404-09AC-51E0-BF1C-A78D27C0BE8F}"/>
              </a:ext>
            </a:extLst>
          </p:cNvPr>
          <p:cNvGrpSpPr/>
          <p:nvPr/>
        </p:nvGrpSpPr>
        <p:grpSpPr>
          <a:xfrm>
            <a:off x="8138158" y="1485900"/>
            <a:ext cx="3504895" cy="1417320"/>
            <a:chOff x="8138160" y="4608576"/>
            <a:chExt cx="3504895" cy="1417320"/>
          </a:xfrm>
        </p:grpSpPr>
        <p:sp>
          <p:nvSpPr>
            <p:cNvPr id="11" name="Shape 8"/>
            <p:cNvSpPr/>
            <p:nvPr/>
          </p:nvSpPr>
          <p:spPr>
            <a:xfrm>
              <a:off x="8138160" y="4608576"/>
              <a:ext cx="3504895" cy="1417320"/>
            </a:xfrm>
            <a:prstGeom prst="roundRect">
              <a:avLst>
                <a:gd name="adj" fmla="val 7742"/>
              </a:avLst>
            </a:prstGeom>
            <a:solidFill>
              <a:srgbClr val="F6F6FE"/>
            </a:solidFill>
            <a:ln w="12700">
              <a:solidFill>
                <a:srgbClr val="F6F6FE"/>
              </a:solidFill>
              <a:prstDash val="solid"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2" name="Text 9"/>
            <p:cNvSpPr txBox="1"/>
            <p:nvPr/>
          </p:nvSpPr>
          <p:spPr>
            <a:xfrm>
              <a:off x="8321040" y="4718304"/>
              <a:ext cx="3139135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E8A4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Healthcare &amp; home furnishing</a:t>
              </a:r>
              <a:endParaRPr lang="en-US" sz="1400" dirty="0"/>
            </a:p>
          </p:txBody>
        </p:sp>
        <p:sp>
          <p:nvSpPr>
            <p:cNvPr id="13" name="Text 10"/>
            <p:cNvSpPr txBox="1"/>
            <p:nvPr/>
          </p:nvSpPr>
          <p:spPr>
            <a:xfrm>
              <a:off x="8321040" y="5084064"/>
              <a:ext cx="3139135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A1A2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Low loss (1.3–2.0%) with high revenue. A healthcare customer is worth ~$215 in profit over their loans.</a:t>
              </a:r>
              <a:endParaRPr lang="en-US" sz="1200" dirty="0"/>
            </a:p>
          </p:txBody>
        </p:sp>
      </p:grpSp>
      <p:sp>
        <p:nvSpPr>
          <p:cNvPr id="14" name="Text 11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</a:t>
            </a:r>
          </a:p>
          <a:p>
            <a:pPr marL="228600" indent="-228600">
              <a:buAutoNum type="arabicPeriod"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rate = share of loans delinquent 30/60 or charged off. Rates are % of GMV.</a:t>
            </a:r>
          </a:p>
          <a:p>
            <a:pPr marL="228600" indent="-228600">
              <a:buAutoNum type="arabicPeriod"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cs typeface="Arial" pitchFamily="34" charset="-120"/>
              </a:rPr>
              <a:t>Data source: script part2 2.1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SITS BY PRODUCT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Interest-bearing earns 82% of profit; 0% APR gives up interest without a higher merchant fee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638131"/>
              </p:ext>
            </p:extLst>
          </p:nvPr>
        </p:nvGraphicFramePr>
        <p:xfrm>
          <a:off x="548640" y="1463040"/>
          <a:ext cx="11094415" cy="26111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5605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548640"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loans</a:t>
                      </a: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altLang="zh-CN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GMV</a:t>
                      </a:r>
                      <a:r>
                        <a:rPr lang="zh-CN" alt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altLang="zh-CN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FICO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Loss rate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Merchant fee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profit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6560">
                <a:tc v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Seasoned loans, originated by Jun ‘25</a:t>
                      </a: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498766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Interest-bearing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 APR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Pay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Shape 2"/>
          <p:cNvSpPr/>
          <p:nvPr/>
        </p:nvSpPr>
        <p:spPr>
          <a:xfrm>
            <a:off x="548640" y="4175760"/>
            <a:ext cx="3515258" cy="1874520"/>
          </a:xfrm>
          <a:prstGeom prst="roundRect">
            <a:avLst>
              <a:gd name="adj" fmla="val 5854"/>
            </a:avLst>
          </a:prstGeom>
          <a:solidFill>
            <a:srgbClr val="F6F6FE"/>
          </a:solidFill>
          <a:ln w="12700">
            <a:solidFill>
              <a:srgbClr val="F6F6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" name="Text 3"/>
          <p:cNvSpPr txBox="1"/>
          <p:nvPr/>
        </p:nvSpPr>
        <p:spPr>
          <a:xfrm>
            <a:off x="777240" y="431292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APR is under-priced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724400"/>
            <a:ext cx="30580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risk (FICO 683, 0.7% loss), but no interest and a 12–18 months term to fund. </a:t>
            </a:r>
          </a:p>
          <a:p>
            <a:pPr marL="0" indent="0">
              <a:buNone/>
            </a:pPr>
            <a:endParaRPr lang="en-US" sz="1200" dirty="0">
              <a:solidFill>
                <a:srgbClr val="1A1A2E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promo is meant to be paid for by higher MDR, but for the 15 promo merchants 0% APR MDR averages 5.1% vs 5.5% for I-B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38218" y="4175760"/>
            <a:ext cx="3515258" cy="1874520"/>
          </a:xfrm>
          <a:prstGeom prst="roundRect">
            <a:avLst>
              <a:gd name="adj" fmla="val 5854"/>
            </a:avLst>
          </a:prstGeom>
          <a:solidFill>
            <a:srgbClr val="F6F6FE"/>
          </a:solidFill>
          <a:ln w="12700">
            <a:solidFill>
              <a:srgbClr val="F6F6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" name="Text 6"/>
          <p:cNvSpPr txBox="1"/>
          <p:nvPr/>
        </p:nvSpPr>
        <p:spPr>
          <a:xfrm>
            <a:off x="4566818" y="431292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Pay is an entry product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566818" y="4724400"/>
            <a:ext cx="30580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 margin (2.4%) with loss close to interest-bearing, but 63% of customers who start with Split Pay take an interest-bearing loan next.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127797" y="4175760"/>
            <a:ext cx="3515258" cy="1874520"/>
          </a:xfrm>
          <a:prstGeom prst="roundRect">
            <a:avLst>
              <a:gd name="adj" fmla="val 5854"/>
            </a:avLst>
          </a:prstGeom>
          <a:solidFill>
            <a:srgbClr val="F6F6FE"/>
          </a:solidFill>
          <a:ln w="12700">
            <a:solidFill>
              <a:srgbClr val="F6F6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2" name="Text 9"/>
          <p:cNvSpPr txBox="1"/>
          <p:nvPr/>
        </p:nvSpPr>
        <p:spPr>
          <a:xfrm>
            <a:off x="8356397" y="431292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Interest-bearing pays for the risk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356397" y="4724400"/>
            <a:ext cx="30580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Highest loss (2.8</a:t>
            </a:r>
            <a:r>
              <a:rPr lang="en-US" altLang="zh-CN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is more than covered by 9.3% interest income — 58% of GMV, 82% of profit.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</a:t>
            </a:r>
          </a:p>
          <a:p>
            <a:pPr marL="228600" indent="-228600">
              <a:buAutoNum type="arabicPeriod"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Merchant fee and interest are % of GMV (dollar-weighted). Same-merchant comparison uses merchants with promo program. </a:t>
            </a:r>
          </a:p>
          <a:p>
            <a:pPr marL="228600" indent="-228600">
              <a:buAutoNum type="arabicPeriod"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cs typeface="Arial" pitchFamily="34" charset="-120"/>
              </a:rPr>
              <a:t>Data source: script part2 2.2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CUSTOMERS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customers are the cheapest growth: 2.5× lower loss, and most move up to interest-bearing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824636543"/>
              </p:ext>
            </p:extLst>
          </p:nvPr>
        </p:nvGraphicFramePr>
        <p:xfrm>
          <a:off x="548640" y="1417320"/>
          <a:ext cx="60350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040880" y="1417320"/>
            <a:ext cx="4602175" cy="987552"/>
          </a:xfrm>
          <a:prstGeom prst="roundRect">
            <a:avLst>
              <a:gd name="adj" fmla="val 11111"/>
            </a:avLst>
          </a:prstGeom>
          <a:solidFill>
            <a:srgbClr val="ECECFE"/>
          </a:solidFill>
          <a:ln w="12700">
            <a:solidFill>
              <a:srgbClr val="ECEC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6" name="Text 3"/>
          <p:cNvSpPr txBox="1"/>
          <p:nvPr/>
        </p:nvSpPr>
        <p:spPr>
          <a:xfrm>
            <a:off x="7269480" y="1490472"/>
            <a:ext cx="41449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r>
              <a:rPr lang="en-US" altLang="zh-CN" sz="24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r>
              <a:rPr lang="en-US" sz="24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vs 1.</a:t>
            </a:r>
            <a:r>
              <a:rPr lang="en-US" altLang="zh-CN" sz="24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en-US" sz="24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7269480" y="1929384"/>
            <a:ext cx="4144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rate, first loans vs repeat loans — lower in every vertical and product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040880" y="2532888"/>
            <a:ext cx="4602175" cy="987552"/>
          </a:xfrm>
          <a:prstGeom prst="roundRect">
            <a:avLst>
              <a:gd name="adj" fmla="val 11111"/>
            </a:avLst>
          </a:prstGeom>
          <a:solidFill>
            <a:srgbClr val="ECECFE"/>
          </a:solidFill>
          <a:ln w="12700">
            <a:solidFill>
              <a:srgbClr val="ECEC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9" name="Text 6"/>
          <p:cNvSpPr txBox="1"/>
          <p:nvPr/>
        </p:nvSpPr>
        <p:spPr>
          <a:xfrm>
            <a:off x="7269480" y="2606040"/>
            <a:ext cx="41449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7269480" y="3044952"/>
            <a:ext cx="4144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credit loss dollars come from first loans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040880" y="3648456"/>
            <a:ext cx="4602175" cy="1115568"/>
          </a:xfrm>
          <a:prstGeom prst="roundRect">
            <a:avLst>
              <a:gd name="adj" fmla="val 11111"/>
            </a:avLst>
          </a:prstGeom>
          <a:solidFill>
            <a:srgbClr val="ECECFE"/>
          </a:solidFill>
          <a:ln w="12700">
            <a:solidFill>
              <a:srgbClr val="ECEC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2" name="Text 9"/>
          <p:cNvSpPr txBox="1"/>
          <p:nvPr/>
        </p:nvSpPr>
        <p:spPr>
          <a:xfrm>
            <a:off x="7269480" y="3721608"/>
            <a:ext cx="41449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r>
              <a:rPr lang="en-US" altLang="zh-CN" sz="24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24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7269480" y="4160520"/>
            <a:ext cx="4144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second loans are interest-bearing (vs 38% of first loans) — the top choice whatever the first product; 63% of Split Pay starters who return move to it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040880" y="4844408"/>
            <a:ext cx="4602175" cy="987552"/>
          </a:xfrm>
          <a:prstGeom prst="roundRect">
            <a:avLst>
              <a:gd name="adj" fmla="val 11111"/>
            </a:avLst>
          </a:prstGeom>
          <a:solidFill>
            <a:srgbClr val="ECECFE"/>
          </a:solidFill>
          <a:ln w="12700">
            <a:solidFill>
              <a:srgbClr val="ECEC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5" name="Text 12"/>
          <p:cNvSpPr txBox="1"/>
          <p:nvPr/>
        </p:nvSpPr>
        <p:spPr>
          <a:xfrm>
            <a:off x="7269480" y="4917560"/>
            <a:ext cx="41449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7269480" y="5356472"/>
            <a:ext cx="4144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second loans stay in the same vertical — cross-selling is small (Appendix D)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</a:t>
            </a:r>
          </a:p>
          <a:p>
            <a:pPr marL="228600" indent="-228600">
              <a:buAutoNum type="arabicPeriod"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whose first loan was by Jun 2025. Repeat rate is set by the vertical, not the product. </a:t>
            </a:r>
          </a:p>
          <a:p>
            <a:pPr marL="228600" indent="-228600">
              <a:buAutoNum type="arabicPeriod"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source: script part2 1.5</a:t>
            </a:r>
          </a:p>
          <a:p>
            <a:pPr marL="0" indent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moves add ~7–15% profit while lowering the loss rate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8388546"/>
              </p:ext>
            </p:extLst>
          </p:nvPr>
        </p:nvGraphicFramePr>
        <p:xfrm>
          <a:off x="548638" y="1040002"/>
          <a:ext cx="11094415" cy="492814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731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634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(conservative / ambitious)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GMV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Credit loss $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58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 healthcare &amp;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 furnishing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risk-adjusted margins (9.8%, 8.2%) with 1.3–2.0% loss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Each new merchant brings ~57 (healthcare) / ~122 (home) customers a year, ~1 loan each, at ~$176 / ~$78 profit per loan (~$10K per merchant). +10% / +20% GMV ≈ 0.3–0.8 new merchants per vertical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+$78K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+$155K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+$7.0K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+$14.0K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+$1.3K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+$2.7K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540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Pay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→ repeat</a:t>
                      </a:r>
                      <a:r>
                        <a:rPr lang="zh-CN" alt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altLang="zh-CN" sz="1100" b="1" dirty="0" err="1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</a:t>
                      </a:r>
                      <a:r>
                        <a:rPr lang="en-US" altLang="zh-CN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-b</a:t>
                      </a: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customers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Customers enter on Split Pay (51% of first loans) and upgrade when they return: 62% of second loans are interest-bearing. Repeat loans lose 2.5× less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Upgrade: </a:t>
                      </a: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marketing offers that move repeat Split Pay customers to interest-bearing — +$49 profit each; ~145 / ~290 conversions (17% / 35% of repeat Split Pay loans)</a:t>
                      </a:r>
                    </a:p>
                    <a:p>
                      <a:pPr marL="0" indent="0">
                        <a:buNone/>
                      </a:pPr>
                      <a:b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</a:b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Bring back: </a:t>
                      </a: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lift big-ticket repeat rate +5 / +10 pts (~20% today) — ~42 / ~84 extra loans at ~$126 profit each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+$86K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+$172K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+$12.4K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+$24.9K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+$1.3K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+$2.5K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38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TIGHTEN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Travel, FICO &lt; 640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 of travel GMV but 64% of its losses (43% bad rate); if delinquents charge off, travel margin falls 9.4% → 5.2%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Raise the risk model cut-off and lower limits: −25% / −50% segment volume. Margin +0.2 / +0.5 pts, loss rate −0.3 / −0.7 pts</a:t>
                      </a: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−$54K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−$107K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−$3.8K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−$7.6K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i="1" dirty="0">
                          <a:solidFill>
                            <a:srgbClr val="5B5B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stress:</a:t>
                      </a:r>
                      <a:br/>
                      <a:r>
                        <a:rPr lang="en-US" sz="900" i="1" dirty="0">
                          <a:solidFill>
                            <a:srgbClr val="5B5B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−$0.3K / −$0.7K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−$3.4K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−$6.9K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5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4A4A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REPRICE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 APR merchant fee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is 5.1% vs 5.5% for interest-bearing at the same merchants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+0.4 pt to parity (not in totals; depends on merchant response)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+$1.9K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191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4A4A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(moves 1–3)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vs 2025 baseline: $2.85M GMV, $212K profit, 2.32% loss rate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A4A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+3.9% / +7.7%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A4A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+7.4% / +14.8%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Loss rate → 2.21% / 2.10%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39" y="6256520"/>
            <a:ext cx="11094415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 grows faster than GMV and the loss rate falls: growth goes to low-loss verticals and repeat customers, and exposure is cut where risk is concentrated.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GMV / profit / loss cells: top = conservative, bottom = ambitious. One year = 2025 volume × seasoned (Jul 2024–Jun 2025) rates; the data is a sample, so read $ as relative sizes.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TRADE-OFFS AND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could change the picture, and what we would do next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3243"/>
            </a:avLst>
          </a:prstGeom>
          <a:solidFill>
            <a:srgbClr val="1C1E52"/>
          </a:solidFill>
          <a:ln w="12700">
            <a:solidFill>
              <a:srgbClr val="1C1E52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" name="Text 3"/>
          <p:cNvSpPr txBox="1"/>
          <p:nvPr/>
        </p:nvSpPr>
        <p:spPr>
          <a:xfrm>
            <a:off x="777240" y="1645920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Trade-offs &amp; caveats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48840"/>
            <a:ext cx="305805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Tightening travel gives up ~$4–8K profit on paper, but only ~$0.3–0.7K if delinquent loans charge off — a deliberate trade for lower loss and volatility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APR repricing may push some merchants to drop the program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is a synthetic sample; recent quarters aren't fully seasoned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Delinquent-loan loss is an estimate (30% / 60% of unpaid principal)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3243"/>
            </a:avLst>
          </a:prstGeom>
          <a:solidFill>
            <a:srgbClr val="1C1E52"/>
          </a:solidFill>
          <a:ln w="12700">
            <a:solidFill>
              <a:srgbClr val="1C1E52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4566818" y="1645920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66818" y="2148840"/>
            <a:ext cx="305805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Pay loss rose from 1.1% (Q3-24) to 2.5–3.1% — its loans finish in 6 weeks, so this is a real trend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Q4-2025 holiday vintage: last year's doubled its bad rate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Travel data feed: all 160 corrupted duplicate loans were travel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merchants' response to fee changes: volume and program drop-off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3243"/>
            </a:avLst>
          </a:prstGeom>
          <a:solidFill>
            <a:srgbClr val="1C1E52"/>
          </a:solidFill>
          <a:ln w="12700">
            <a:solidFill>
              <a:srgbClr val="1C1E52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" name="Text 9"/>
          <p:cNvSpPr txBox="1"/>
          <p:nvPr/>
        </p:nvSpPr>
        <p:spPr>
          <a:xfrm>
            <a:off x="8356397" y="1645920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356397" y="2148840"/>
            <a:ext cx="305805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the tighter travel cut-off on a share of traffic; track approvals and 90-day losses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interest-bearing offers for repeat Split Pay customers; A/B test take-up and loss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Re-engagement campaigns for big-ticket first-time customers (healthcare, travel, home, auto)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Reprice 0% APR in steps: start with merchants furthest below parity, tier fees by promo length, pair with promo-lift data and co-marketing so merchants stay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merchant pipeline for healthcare and home furnishing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 · DATA QUALITY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root cause explained most data issues; the rest were kept with stated assumptions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1298728"/>
              </p:ext>
            </p:extLst>
          </p:nvPr>
        </p:nvGraphicFramePr>
        <p:xfrm>
          <a:off x="548640" y="1463040"/>
          <a:ext cx="11094415" cy="4023360"/>
        </p:xfrm>
        <a:graphic>
          <a:graphicData uri="http://schemas.openxmlformats.org/drawingml/2006/table">
            <a:tbl>
              <a:tblPr/>
              <a:tblGrid>
                <a:gridCol w="48272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35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36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handled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Duplicate loan IDs; the extra copy has an impossible date (1923–25, 2031). All were travel loans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Dropped the bad copy — also fixed user-table mismatches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New-customer flag inconsistent with loan order (flagged new but not the first loan, or first loan not flagged)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separate fix needed — resolved by dropping the duplicates; the flag now matches each user's first loan exactly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FICO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483 (6.8%)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riskier than other loans; kept as an 'Unknown' band, no imputation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78458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credit_loss on delinquent loans is ~30% / ~60% of unpaid principal (100% for charge-offs)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Treated as expected loss (32% of loss $); stress case = all delinquents charge off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Delinquency status earlier than loan age allows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Kept; can't tell whether date or flag is wrong; 0.3% of loans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'current' Split Pay loans already fully repaid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Kept; no loss impact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Pay term coded as 1 month (product is ~6 weeks)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2,951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Used 1.5 months where duration matters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checked and clean: keys and joins, product/term/APR rules, fee and repayment arithmetic. Code: script part1 2-3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B · METHODOLOGY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numbers were built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F6F6FE"/>
          </a:solidFill>
          <a:ln w="12700">
            <a:solidFill>
              <a:srgbClr val="F6F6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5" name="Text 3"/>
          <p:cNvSpPr txBox="1"/>
          <p:nvPr/>
        </p:nvSpPr>
        <p:spPr>
          <a:xfrm>
            <a:off x="822960" y="1645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 per loan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 = merchant fee + interest collected − credit loss − funding cost. Funding = cost of funds × term × ½ principal (average balance of an amortizing loan). Full principal would lower margins ~1 pt but not change the vertical ranking.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F6F6FE"/>
          </a:solidFill>
          <a:ln w="12700">
            <a:solidFill>
              <a:srgbClr val="F6F6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8" name="Text 6"/>
          <p:cNvSpPr txBox="1"/>
          <p:nvPr/>
        </p:nvSpPr>
        <p:spPr>
          <a:xfrm>
            <a:off x="6492240" y="1645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Maturity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0574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Young loans haven't paid interest or defaulted yet. Segment rates (bad rate, loss, fees, interest, margin) use seasoned loans (originated Jul 2024–Jun 2025); shares use all loans.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38328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F6F6FE"/>
          </a:solidFill>
          <a:ln w="12700">
            <a:solidFill>
              <a:srgbClr val="F6F6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1" name="Text 9"/>
          <p:cNvSpPr txBox="1"/>
          <p:nvPr/>
        </p:nvSpPr>
        <p:spPr>
          <a:xfrm>
            <a:off x="822960" y="35661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customers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9776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loans by Jun 2025; repeat = another loan within 180 days. Loss by new vs repeat checked on seasoned loans.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38328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F6F6FE"/>
          </a:solidFill>
          <a:ln w="12700">
            <a:solidFill>
              <a:srgbClr val="F6F6FE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14" name="Text 12"/>
          <p:cNvSpPr txBox="1"/>
          <p:nvPr/>
        </p:nvSpPr>
        <p:spPr>
          <a:xfrm>
            <a:off x="6492240" y="35661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A4A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9776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year = 2025 volume × seasoned rates. Changes scale proportionally; new merchants perform like the vertical average.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Code: notebooks/01_data_integrity.ipynb, 02_portfolio_risk.ipynb, 03_recommendation_sizing.ipynb.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C · TREND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Interest-bearing margin falls only because recent loans are young; Split Pay's dip is real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17320"/>
          <a:ext cx="694944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863840" y="1554480"/>
            <a:ext cx="377921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Interest-bearing: revenue falls 16.5% → 9.0% because recent loans haven't paid their interest yet; loss rate doesn't rise.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Pay loans finish in ~6 weeks, so quarters are complete: loss rose from 1.1% to 2.5–3.1% and margin fell from 4.0% to ~2–3%.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APR revenue is the merchant fee, fixed up front; margin ~3–4%.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D · REPEAT CUSTOMERS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 of repeat customers come back to the same vertical; fashion is the main source of cross-selling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548640" y="1417320"/>
          <a:ext cx="11094418" cy="402336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46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46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4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46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465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1465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1465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loan ↓ / second loan →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Repeat customers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Fashion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Electronics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Fitness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 furnishing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Travel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 parts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Fashion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Electronics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Fitness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5B5B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 furnishing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5B5B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Travel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5B5B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 parts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5B5B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5B5B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5B5B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5B5B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5B5B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 = customers whose first loan was in that vertical; cells = where their second loan was (row %).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Fashion is the main cross-sell source: 157 fashion customers took their second loan elsewhere, 101 of them in big-ticket verticals.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1463040"/>
            <a:ext cx="5669280" cy="5669280"/>
          </a:xfrm>
          <a:prstGeom prst="ellipse">
            <a:avLst/>
          </a:prstGeom>
          <a:solidFill>
            <a:srgbClr val="4A4AF4"/>
          </a:solidFill>
          <a:ln w="12700">
            <a:solidFill>
              <a:srgbClr val="4A4AF4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3" name="Shape 1"/>
          <p:cNvSpPr/>
          <p:nvPr/>
        </p:nvSpPr>
        <p:spPr>
          <a:xfrm>
            <a:off x="9692640" y="3291840"/>
            <a:ext cx="3108960" cy="3108960"/>
          </a:xfrm>
          <a:prstGeom prst="ellipse">
            <a:avLst/>
          </a:prstGeom>
          <a:solidFill>
            <a:srgbClr val="2B2CA8"/>
          </a:solidFill>
          <a:ln w="12700">
            <a:solidFill>
              <a:srgbClr val="2B2CA8"/>
            </a:solidFill>
            <a:prstDash val="solid"/>
          </a:ln>
        </p:spPr>
        <p:txBody>
          <a:bodyPr/>
          <a:lstStyle/>
          <a:p>
            <a:endParaRPr lang="en-CN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MATERIAL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7132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Data quality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Methodology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Margin trend by product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Repeat customers by vertical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D9D9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Impact sizing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E · IMPACT SIZING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one-year impact was sized: 2025 volume × assumption × seasoned unit economics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1298728"/>
              </p:ext>
            </p:extLst>
          </p:nvPr>
        </p:nvGraphicFramePr>
        <p:xfrm>
          <a:off x="548640" y="1463040"/>
          <a:ext cx="11094415" cy="416052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554480"/>
                <a:gridCol w="2011680"/>
                <a:gridCol w="1097280"/>
                <a:gridCol w="1325880"/>
                <a:gridCol w="1264915"/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(2025)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Assumption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 economics (seasoned)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GMV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Credit loss $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0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 Healthcare merchants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GMV $415K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9.8% · loss 2.0%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+$41K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+$4.1K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+$0.8K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1b Home furnishing merchants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GMV $362K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8.2% · loss 1.3%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+$36K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+$3.0K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+$0.5K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2a Bring back big-ticket customers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838 first-time customers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 pts → ~42 loans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loan: $1,189 GMV · $126 profit · $13 loss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+$50K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+$5.3K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+$0.5K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Upgrade repeat Split Pay → interest-bearing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840 repeat Split Pay loans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 → ~145 loans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switch: +$249 GMV · +$49 profit · +$5 loss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+$36K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+$7.2K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+$0.7K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Tighten travel, FICO &lt; 640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GMV $214K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7.1% · loss 6.4%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−$54K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−$3.8K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i="1" dirty="0">
                          <a:solidFill>
                            <a:srgbClr val="5B5B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(stress −$0.3K)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9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−$3.4K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4A4A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(1–3)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Baseline: $2.85M GMV · $212K profit · 2.32% loss rate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/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A4A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+$110K (+3.9%)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A4A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+$15.7K (+7.4%)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E8A4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−$0.8K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i="1" dirty="0">
                          <a:solidFill>
                            <a:srgbClr val="5B5B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loss rate → 2.21%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F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Reprice 0% APR (not in totals)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GMV $477K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Merchant fee +0.4 pt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applies to all 0% APR GMV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+$1.9K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27432" marB="27432" anchor="ctr">
                    <a:lnL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3550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00" dirty="0">
                <a:solidFill>
                  <a:srgbClr val="5B5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case shown; the ambitious case doubles each assumption, so each effect doubles. Stress = every delinquent loan charges off. Source: notebooks/03_recommendation_sizing.ipynb.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</TotalTime>
  <Words>2257</Words>
  <Application>Microsoft Macintosh PowerPoint</Application>
  <PresentationFormat>Widescreen</PresentationFormat>
  <Paragraphs>367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3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Where to invest next year</dc:title>
  <dc:subject>PptxGenJS Presentation</dc:subject>
  <dc:creator>PptxGenJS</dc:creator>
  <cp:lastModifiedBy>HC2873</cp:lastModifiedBy>
  <cp:revision>6</cp:revision>
  <dcterms:created xsi:type="dcterms:W3CDTF">2026-09-29T20:12:43Z</dcterms:created>
  <dcterms:modified xsi:type="dcterms:W3CDTF">2026-09-30T01:46:48Z</dcterms:modified>
</cp:coreProperties>
</file>
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6" r:id="rId5"/>
    <p:sldId id="267" r:id="rId6"/>
    <p:sldId id="261" r:id="rId7"/>
    <p:sldId id="262" r:id="rId8"/>
    <p:sldId id="263" r:id="rId9"/>
    <p:sldId id="264" r:id="rId10"/>
    <p:sldId id="265" r:id="rId11"/>
    <p:sldId id="268"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A4A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A1A2E"/>
                </a:solidFill>
                <a:latin typeface="Arial"/>
              </a:defRPr>
            </a:pPr>
            <a:r>
              <a:rPr lang="en-US" sz="1300" b="0" i="0" u="none" strike="noStrike">
                <a:solidFill>
                  <a:srgbClr val="1A1A2E"/>
                </a:solidFill>
                <a:latin typeface="Arial"/>
              </a:rPr>
              <a:t>GMV and unit economics by origination quarter</a:t>
            </a:r>
          </a:p>
        </c:rich>
      </c:tx>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spPr>
              <a:noFill/>
              <a:ln>
                <a:noFill/>
              </a:ln>
              <a:effectLst/>
            </c:spPr>
            <c:txPr>
              <a:bodyPr/>
              <a:lstStyle/>
              <a:p>
                <a:pPr>
                  <a:defRPr sz="1000" b="0" i="0" u="none" strike="noStrike">
                    <a:solidFill>
                      <a:srgbClr val="1A1A2E"/>
                    </a:solidFill>
                    <a:latin typeface="Arial"/>
                  </a:defRPr>
                </a:pPr>
                <a:endParaRPr lang="en-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Q3-24</c:v>
                </c:pt>
                <c:pt idx="1">
                  <c:v>Q4-24</c:v>
                </c:pt>
                <c:pt idx="2">
                  <c:v>Q1-25</c:v>
                </c:pt>
                <c:pt idx="3">
                  <c:v>Q2-25</c:v>
                </c:pt>
                <c:pt idx="4">
                  <c:v>Q3-25</c:v>
                </c:pt>
                <c:pt idx="5">
                  <c:v>Q4-25</c:v>
                </c:pt>
              </c:strCache>
            </c:strRef>
          </c:cat>
          <c:val>
            <c:numRef>
              <c:f>Sheet1!$B$2:$B$7</c:f>
              <c:numCache>
                <c:formatCode>General</c:formatCode>
                <c:ptCount val="6"/>
                <c:pt idx="0">
                  <c:v>459</c:v>
                </c:pt>
                <c:pt idx="1">
                  <c:v>664</c:v>
                </c:pt>
                <c:pt idx="2">
                  <c:v>650</c:v>
                </c:pt>
                <c:pt idx="3">
                  <c:v>704</c:v>
                </c:pt>
                <c:pt idx="4">
                  <c:v>721</c:v>
                </c:pt>
                <c:pt idx="5">
                  <c:v>771</c:v>
                </c:pt>
              </c:numCache>
            </c:numRef>
          </c:val>
          <c:extLst>
            <c:ext xmlns:c16="http://schemas.microsoft.com/office/drawing/2014/chart" uri="{C3380CC4-5D6E-409C-BE32-E72D297353CC}">
              <c16:uniqueId val="{00000000-C1D8-4C4B-9045-4375C3424A18}"/>
            </c:ext>
          </c:extLst>
        </c:ser>
        <c:dLbls>
          <c:dLblPos val="inEnd"/>
          <c:showLegendKey val="0"/>
          <c:showVal val="1"/>
          <c:showCatName val="0"/>
          <c:showSerName val="0"/>
          <c:showPercent val="0"/>
          <c:showBubbleSize val="0"/>
        </c:dLbls>
        <c:gapWidth val="60"/>
        <c:axId val="2094734554"/>
        <c:axId val="2094734552"/>
      </c:barChart>
      <c:lineChart>
        <c:grouping val="standard"/>
        <c:varyColors val="0"/>
        <c:ser>
          <c:idx val="1"/>
          <c:order val="1"/>
          <c:tx>
            <c:strRef>
              <c:f>Sheet1!$C$1</c:f>
              <c:strCache>
                <c:ptCount val="1"/>
                <c:pt idx="0">
                  <c:v>Revenue (% of GMV)</c:v>
                </c:pt>
              </c:strCache>
            </c:strRef>
          </c:tx>
          <c:spPr>
            <a:ln w="31750" cap="flat">
              <a:solidFill>
                <a:srgbClr val="4A4AF4"/>
              </a:solidFill>
              <a:prstDash val="solid"/>
              <a:round/>
            </a:ln>
            <a:effectLst/>
          </c:spPr>
          <c:marker>
            <c:symbol val="circle"/>
            <c:size val="7"/>
            <c:spPr>
              <a:solidFill>
                <a:srgbClr val="C93B3B"/>
              </a:solidFill>
              <a:ln w="9525" cap="flat">
                <a:solidFill>
                  <a:srgbClr val="4A4AF4"/>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Sheet1!$C$2:$C$7</c:f>
              <c:numCache>
                <c:formatCode>General</c:formatCode>
                <c:ptCount val="6"/>
                <c:pt idx="0">
                  <c:v>10.8</c:v>
                </c:pt>
                <c:pt idx="1">
                  <c:v>11</c:v>
                </c:pt>
                <c:pt idx="2">
                  <c:v>11.3</c:v>
                </c:pt>
                <c:pt idx="3">
                  <c:v>10.7</c:v>
                </c:pt>
                <c:pt idx="4">
                  <c:v>9.6999999999999993</c:v>
                </c:pt>
                <c:pt idx="5">
                  <c:v>7.5</c:v>
                </c:pt>
              </c:numCache>
            </c:numRef>
          </c:val>
          <c:smooth val="0"/>
          <c:extLst>
            <c:ext xmlns:c16="http://schemas.microsoft.com/office/drawing/2014/chart" uri="{C3380CC4-5D6E-409C-BE32-E72D297353CC}">
              <c16:uniqueId val="{00000001-C1D8-4C4B-9045-4375C3424A18}"/>
            </c:ext>
          </c:extLst>
        </c:ser>
        <c:ser>
          <c:idx val="2"/>
          <c:order val="2"/>
          <c:tx>
            <c:strRef>
              <c:f>Sheet1!$D$1</c:f>
              <c:strCache>
                <c:ptCount val="1"/>
                <c:pt idx="0">
                  <c:v>Credit loss (% of GMV)</c:v>
                </c:pt>
              </c:strCache>
            </c:strRef>
          </c:tx>
          <c:spPr>
            <a:ln w="31750" cap="flat">
              <a:solidFill>
                <a:srgbClr val="C93B3B"/>
              </a:solidFill>
              <a:prstDash val="solid"/>
              <a:round/>
            </a:ln>
            <a:effectLst/>
          </c:spPr>
          <c:marker>
            <c:symbol val="circle"/>
            <c:size val="7"/>
            <c:spPr>
              <a:solidFill>
                <a:srgbClr val="5B5B73"/>
              </a:solidFill>
              <a:ln w="9525" cap="flat">
                <a:solidFill>
                  <a:srgbClr val="C93B3B"/>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Sheet1!$D$2:$D$7</c:f>
              <c:numCache>
                <c:formatCode>General</c:formatCode>
                <c:ptCount val="6"/>
                <c:pt idx="0">
                  <c:v>1.4</c:v>
                </c:pt>
                <c:pt idx="1">
                  <c:v>2.9</c:v>
                </c:pt>
                <c:pt idx="2">
                  <c:v>2.1</c:v>
                </c:pt>
                <c:pt idx="3">
                  <c:v>2.5</c:v>
                </c:pt>
                <c:pt idx="4">
                  <c:v>2</c:v>
                </c:pt>
                <c:pt idx="5">
                  <c:v>1.2</c:v>
                </c:pt>
              </c:numCache>
            </c:numRef>
          </c:val>
          <c:smooth val="0"/>
          <c:extLst>
            <c:ext xmlns:c16="http://schemas.microsoft.com/office/drawing/2014/chart" uri="{C3380CC4-5D6E-409C-BE32-E72D297353CC}">
              <c16:uniqueId val="{00000002-C1D8-4C4B-9045-4375C3424A18}"/>
            </c:ext>
          </c:extLst>
        </c:ser>
        <c:ser>
          <c:idx val="3"/>
          <c:order val="3"/>
          <c:tx>
            <c:strRef>
              <c:f>Sheet1!$E$1</c:f>
              <c:strCache>
                <c:ptCount val="1"/>
                <c:pt idx="0">
                  <c:v>Funding cost (% of GMV)</c:v>
                </c:pt>
              </c:strCache>
            </c:strRef>
          </c:tx>
          <c:spPr>
            <a:ln w="31750" cap="flat">
              <a:solidFill>
                <a:srgbClr val="5B5B73"/>
              </a:solidFill>
              <a:prstDash val="solid"/>
              <a:round/>
            </a:ln>
            <a:effectLst/>
          </c:spPr>
          <c:marker>
            <c:symbol val="circle"/>
            <c:size val="7"/>
            <c:spPr>
              <a:solidFill>
                <a:srgbClr val="C93B3B"/>
              </a:solidFill>
              <a:ln w="9525" cap="flat">
                <a:solidFill>
                  <a:srgbClr val="5B5B73"/>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Sheet1!$E$2:$E$7</c:f>
              <c:numCache>
                <c:formatCode>General</c:formatCode>
                <c:ptCount val="6"/>
                <c:pt idx="0">
                  <c:v>1</c:v>
                </c:pt>
                <c:pt idx="1">
                  <c:v>1.1000000000000001</c:v>
                </c:pt>
                <c:pt idx="2">
                  <c:v>1.1000000000000001</c:v>
                </c:pt>
                <c:pt idx="3">
                  <c:v>1.1000000000000001</c:v>
                </c:pt>
                <c:pt idx="4">
                  <c:v>1.1000000000000001</c:v>
                </c:pt>
                <c:pt idx="5">
                  <c:v>1.1000000000000001</c:v>
                </c:pt>
              </c:numCache>
            </c:numRef>
          </c:val>
          <c:smooth val="0"/>
          <c:extLst>
            <c:ext xmlns:c16="http://schemas.microsoft.com/office/drawing/2014/chart" uri="{C3380CC4-5D6E-409C-BE32-E72D297353CC}">
              <c16:uniqueId val="{00000003-C1D8-4C4B-9045-4375C3424A18}"/>
            </c:ext>
          </c:extLst>
        </c:ser>
        <c:dLbls>
          <c:showLegendKey val="0"/>
          <c:showVal val="0"/>
          <c:showCatName val="0"/>
          <c:showSerName val="0"/>
          <c:showPercent val="0"/>
          <c:showBubbleSize val="0"/>
        </c:dLbls>
        <c:marker val="1"/>
        <c:smooth val="0"/>
        <c:axId val="2094734555"/>
        <c:axId val="2094734553"/>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lblOffset val="100"/>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lang="en-US" sz="1000" b="0" i="0" u="none" strike="noStrike">
                    <a:solidFill>
                      <a:srgbClr val="5B5B73"/>
                    </a:solidFill>
                    <a:latin typeface="Arial"/>
                  </a:rPr>
                  <a:t>GMV ($K)</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lang="en-US" sz="1000" b="0" i="0" u="none" strike="noStrike">
                    <a:solidFill>
                      <a:srgbClr val="5B5B73"/>
                    </a:solidFill>
                    <a:latin typeface="Arial"/>
                  </a:rPr>
                  <a:t>% of GMV</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crossAx val="2094734553"/>
        <c:crosses val="autoZero"/>
        <c:auto val="1"/>
        <c:lblAlgn val="ctr"/>
        <c:lblOffset val="100"/>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A1A2E"/>
                </a:solidFill>
                <a:latin typeface="Arial"/>
              </a:defRPr>
            </a:pPr>
            <a:r>
              <a:rPr lang="en-US" sz="1200" b="0" i="0" u="none" strike="noStrike">
                <a:solidFill>
                  <a:srgbClr val="1A1A2E"/>
                </a:solidFill>
                <a:latin typeface="Arial"/>
              </a:rPr>
              <a:t>Customers who take a 2nd loan within 180 days (%), by first-loan vertical</a:t>
            </a:r>
          </a:p>
        </c:rich>
      </c:tx>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spPr>
              <a:noFill/>
              <a:ln>
                <a:noFill/>
              </a:ln>
              <a:effectLst/>
            </c:spPr>
            <c:txPr>
              <a:bodyPr/>
              <a:lstStyle/>
              <a:p>
                <a:pPr>
                  <a:defRPr sz="1100" b="0" i="0" u="none" strike="noStrike">
                    <a:solidFill>
                      <a:srgbClr val="1A1A2E"/>
                    </a:solidFill>
                    <a:latin typeface="Arial"/>
                  </a:defRPr>
                </a:pPr>
                <a:endParaRPr lang="en-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Healthcare</c:v>
                </c:pt>
                <c:pt idx="1">
                  <c:v>Auto parts</c:v>
                </c:pt>
                <c:pt idx="2">
                  <c:v>Travel</c:v>
                </c:pt>
                <c:pt idx="3">
                  <c:v>Home furnishing</c:v>
                </c:pt>
                <c:pt idx="4">
                  <c:v>Fashion</c:v>
                </c:pt>
                <c:pt idx="5">
                  <c:v>Electronics</c:v>
                </c:pt>
                <c:pt idx="6">
                  <c:v>Fitness</c:v>
                </c:pt>
              </c:strCache>
            </c:strRef>
          </c:cat>
          <c:val>
            <c:numRef>
              <c:f>Sheet1!$B$2:$B$8</c:f>
              <c:numCache>
                <c:formatCode>General</c:formatCode>
                <c:ptCount val="7"/>
                <c:pt idx="0">
                  <c:v>17</c:v>
                </c:pt>
                <c:pt idx="1">
                  <c:v>17</c:v>
                </c:pt>
                <c:pt idx="2">
                  <c:v>20</c:v>
                </c:pt>
                <c:pt idx="3">
                  <c:v>23</c:v>
                </c:pt>
                <c:pt idx="4">
                  <c:v>94</c:v>
                </c:pt>
                <c:pt idx="5">
                  <c:v>95</c:v>
                </c:pt>
                <c:pt idx="6">
                  <c:v>96</c:v>
                </c:pt>
              </c:numCache>
            </c:numRef>
          </c:val>
          <c:extLst>
            <c:ext xmlns:c16="http://schemas.microsoft.com/office/drawing/2014/chart" uri="{C3380CC4-5D6E-409C-BE32-E72D297353CC}">
              <c16:uniqueId val="{00000000-1E6E-D34A-AA49-9FB35EE1FB48}"/>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A1A2E"/>
                </a:solidFill>
                <a:latin typeface="Arial"/>
              </a:defRPr>
            </a:pPr>
            <a:r>
              <a:rPr lang="en-US" sz="1200" b="0" i="0" u="none" strike="noStrike">
                <a:solidFill>
                  <a:srgbClr val="1A1A2E"/>
                </a:solidFill>
                <a:latin typeface="Arial"/>
              </a:rPr>
              <a:t>Contribution margin by origination quarter (% of GMV)</a:t>
            </a:r>
          </a:p>
        </c:rich>
      </c:tx>
      <c:overlay val="0"/>
    </c:title>
    <c:autoTitleDeleted val="0"/>
    <c:plotArea>
      <c:layout/>
      <c:lineChart>
        <c:grouping val="standard"/>
        <c:varyColors val="0"/>
        <c:ser>
          <c:idx val="0"/>
          <c:order val="0"/>
          <c:tx>
            <c:strRef>
              <c:f>Sheet1!$B$1</c:f>
              <c:strCache>
                <c:ptCount val="1"/>
                <c:pt idx="0">
                  <c:v>Interest-bearing</c:v>
                </c:pt>
              </c:strCache>
            </c:strRef>
          </c:tx>
          <c:spPr>
            <a:ln w="25400" cap="flat">
              <a:solidFill>
                <a:srgbClr val="4A4AF4"/>
              </a:solidFill>
              <a:prstDash val="solid"/>
              <a:round/>
            </a:ln>
            <a:effectLst/>
          </c:spPr>
          <c:marker>
            <c:symbol val="circle"/>
            <c:size val="7"/>
            <c:spPr>
              <a:solidFill>
                <a:srgbClr val="4A4AF4"/>
              </a:solidFill>
              <a:ln w="9525" cap="flat">
                <a:solidFill>
                  <a:srgbClr val="4A4AF4"/>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Sheet1!$B$2:$B$7</c:f>
              <c:numCache>
                <c:formatCode>General</c:formatCode>
                <c:ptCount val="6"/>
                <c:pt idx="0">
                  <c:v>13.2</c:v>
                </c:pt>
                <c:pt idx="1">
                  <c:v>11.6</c:v>
                </c:pt>
                <c:pt idx="2">
                  <c:v>11.6</c:v>
                </c:pt>
                <c:pt idx="3">
                  <c:v>9.8000000000000007</c:v>
                </c:pt>
                <c:pt idx="4">
                  <c:v>9.1</c:v>
                </c:pt>
                <c:pt idx="5">
                  <c:v>6.5</c:v>
                </c:pt>
              </c:numCache>
            </c:numRef>
          </c:val>
          <c:smooth val="0"/>
          <c:extLst>
            <c:ext xmlns:c16="http://schemas.microsoft.com/office/drawing/2014/chart" uri="{C3380CC4-5D6E-409C-BE32-E72D297353CC}">
              <c16:uniqueId val="{00000000-5E73-9B4E-BE38-1F34A9E4B5FA}"/>
            </c:ext>
          </c:extLst>
        </c:ser>
        <c:ser>
          <c:idx val="1"/>
          <c:order val="1"/>
          <c:tx>
            <c:strRef>
              <c:f>Sheet1!$C$1</c:f>
              <c:strCache>
                <c:ptCount val="1"/>
                <c:pt idx="0">
                  <c:v>0% APR</c:v>
                </c:pt>
              </c:strCache>
            </c:strRef>
          </c:tx>
          <c:spPr>
            <a:ln w="25400" cap="flat">
              <a:solidFill>
                <a:srgbClr val="1BAF7A"/>
              </a:solidFill>
              <a:prstDash val="solid"/>
              <a:round/>
            </a:ln>
            <a:effectLst/>
          </c:spPr>
          <c:marker>
            <c:symbol val="circle"/>
            <c:size val="7"/>
            <c:spPr>
              <a:solidFill>
                <a:srgbClr val="1BAF7A"/>
              </a:solidFill>
              <a:ln w="9525" cap="flat">
                <a:solidFill>
                  <a:srgbClr val="1BAF7A"/>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Sheet1!$C$2:$C$7</c:f>
              <c:numCache>
                <c:formatCode>General</c:formatCode>
                <c:ptCount val="6"/>
                <c:pt idx="0">
                  <c:v>4</c:v>
                </c:pt>
                <c:pt idx="1">
                  <c:v>3</c:v>
                </c:pt>
                <c:pt idx="2">
                  <c:v>4.3</c:v>
                </c:pt>
                <c:pt idx="3">
                  <c:v>4</c:v>
                </c:pt>
                <c:pt idx="4">
                  <c:v>1.6</c:v>
                </c:pt>
                <c:pt idx="5">
                  <c:v>3.7</c:v>
                </c:pt>
              </c:numCache>
            </c:numRef>
          </c:val>
          <c:smooth val="0"/>
          <c:extLst>
            <c:ext xmlns:c16="http://schemas.microsoft.com/office/drawing/2014/chart" uri="{C3380CC4-5D6E-409C-BE32-E72D297353CC}">
              <c16:uniqueId val="{00000001-5E73-9B4E-BE38-1F34A9E4B5FA}"/>
            </c:ext>
          </c:extLst>
        </c:ser>
        <c:ser>
          <c:idx val="2"/>
          <c:order val="2"/>
          <c:tx>
            <c:strRef>
              <c:f>Sheet1!$D$1</c:f>
              <c:strCache>
                <c:ptCount val="1"/>
                <c:pt idx="0">
                  <c:v>Split Pay</c:v>
                </c:pt>
              </c:strCache>
            </c:strRef>
          </c:tx>
          <c:spPr>
            <a:ln w="25400" cap="flat">
              <a:solidFill>
                <a:srgbClr val="EB6834"/>
              </a:solidFill>
              <a:prstDash val="solid"/>
              <a:round/>
            </a:ln>
            <a:effectLst/>
          </c:spPr>
          <c:marker>
            <c:symbol val="circle"/>
            <c:size val="7"/>
            <c:spPr>
              <a:solidFill>
                <a:srgbClr val="EB6834"/>
              </a:solidFill>
              <a:ln w="9525" cap="flat">
                <a:solidFill>
                  <a:srgbClr val="EB6834"/>
                </a:solidFill>
                <a:prstDash val="solid"/>
                <a:round/>
              </a:ln>
              <a:effectLst/>
            </c:spPr>
          </c:marker>
          <c:cat>
            <c:strRef>
              <c:f>Sheet1!$A$2:$A$7</c:f>
              <c:strCache>
                <c:ptCount val="6"/>
                <c:pt idx="0">
                  <c:v>Q3-24</c:v>
                </c:pt>
                <c:pt idx="1">
                  <c:v>Q4-24</c:v>
                </c:pt>
                <c:pt idx="2">
                  <c:v>Q1-25</c:v>
                </c:pt>
                <c:pt idx="3">
                  <c:v>Q2-25</c:v>
                </c:pt>
                <c:pt idx="4">
                  <c:v>Q3-25</c:v>
                </c:pt>
                <c:pt idx="5">
                  <c:v>Q4-25</c:v>
                </c:pt>
              </c:strCache>
            </c:strRef>
          </c:cat>
          <c:val>
            <c:numRef>
              <c:f>Sheet1!$D$2:$D$7</c:f>
              <c:numCache>
                <c:formatCode>General</c:formatCode>
                <c:ptCount val="6"/>
                <c:pt idx="0">
                  <c:v>4</c:v>
                </c:pt>
                <c:pt idx="1">
                  <c:v>1.7</c:v>
                </c:pt>
                <c:pt idx="2">
                  <c:v>1.8</c:v>
                </c:pt>
                <c:pt idx="3">
                  <c:v>2.4</c:v>
                </c:pt>
                <c:pt idx="4">
                  <c:v>3.2</c:v>
                </c:pt>
                <c:pt idx="5">
                  <c:v>2.8</c:v>
                </c:pt>
              </c:numCache>
            </c:numRef>
          </c:val>
          <c:smooth val="0"/>
          <c:extLst>
            <c:ext xmlns:c16="http://schemas.microsoft.com/office/drawing/2014/chart" uri="{C3380CC4-5D6E-409C-BE32-E72D297353CC}">
              <c16:uniqueId val="{00000002-5E73-9B4E-BE38-1F34A9E4B5F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6757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by product. Interest-bearing is where the profit is: its loss rate is the highest, but interest income more than covers it. 0% APR is our safest product, yet it earns a third of the interest-bearing margin: we give up the interest, fund a 12-18 month loan, and the merchant fee is not higher — at the same merchants it is actually lower than on interest-bearing loans. That is the basis for repricing. Split Pay is thin too, but it is the entry product that leads customers to interest-bearing, so we keep it as an acquisition tool rather than reprice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Split Pay works as an entry product: most customers move to interest-bearing on their next loan. And customers mostly come back to the same vertical (86%), so repeat growth has to be built vertical by vertical — cross-selling is small.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each with the evidence and the sizing on one line. Two where we invest: healthcare and home furnishing merchants — one new average merchant adds 25–35% to the vertical — and repeat customers, which is the biggest profit lever. One where we pull back: travel below 640 FICO, through the risk model's cut-off and limits; it costs some profit, a deliberate trade for lower risk. One pricing fix: 0% APR merchant fee, shown separately because it depends on how merchants respond. Net: profit +7–15%, GMV +4–8%, and the loss rate goes down.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a:effectLst/>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txBody>
          <a:bodyPr/>
          <a:lstStyle/>
          <a:p>
            <a:endParaRPr lang="en-CN"/>
          </a:p>
        </p:txBody>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txBody>
          <a:bodyPr/>
          <a:lstStyle/>
          <a:p>
            <a:endParaRPr lang="en-CN"/>
          </a:p>
        </p:txBody>
      </p:sp>
      <p:sp>
        <p:nvSpPr>
          <p:cNvPr id="4" name="Text 2"/>
          <p:cNvSpPr txBox="1"/>
          <p:nvPr/>
        </p:nvSpPr>
        <p:spPr>
          <a:xfrm>
            <a:off x="548640" y="1554480"/>
            <a:ext cx="7315200" cy="320040"/>
          </a:xfrm>
          <a:prstGeom prst="rect">
            <a:avLst/>
          </a:prstGeom>
          <a:noFill/>
          <a:ln/>
        </p:spPr>
        <p:txBody>
          <a:bodyPr wrap="square" lIns="0" tIns="0" rIns="0" bIns="0" rtlCol="0" anchor="ctr"/>
          <a:lstStyle/>
          <a:p>
            <a:pPr marL="0" indent="0">
              <a:buNone/>
            </a:pPr>
            <a:r>
              <a:rPr lang="en-US" sz="1200" b="1" kern="0" spc="20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marL="0" indent="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marL="0" indent="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marL="0" indent="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marL="0" indent="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marL="0" indent="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marL="0" indent="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p:cNvGraphicFramePr/>
          <p:nvPr/>
        </p:nvGraphicFramePr>
        <p:xfrm>
          <a:off x="548640" y="1325880"/>
          <a:ext cx="66751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marL="0" indent="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marL="0" indent="0" algn="r">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marL="0" indent="0" algn="r">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marL="0" indent="0" algn="r">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txBody>
          <a:bodyPr/>
          <a:lstStyle/>
          <a:p>
            <a:endParaRPr lang="en-CN"/>
          </a:p>
        </p:txBody>
      </p:sp>
      <p:sp>
        <p:nvSpPr>
          <p:cNvPr id="13" name="Text 10"/>
          <p:cNvSpPr txBox="1"/>
          <p:nvPr/>
        </p:nvSpPr>
        <p:spPr>
          <a:xfrm>
            <a:off x="7726680" y="3401568"/>
            <a:ext cx="2773375" cy="548640"/>
          </a:xfrm>
          <a:prstGeom prst="rect">
            <a:avLst/>
          </a:prstGeom>
          <a:noFill/>
          <a:ln/>
        </p:spPr>
        <p:txBody>
          <a:bodyPr wrap="square" lIns="0" tIns="0" rIns="0" bIns="0" rtlCol="0" anchor="ctr"/>
          <a:lstStyle/>
          <a:p>
            <a:pPr marL="0" indent="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marL="0" indent="0" algn="r">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Note:</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Funding = cost of funds × term × ½ principal.</a:t>
            </a:r>
          </a:p>
          <a:p>
            <a:pPr marL="228600" indent="-228600">
              <a:buAutoNum type="arabicPeriod"/>
            </a:pPr>
            <a:r>
              <a:rPr lang="en-US" sz="1000" dirty="0">
                <a:solidFill>
                  <a:srgbClr val="5B5B73"/>
                </a:solidFill>
                <a:latin typeface="Arial" pitchFamily="34" charset="0"/>
                <a:cs typeface="Arial" pitchFamily="34" charset="-120"/>
              </a:rPr>
              <a:t>Data source: script part2 1.1 &amp;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3999698773"/>
              </p:ext>
            </p:extLst>
          </p:nvPr>
        </p:nvGraphicFramePr>
        <p:xfrm>
          <a:off x="548640" y="1547368"/>
          <a:ext cx="7223760" cy="4209288"/>
        </p:xfrm>
        <a:graphic>
          <a:graphicData uri="http://schemas.openxmlformats.org/drawingml/2006/table">
            <a:tbl>
              <a:tblPr/>
              <a:tblGrid>
                <a:gridCol w="16002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475488">
                <a:tc rowSpan="2">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Vertical</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Share of loans #</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Share of GMV $</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Bad rate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Loss rate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Margin</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Share of profit</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10000"/>
                  </a:ext>
                </a:extLst>
              </a:tr>
              <a:tr h="405384">
                <a:tc vMerge="1">
                  <a:txBody>
                    <a:bodyPr/>
                    <a:lstStyle/>
                    <a:p>
                      <a:pPr marL="0" indent="0" algn="l">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gridSpan="3">
                  <a:txBody>
                    <a:bodyPr/>
                    <a:lstStyle/>
                    <a:p>
                      <a:pPr marL="0" indent="0" algn="ctr">
                        <a:buNone/>
                      </a:pPr>
                      <a:r>
                        <a:rPr lang="en-US" sz="1050" b="1" kern="1200" dirty="0">
                          <a:solidFill>
                            <a:srgbClr val="FFFFFF"/>
                          </a:solidFill>
                          <a:latin typeface="Arial" pitchFamily="34" charset="0"/>
                          <a:ea typeface="Arial" charset="0"/>
                          <a:cs typeface="Arial" pitchFamily="34" charset="-120"/>
                        </a:rPr>
                        <a:t>Seasoned loans, originated by Jun ‘25</a:t>
                      </a: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hMerge="1">
                  <a:txBody>
                    <a:bodyPr/>
                    <a:lstStyle/>
                    <a:p>
                      <a:pPr marL="0" indent="0" algn="ctr">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hMerge="1">
                  <a:txBody>
                    <a:bodyPr/>
                    <a:lstStyle/>
                    <a:p>
                      <a:pPr marL="0" indent="0" algn="ctr">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303750077"/>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E8A4C"/>
                          </a:solidFill>
                          <a:latin typeface="Arial" pitchFamily="34" charset="0"/>
                          <a:ea typeface="Arial" pitchFamily="34" charset="-122"/>
                          <a:cs typeface="Arial" pitchFamily="34" charset="-120"/>
                        </a:rPr>
                        <a:t>9.8%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b="1" dirty="0">
                          <a:solidFill>
                            <a:srgbClr val="C93B3B"/>
                          </a:solidFill>
                          <a:latin typeface="Arial" pitchFamily="34" charset="0"/>
                          <a:ea typeface="Arial" pitchFamily="34" charset="-122"/>
                          <a:cs typeface="Arial" pitchFamily="34" charset="-120"/>
                        </a:rPr>
                        <a:t>23.5%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b="1" dirty="0">
                          <a:solidFill>
                            <a:srgbClr val="C93B3B"/>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9.4%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2"/>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E8A4C"/>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E8A4C"/>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8.1%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4"/>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6.9%</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6"/>
                  </a:ext>
                </a:extLst>
              </a:tr>
              <a:tr h="475488">
                <a:tc>
                  <a:txBody>
                    <a:bodyPr/>
                    <a:lstStyle/>
                    <a:p>
                      <a:pPr marL="0" indent="0" algn="l">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C93B3B"/>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C93B3B"/>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C93B3B"/>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pSp>
        <p:nvGrpSpPr>
          <p:cNvPr id="19" name="Group 18">
            <a:extLst>
              <a:ext uri="{FF2B5EF4-FFF2-40B4-BE49-F238E27FC236}">
                <a16:creationId xmlns:a16="http://schemas.microsoft.com/office/drawing/2014/main" id="{B09FDF81-1400-657D-5773-1DDF3554986B}"/>
              </a:ext>
            </a:extLst>
          </p:cNvPr>
          <p:cNvGrpSpPr/>
          <p:nvPr/>
        </p:nvGrpSpPr>
        <p:grpSpPr>
          <a:xfrm>
            <a:off x="8138157" y="4638548"/>
            <a:ext cx="3504895" cy="1498092"/>
            <a:chOff x="8138160" y="1463040"/>
            <a:chExt cx="3504895" cy="1498092"/>
          </a:xfrm>
        </p:grpSpPr>
        <p:sp>
          <p:nvSpPr>
            <p:cNvPr id="5" name="Shape 2"/>
            <p:cNvSpPr/>
            <p:nvPr/>
          </p:nvSpPr>
          <p:spPr>
            <a:xfrm>
              <a:off x="8138160" y="1463040"/>
              <a:ext cx="3504895" cy="1498092"/>
            </a:xfrm>
            <a:prstGeom prst="roundRect">
              <a:avLst>
                <a:gd name="adj" fmla="val 7742"/>
              </a:avLst>
            </a:prstGeom>
            <a:solidFill>
              <a:srgbClr val="F6F6FE"/>
            </a:solidFill>
            <a:ln w="12700">
              <a:solidFill>
                <a:srgbClr val="F6F6FE"/>
              </a:solidFill>
              <a:prstDash val="solid"/>
            </a:ln>
          </p:spPr>
          <p:txBody>
            <a:bodyPr/>
            <a:lstStyle/>
            <a:p>
              <a:endParaRPr lang="en-CN"/>
            </a:p>
          </p:txBody>
        </p:sp>
        <p:sp>
          <p:nvSpPr>
            <p:cNvPr id="6" name="Text 3"/>
            <p:cNvSpPr txBox="1"/>
            <p:nvPr/>
          </p:nvSpPr>
          <p:spPr>
            <a:xfrm>
              <a:off x="8321040" y="1572768"/>
              <a:ext cx="3139135" cy="347472"/>
            </a:xfrm>
            <a:prstGeom prst="rect">
              <a:avLst/>
            </a:prstGeom>
            <a:noFill/>
            <a:ln/>
          </p:spPr>
          <p:txBody>
            <a:bodyPr wrap="square" lIns="0" tIns="0" rIns="0" bIns="0" rtlCol="0" anchor="ctr"/>
            <a:lstStyle/>
            <a:p>
              <a:pPr marL="0" indent="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r>
                <a:rPr lang="en-US" sz="1200" dirty="0">
                  <a:solidFill>
                    <a:srgbClr val="1A1A2E"/>
                  </a:solidFill>
                  <a:latin typeface="Arial" pitchFamily="34" charset="0"/>
                  <a:ea typeface="Arial" pitchFamily="34" charset="-122"/>
                  <a:cs typeface="Arial" pitchFamily="34" charset="-120"/>
                </a:rPr>
                <a:t>~43% delinquent or charged off; 6.4% loss</a:t>
              </a:r>
              <a:r>
                <a:rPr lang="zh-CN" altLang="en-US" sz="1200" dirty="0">
                  <a:solidFill>
                    <a:srgbClr val="1A1A2E"/>
                  </a:solidFill>
                  <a:latin typeface="Arial" pitchFamily="34" charset="0"/>
                  <a:ea typeface="Arial" pitchFamily="34" charset="-122"/>
                  <a:cs typeface="Arial" pitchFamily="34" charset="-120"/>
                </a:rPr>
                <a:t> </a:t>
              </a:r>
              <a:r>
                <a:rPr lang="en-US" altLang="zh-CN" sz="1200" dirty="0">
                  <a:solidFill>
                    <a:srgbClr val="1A1A2E"/>
                  </a:solidFill>
                  <a:latin typeface="Arial" pitchFamily="34" charset="0"/>
                  <a:ea typeface="Arial" pitchFamily="34" charset="-122"/>
                  <a:cs typeface="Arial" pitchFamily="34" charset="-120"/>
                </a:rPr>
                <a:t>(vs 7% bad rate, 2.4% loss for FICO &lt; 640 elsewhere)</a:t>
              </a:r>
              <a:r>
                <a:rPr lang="en-US" sz="1200" dirty="0">
                  <a:solidFill>
                    <a:srgbClr val="1A1A2E"/>
                  </a:solidFill>
                  <a:latin typeface="Arial" pitchFamily="34" charset="0"/>
                  <a:ea typeface="Arial" pitchFamily="34" charset="-122"/>
                  <a:cs typeface="Arial" pitchFamily="34" charset="-120"/>
                </a:rPr>
                <a:t>. It is 35% of travel GMV but 64% of travel losses. If delinquent loans charge off, travel's margin falls from 9.4% to 5.2%</a:t>
              </a:r>
              <a:endParaRPr lang="en-US" sz="1200" dirty="0"/>
            </a:p>
          </p:txBody>
        </p:sp>
      </p:gr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txBody>
          <a:bodyPr/>
          <a:lstStyle/>
          <a:p>
            <a:endParaRPr lang="en-CN"/>
          </a:p>
        </p:txBody>
      </p:sp>
      <p:sp>
        <p:nvSpPr>
          <p:cNvPr id="9" name="Text 6"/>
          <p:cNvSpPr txBox="1"/>
          <p:nvPr/>
        </p:nvSpPr>
        <p:spPr>
          <a:xfrm>
            <a:off x="8321040" y="3145536"/>
            <a:ext cx="3139135" cy="347472"/>
          </a:xfrm>
          <a:prstGeom prst="rect">
            <a:avLst/>
          </a:prstGeom>
          <a:noFill/>
          <a:ln/>
        </p:spPr>
        <p:txBody>
          <a:bodyPr wrap="square" lIns="0" tIns="0" rIns="0" bIns="0" rtlCol="0" anchor="ctr"/>
          <a:lstStyle/>
          <a:p>
            <a:pPr marL="0" indent="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marL="0" indent="0">
              <a:buNone/>
            </a:pPr>
            <a:r>
              <a:rPr lang="en-US" sz="1200" dirty="0">
                <a:solidFill>
                  <a:srgbClr val="1A1A2E"/>
                </a:solidFill>
                <a:latin typeface="Arial" pitchFamily="34" charset="0"/>
                <a:ea typeface="Arial" pitchFamily="34" charset="-122"/>
                <a:cs typeface="Arial" pitchFamily="34" charset="-120"/>
              </a:rPr>
              <a:t>51% of loans but 10% of profit. Small tickets; Split Pay</a:t>
            </a:r>
            <a:r>
              <a:rPr lang="zh-CN" altLang="en-US" sz="1200" dirty="0">
                <a:solidFill>
                  <a:srgbClr val="1A1A2E"/>
                </a:solidFill>
                <a:latin typeface="Arial" pitchFamily="34" charset="0"/>
                <a:ea typeface="Arial" pitchFamily="34" charset="-122"/>
                <a:cs typeface="Arial" pitchFamily="34" charset="-120"/>
              </a:rPr>
              <a:t> </a:t>
            </a:r>
            <a:r>
              <a:rPr lang="en-US" altLang="zh-CN" sz="1200" dirty="0">
                <a:solidFill>
                  <a:srgbClr val="1A1A2E"/>
                </a:solidFill>
                <a:latin typeface="Arial" pitchFamily="34" charset="0"/>
                <a:ea typeface="Arial" pitchFamily="34" charset="-122"/>
                <a:cs typeface="Arial" pitchFamily="34" charset="-120"/>
              </a:rPr>
              <a:t>dominates and</a:t>
            </a:r>
            <a:r>
              <a:rPr lang="en-US" sz="1200" dirty="0">
                <a:solidFill>
                  <a:srgbClr val="1A1A2E"/>
                </a:solidFill>
                <a:latin typeface="Arial" pitchFamily="34" charset="0"/>
                <a:ea typeface="Arial" pitchFamily="34" charset="-122"/>
                <a:cs typeface="Arial" pitchFamily="34" charset="-120"/>
              </a:rPr>
              <a:t> only earns ~1.2% margin, compared to 7.2% margin of interest-bearing in this vertical.</a:t>
            </a:r>
            <a:endParaRPr lang="en-US" sz="1200" dirty="0"/>
          </a:p>
        </p:txBody>
      </p:sp>
      <p:grpSp>
        <p:nvGrpSpPr>
          <p:cNvPr id="20" name="Group 19">
            <a:extLst>
              <a:ext uri="{FF2B5EF4-FFF2-40B4-BE49-F238E27FC236}">
                <a16:creationId xmlns:a16="http://schemas.microsoft.com/office/drawing/2014/main" id="{0C18A404-09AC-51E0-BF1C-A78D27C0BE8F}"/>
              </a:ext>
            </a:extLst>
          </p:cNvPr>
          <p:cNvGrpSpPr/>
          <p:nvPr/>
        </p:nvGrpSpPr>
        <p:grpSpPr>
          <a:xfrm>
            <a:off x="8138158" y="1485900"/>
            <a:ext cx="3504895" cy="1417320"/>
            <a:chOff x="8138160" y="4608576"/>
            <a:chExt cx="3504895" cy="1417320"/>
          </a:xfrm>
        </p:grpSpPr>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txBody>
            <a:bodyPr/>
            <a:lstStyle/>
            <a:p>
              <a:endParaRPr lang="en-CN"/>
            </a:p>
          </p:txBody>
        </p:sp>
        <p:sp>
          <p:nvSpPr>
            <p:cNvPr id="12" name="Text 9"/>
            <p:cNvSpPr txBox="1"/>
            <p:nvPr/>
          </p:nvSpPr>
          <p:spPr>
            <a:xfrm>
              <a:off x="8321040" y="4718304"/>
              <a:ext cx="3139135" cy="347472"/>
            </a:xfrm>
            <a:prstGeom prst="rect">
              <a:avLst/>
            </a:prstGeom>
            <a:noFill/>
            <a:ln/>
          </p:spPr>
          <p:txBody>
            <a:bodyPr wrap="square" lIns="0" tIns="0" rIns="0" bIns="0" rtlCol="0" anchor="ctr"/>
            <a:lstStyle/>
            <a:p>
              <a:pPr marL="0" indent="0">
                <a:buNone/>
              </a:pPr>
              <a:r>
                <a:rPr lang="en-US" sz="1400" b="1" dirty="0">
                  <a:solidFill>
                    <a:srgbClr val="1E8A4C"/>
                  </a:solidFill>
                  <a:latin typeface="Arial" pitchFamily="34" charset="0"/>
                  <a:ea typeface="Arial" pitchFamily="34" charset="-122"/>
                  <a:cs typeface="Arial" pitchFamily="34" charset="-120"/>
                </a:rPr>
                <a:t>Healthcare &amp; home furnishing</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marL="0" indent="0">
                <a:buNone/>
              </a:pPr>
              <a:r>
                <a:rPr lang="en-US" sz="1200" dirty="0">
                  <a:solidFill>
                    <a:srgbClr val="1A1A2E"/>
                  </a:solidFill>
                  <a:latin typeface="Arial" pitchFamily="34" charset="0"/>
                  <a:ea typeface="Arial" pitchFamily="34" charset="-122"/>
                  <a:cs typeface="Arial" pitchFamily="34" charset="-120"/>
                </a:rPr>
                <a:t>Low loss (1.3–2.0%) with high revenue. A healthcare customer is worth ~$215 in profit over their loans.</a:t>
              </a:r>
              <a:endParaRPr lang="en-US" sz="1200" dirty="0"/>
            </a:p>
          </p:txBody>
        </p:sp>
      </p:grpSp>
      <p:sp>
        <p:nvSpPr>
          <p:cNvPr id="14" name="Text 11"/>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Note:</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a:t>
            </a:r>
          </a:p>
          <a:p>
            <a:pPr marL="228600" indent="-228600">
              <a:buAutoNum type="arabicPeriod"/>
            </a:pPr>
            <a:r>
              <a:rPr lang="en-US" sz="1000" dirty="0">
                <a:solidFill>
                  <a:srgbClr val="5B5B73"/>
                </a:solidFill>
                <a:latin typeface="Arial" pitchFamily="34" charset="0"/>
                <a:cs typeface="Arial" pitchFamily="34" charset="-120"/>
              </a:rPr>
              <a:t>Data source: script part2 2.1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4A4AF4"/>
                </a:solidFill>
                <a:latin typeface="Arial" pitchFamily="34" charset="0"/>
                <a:ea typeface="Arial" pitchFamily="34" charset="-122"/>
                <a:cs typeface="Arial" pitchFamily="34" charset="-120"/>
              </a:rPr>
              <a:t>WHERE VALUE SITS BY PRODUCT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Interest-bearing earns 82% of profit; 0% APR gives up interest without a higher merchant fee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897638131"/>
              </p:ext>
            </p:extLst>
          </p:nvPr>
        </p:nvGraphicFramePr>
        <p:xfrm>
          <a:off x="548640" y="1463040"/>
          <a:ext cx="11094415" cy="2611120"/>
        </p:xfrm>
        <a:graphic>
          <a:graphicData uri="http://schemas.openxmlformats.org/drawingml/2006/table">
            <a:tbl>
              <a:tblPr/>
              <a:tblGrid>
                <a:gridCol w="1828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23444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gridCol w="1097280">
                  <a:extLst>
                    <a:ext uri="{9D8B030D-6E8A-4147-A177-3AD203B41FA5}">
                      <a16:colId xmlns:a16="http://schemas.microsoft.com/office/drawing/2014/main" val="20007"/>
                    </a:ext>
                  </a:extLst>
                </a:gridCol>
                <a:gridCol w="1356055">
                  <a:extLst>
                    <a:ext uri="{9D8B030D-6E8A-4147-A177-3AD203B41FA5}">
                      <a16:colId xmlns:a16="http://schemas.microsoft.com/office/drawing/2014/main" val="20008"/>
                    </a:ext>
                  </a:extLst>
                </a:gridCol>
              </a:tblGrid>
              <a:tr h="548640">
                <a:tc rowSpan="2">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Product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Share of loans</a:t>
                      </a:r>
                      <a:r>
                        <a:rPr lang="zh-CN" altLang="en-US" sz="1300" b="1" dirty="0">
                          <a:solidFill>
                            <a:srgbClr val="FFFFFF"/>
                          </a:solidFill>
                          <a:latin typeface="Arial" pitchFamily="34" charset="0"/>
                          <a:ea typeface="Arial" pitchFamily="34" charset="-122"/>
                          <a:cs typeface="Arial" pitchFamily="34" charset="-120"/>
                        </a:rPr>
                        <a:t> </a:t>
                      </a:r>
                      <a:r>
                        <a:rPr lang="en-US" altLang="zh-CN"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Share of GMV</a:t>
                      </a:r>
                      <a:r>
                        <a:rPr lang="zh-CN" altLang="en-US" sz="1300" b="1" dirty="0">
                          <a:solidFill>
                            <a:srgbClr val="FFFFFF"/>
                          </a:solidFill>
                          <a:latin typeface="Arial" pitchFamily="34" charset="0"/>
                          <a:ea typeface="Arial" pitchFamily="34" charset="-122"/>
                          <a:cs typeface="Arial" pitchFamily="34" charset="-120"/>
                        </a:rPr>
                        <a:t> </a:t>
                      </a:r>
                      <a:r>
                        <a:rPr lang="en-US" altLang="zh-CN"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Avg FICO</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Merchant fee</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Interest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rowSpan="2">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10000"/>
                  </a:ext>
                </a:extLst>
              </a:tr>
              <a:tr h="416560">
                <a:tc vMerge="1">
                  <a:txBody>
                    <a:bodyPr/>
                    <a:lstStyle/>
                    <a:p>
                      <a:pPr marL="0" indent="0" algn="l">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FFFFFF"/>
                          </a:solidFill>
                          <a:effectLst/>
                          <a:uLnTx/>
                          <a:uFillTx/>
                          <a:latin typeface="Arial" pitchFamily="34" charset="0"/>
                          <a:ea typeface="Arial" charset="0"/>
                          <a:cs typeface="Arial" pitchFamily="34" charset="-120"/>
                        </a:rPr>
                        <a:t>Seasoned loans, originated by Jun ‘25</a:t>
                      </a: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h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h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h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vMerge="1">
                  <a:txBody>
                    <a:bodyPr/>
                    <a:lstStyle/>
                    <a:p>
                      <a:pPr marL="0" indent="0" algn="ctr">
                        <a:buNone/>
                      </a:pP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3564987660"/>
                  </a:ext>
                </a:extLst>
              </a:tr>
              <a:tr h="548640">
                <a:tc>
                  <a:txBody>
                    <a:bodyPr/>
                    <a:lstStyle/>
                    <a:p>
                      <a:pPr marL="0" indent="0" algn="l">
                        <a:buNone/>
                      </a:pPr>
                      <a:r>
                        <a:rPr lang="en-US" sz="1300" b="1" dirty="0">
                          <a:solidFill>
                            <a:srgbClr val="1A1A2E"/>
                          </a:solidFill>
                          <a:latin typeface="Arial" pitchFamily="34" charset="0"/>
                          <a:ea typeface="Arial" pitchFamily="34" charset="-122"/>
                          <a:cs typeface="Arial" pitchFamily="34" charset="-120"/>
                        </a:rPr>
                        <a:t>Interest-bearing</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48%</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58%</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644</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2.8%</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6.2%</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8A4C"/>
                          </a:solidFill>
                          <a:latin typeface="Arial" pitchFamily="34" charset="0"/>
                          <a:ea typeface="Arial" pitchFamily="34" charset="-122"/>
                          <a:cs typeface="Arial" pitchFamily="34" charset="-120"/>
                        </a:rPr>
                        <a:t>9.3%</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8A4C"/>
                          </a:solidFill>
                          <a:latin typeface="Arial" pitchFamily="34" charset="0"/>
                          <a:ea typeface="Arial" pitchFamily="34" charset="-122"/>
                          <a:cs typeface="Arial" pitchFamily="34" charset="-120"/>
                        </a:rPr>
                        <a:t>11.3%</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E8A4C"/>
                          </a:solidFill>
                          <a:latin typeface="Arial" pitchFamily="34" charset="0"/>
                          <a:ea typeface="Arial" pitchFamily="34" charset="-122"/>
                          <a:cs typeface="Arial" pitchFamily="34" charset="-120"/>
                        </a:rPr>
                        <a:t>82%</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300" b="1" dirty="0">
                          <a:solidFill>
                            <a:srgbClr val="1A1A2E"/>
                          </a:solidFill>
                          <a:latin typeface="Arial" pitchFamily="34" charset="0"/>
                          <a:ea typeface="Arial" pitchFamily="34" charset="-122"/>
                          <a:cs typeface="Arial" pitchFamily="34" charset="-120"/>
                        </a:rPr>
                        <a:t>0% APR</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11%</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b="1" dirty="0">
                          <a:solidFill>
                            <a:srgbClr val="1E8A4C"/>
                          </a:solidFill>
                          <a:latin typeface="Arial" pitchFamily="34" charset="0"/>
                          <a:ea typeface="Arial" pitchFamily="34" charset="-122"/>
                          <a:cs typeface="Arial" pitchFamily="34" charset="-120"/>
                        </a:rPr>
                        <a:t>683</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b="1" dirty="0">
                          <a:solidFill>
                            <a:srgbClr val="1E8A4C"/>
                          </a:solidFill>
                          <a:latin typeface="Arial" pitchFamily="34" charset="0"/>
                          <a:ea typeface="Arial" pitchFamily="34" charset="-122"/>
                          <a:cs typeface="Arial" pitchFamily="34" charset="-120"/>
                        </a:rPr>
                        <a:t>0.7%</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b="1" dirty="0">
                          <a:solidFill>
                            <a:srgbClr val="C93B3B"/>
                          </a:solidFill>
                          <a:latin typeface="Arial" pitchFamily="34" charset="0"/>
                          <a:ea typeface="Arial" pitchFamily="34" charset="-122"/>
                          <a:cs typeface="Arial" pitchFamily="34" charset="-120"/>
                        </a:rPr>
                        <a:t>5.7%</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b="1" dirty="0">
                          <a:solidFill>
                            <a:srgbClr val="C93B3B"/>
                          </a:solidFill>
                          <a:latin typeface="Arial" pitchFamily="34" charset="0"/>
                          <a:ea typeface="Arial" pitchFamily="34" charset="-122"/>
                          <a:cs typeface="Arial" pitchFamily="34" charset="-120"/>
                        </a:rPr>
                        <a:t>3.7%</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2"/>
                  </a:ext>
                </a:extLst>
              </a:tr>
              <a:tr h="548640">
                <a:tc>
                  <a:txBody>
                    <a:bodyPr/>
                    <a:lstStyle/>
                    <a:p>
                      <a:pPr marL="0" indent="0" algn="l">
                        <a:buNone/>
                      </a:pPr>
                      <a:r>
                        <a:rPr lang="en-US" sz="1300" b="1" dirty="0">
                          <a:solidFill>
                            <a:srgbClr val="1A1A2E"/>
                          </a:solidFill>
                          <a:latin typeface="Arial" pitchFamily="34" charset="0"/>
                          <a:ea typeface="Arial" pitchFamily="34" charset="-122"/>
                          <a:cs typeface="Arial" pitchFamily="34" charset="-120"/>
                        </a:rPr>
                        <a:t>Split Pay</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656</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C93B3B"/>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A1A2E"/>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 name="Shape 2"/>
          <p:cNvSpPr/>
          <p:nvPr/>
        </p:nvSpPr>
        <p:spPr>
          <a:xfrm>
            <a:off x="548640" y="4175760"/>
            <a:ext cx="3515258" cy="1874520"/>
          </a:xfrm>
          <a:prstGeom prst="roundRect">
            <a:avLst>
              <a:gd name="adj" fmla="val 5854"/>
            </a:avLst>
          </a:prstGeom>
          <a:solidFill>
            <a:srgbClr val="F6F6FE"/>
          </a:solidFill>
          <a:ln w="12700">
            <a:solidFill>
              <a:srgbClr val="F6F6FE"/>
            </a:solidFill>
            <a:prstDash val="solid"/>
          </a:ln>
        </p:spPr>
        <p:txBody>
          <a:bodyPr/>
          <a:lstStyle/>
          <a:p>
            <a:endParaRPr lang="en-CN"/>
          </a:p>
        </p:txBody>
      </p:sp>
      <p:sp>
        <p:nvSpPr>
          <p:cNvPr id="6" name="Text 3"/>
          <p:cNvSpPr txBox="1"/>
          <p:nvPr/>
        </p:nvSpPr>
        <p:spPr>
          <a:xfrm>
            <a:off x="777240" y="4312920"/>
            <a:ext cx="3058058" cy="365760"/>
          </a:xfrm>
          <a:prstGeom prst="rect">
            <a:avLst/>
          </a:prstGeom>
          <a:noFill/>
          <a:ln/>
        </p:spPr>
        <p:txBody>
          <a:bodyPr wrap="square" lIns="0" tIns="0" rIns="0" bIns="0" rtlCol="0" anchor="ctr"/>
          <a:lstStyle/>
          <a:p>
            <a:pPr marL="0" indent="0">
              <a:buNone/>
            </a:pPr>
            <a:r>
              <a:rPr lang="en-US" sz="1400" b="1" dirty="0">
                <a:solidFill>
                  <a:srgbClr val="C93B3B"/>
                </a:solidFill>
                <a:latin typeface="Arial" pitchFamily="34" charset="0"/>
                <a:ea typeface="Arial" pitchFamily="34" charset="-122"/>
                <a:cs typeface="Arial" pitchFamily="34" charset="-120"/>
              </a:rPr>
              <a:t>0% APR is under-priced</a:t>
            </a:r>
            <a:endParaRPr lang="en-US" sz="1400" dirty="0"/>
          </a:p>
        </p:txBody>
      </p:sp>
      <p:sp>
        <p:nvSpPr>
          <p:cNvPr id="7" name="Text 4"/>
          <p:cNvSpPr txBox="1"/>
          <p:nvPr/>
        </p:nvSpPr>
        <p:spPr>
          <a:xfrm>
            <a:off x="777240" y="4724400"/>
            <a:ext cx="3058058" cy="1234440"/>
          </a:xfrm>
          <a:prstGeom prst="rect">
            <a:avLst/>
          </a:prstGeom>
          <a:noFill/>
          <a:ln/>
        </p:spPr>
        <p:txBody>
          <a:bodyPr wrap="square" lIns="0" tIns="0" rIns="0" bIns="0" rtlCol="0" anchor="t"/>
          <a:lstStyle/>
          <a:p>
            <a:pPr marL="0" indent="0">
              <a:buNone/>
            </a:pPr>
            <a:r>
              <a:rPr lang="en-US" sz="1200" dirty="0">
                <a:solidFill>
                  <a:srgbClr val="1A1A2E"/>
                </a:solidFill>
                <a:latin typeface="Arial" pitchFamily="34" charset="0"/>
                <a:ea typeface="Arial" pitchFamily="34" charset="-122"/>
                <a:cs typeface="Arial" pitchFamily="34" charset="-120"/>
              </a:rPr>
              <a:t>Lowest risk (FICO 683, 0.7% loss), but no interest and a 12–18 months term to fund. </a:t>
            </a:r>
          </a:p>
          <a:p>
            <a:pPr marL="0" indent="0">
              <a:buNone/>
            </a:pPr>
            <a:endParaRPr lang="en-US" sz="1200" dirty="0">
              <a:solidFill>
                <a:srgbClr val="1A1A2E"/>
              </a:solidFill>
              <a:latin typeface="Arial" pitchFamily="34" charset="0"/>
              <a:ea typeface="Arial" pitchFamily="34" charset="-122"/>
              <a:cs typeface="Arial" pitchFamily="34" charset="-120"/>
            </a:endParaRPr>
          </a:p>
          <a:p>
            <a:pPr marL="0" indent="0">
              <a:buNone/>
            </a:pPr>
            <a:r>
              <a:rPr lang="en-US" sz="1200" dirty="0">
                <a:solidFill>
                  <a:srgbClr val="1A1A2E"/>
                </a:solidFill>
                <a:latin typeface="Arial" pitchFamily="34" charset="0"/>
                <a:ea typeface="Arial" pitchFamily="34" charset="-122"/>
                <a:cs typeface="Arial" pitchFamily="34" charset="-120"/>
              </a:rPr>
              <a:t>The promo is meant to be paid for by higher MDR, but for the 15 promo merchants 0% APR MDR averages 5.1% vs 5.5% for I-B</a:t>
            </a:r>
            <a:endParaRPr lang="en-US" sz="1200" dirty="0"/>
          </a:p>
        </p:txBody>
      </p:sp>
      <p:sp>
        <p:nvSpPr>
          <p:cNvPr id="8" name="Shape 5"/>
          <p:cNvSpPr/>
          <p:nvPr/>
        </p:nvSpPr>
        <p:spPr>
          <a:xfrm>
            <a:off x="4338218" y="4175760"/>
            <a:ext cx="3515258" cy="1874520"/>
          </a:xfrm>
          <a:prstGeom prst="roundRect">
            <a:avLst>
              <a:gd name="adj" fmla="val 5854"/>
            </a:avLst>
          </a:prstGeom>
          <a:solidFill>
            <a:srgbClr val="F6F6FE"/>
          </a:solidFill>
          <a:ln w="12700">
            <a:solidFill>
              <a:srgbClr val="F6F6FE"/>
            </a:solidFill>
            <a:prstDash val="solid"/>
          </a:ln>
        </p:spPr>
        <p:txBody>
          <a:bodyPr/>
          <a:lstStyle/>
          <a:p>
            <a:endParaRPr lang="en-CN"/>
          </a:p>
        </p:txBody>
      </p:sp>
      <p:sp>
        <p:nvSpPr>
          <p:cNvPr id="9" name="Text 6"/>
          <p:cNvSpPr txBox="1"/>
          <p:nvPr/>
        </p:nvSpPr>
        <p:spPr>
          <a:xfrm>
            <a:off x="4566818" y="4312920"/>
            <a:ext cx="3058058" cy="365760"/>
          </a:xfrm>
          <a:prstGeom prst="rect">
            <a:avLst/>
          </a:prstGeom>
          <a:noFill/>
          <a:ln/>
        </p:spPr>
        <p:txBody>
          <a:bodyPr wrap="square" lIns="0" tIns="0" rIns="0" bIns="0" rtlCol="0" anchor="ctr"/>
          <a:lstStyle/>
          <a:p>
            <a:pPr marL="0" indent="0">
              <a:buNone/>
            </a:pPr>
            <a:r>
              <a:rPr lang="en-US" sz="1400" b="1" dirty="0">
                <a:solidFill>
                  <a:srgbClr val="4A4AF4"/>
                </a:solidFill>
                <a:latin typeface="Arial" pitchFamily="34" charset="0"/>
                <a:ea typeface="Arial" pitchFamily="34" charset="-122"/>
                <a:cs typeface="Arial" pitchFamily="34" charset="-120"/>
              </a:rPr>
              <a:t>Split Pay is an entry product</a:t>
            </a:r>
            <a:endParaRPr lang="en-US" sz="1400" dirty="0"/>
          </a:p>
        </p:txBody>
      </p:sp>
      <p:sp>
        <p:nvSpPr>
          <p:cNvPr id="10" name="Text 7"/>
          <p:cNvSpPr txBox="1"/>
          <p:nvPr/>
        </p:nvSpPr>
        <p:spPr>
          <a:xfrm>
            <a:off x="4566818" y="4724400"/>
            <a:ext cx="3058058" cy="1234440"/>
          </a:xfrm>
          <a:prstGeom prst="rect">
            <a:avLst/>
          </a:prstGeom>
          <a:noFill/>
          <a:ln/>
        </p:spPr>
        <p:txBody>
          <a:bodyPr wrap="square" lIns="0" tIns="0" rIns="0" bIns="0" rtlCol="0" anchor="t"/>
          <a:lstStyle/>
          <a:p>
            <a:pPr marL="0" indent="0">
              <a:buNone/>
            </a:pPr>
            <a:r>
              <a:rPr lang="en-US" sz="1200" dirty="0">
                <a:solidFill>
                  <a:srgbClr val="1A1A2E"/>
                </a:solidFill>
                <a:latin typeface="Arial" pitchFamily="34" charset="0"/>
                <a:ea typeface="Arial" pitchFamily="34" charset="-122"/>
                <a:cs typeface="Arial" pitchFamily="34" charset="-120"/>
              </a:rPr>
              <a:t>Thin margin (2.4%) with loss as high as interest-bearing, but 63% of customers who start with Split Pay take an interest-bearing loan next.</a:t>
            </a:r>
            <a:endParaRPr lang="en-US" sz="1200" dirty="0"/>
          </a:p>
        </p:txBody>
      </p:sp>
      <p:sp>
        <p:nvSpPr>
          <p:cNvPr id="11" name="Shape 8"/>
          <p:cNvSpPr/>
          <p:nvPr/>
        </p:nvSpPr>
        <p:spPr>
          <a:xfrm>
            <a:off x="8127797" y="4175760"/>
            <a:ext cx="3515258" cy="1874520"/>
          </a:xfrm>
          <a:prstGeom prst="roundRect">
            <a:avLst>
              <a:gd name="adj" fmla="val 5854"/>
            </a:avLst>
          </a:prstGeom>
          <a:solidFill>
            <a:srgbClr val="F6F6FE"/>
          </a:solidFill>
          <a:ln w="12700">
            <a:solidFill>
              <a:srgbClr val="F6F6FE"/>
            </a:solidFill>
            <a:prstDash val="solid"/>
          </a:ln>
        </p:spPr>
        <p:txBody>
          <a:bodyPr/>
          <a:lstStyle/>
          <a:p>
            <a:endParaRPr lang="en-CN"/>
          </a:p>
        </p:txBody>
      </p:sp>
      <p:sp>
        <p:nvSpPr>
          <p:cNvPr id="12" name="Text 9"/>
          <p:cNvSpPr txBox="1"/>
          <p:nvPr/>
        </p:nvSpPr>
        <p:spPr>
          <a:xfrm>
            <a:off x="8356397" y="4312920"/>
            <a:ext cx="3058058" cy="365760"/>
          </a:xfrm>
          <a:prstGeom prst="rect">
            <a:avLst/>
          </a:prstGeom>
          <a:noFill/>
          <a:ln/>
        </p:spPr>
        <p:txBody>
          <a:bodyPr wrap="square" lIns="0" tIns="0" rIns="0" bIns="0" rtlCol="0" anchor="ctr"/>
          <a:lstStyle/>
          <a:p>
            <a:pPr marL="0" indent="0">
              <a:buNone/>
            </a:pPr>
            <a:r>
              <a:rPr lang="en-US" sz="1400" b="1" dirty="0">
                <a:solidFill>
                  <a:srgbClr val="1E8A4C"/>
                </a:solidFill>
                <a:latin typeface="Arial" pitchFamily="34" charset="0"/>
                <a:ea typeface="Arial" pitchFamily="34" charset="-122"/>
                <a:cs typeface="Arial" pitchFamily="34" charset="-120"/>
              </a:rPr>
              <a:t>Interest-bearing pays for the risk</a:t>
            </a:r>
            <a:endParaRPr lang="en-US" sz="1400" dirty="0"/>
          </a:p>
        </p:txBody>
      </p:sp>
      <p:sp>
        <p:nvSpPr>
          <p:cNvPr id="13" name="Text 10"/>
          <p:cNvSpPr txBox="1"/>
          <p:nvPr/>
        </p:nvSpPr>
        <p:spPr>
          <a:xfrm>
            <a:off x="8356397" y="4724400"/>
            <a:ext cx="3058058" cy="1234440"/>
          </a:xfrm>
          <a:prstGeom prst="rect">
            <a:avLst/>
          </a:prstGeom>
          <a:noFill/>
          <a:ln/>
        </p:spPr>
        <p:txBody>
          <a:bodyPr wrap="square" lIns="0" tIns="0" rIns="0" bIns="0" rtlCol="0" anchor="t"/>
          <a:lstStyle/>
          <a:p>
            <a:pPr marL="0" indent="0">
              <a:buNone/>
            </a:pPr>
            <a:r>
              <a:rPr lang="en-US" sz="1200" dirty="0">
                <a:solidFill>
                  <a:srgbClr val="1A1A2E"/>
                </a:solidFill>
                <a:latin typeface="Arial" pitchFamily="34" charset="0"/>
                <a:ea typeface="Arial" pitchFamily="34" charset="-122"/>
                <a:cs typeface="Arial" pitchFamily="34" charset="-120"/>
              </a:rPr>
              <a:t>Highest loss (2.38) is more than covered by 9.3% interest income — 58% of GMV, 82% of profit.</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Note:</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Merchant fee and interest are % of GMV (dollar-weighted). Same-merchant comparison uses merchants have promo program. </a:t>
            </a:r>
          </a:p>
          <a:p>
            <a:pPr marL="228600" indent="-228600">
              <a:buAutoNum type="arabicPeriod"/>
            </a:pPr>
            <a:r>
              <a:rPr lang="en-US" sz="1000" dirty="0">
                <a:solidFill>
                  <a:srgbClr val="5B5B73"/>
                </a:solidFill>
                <a:latin typeface="Arial" pitchFamily="34" charset="0"/>
                <a:cs typeface="Arial" pitchFamily="34" charset="-120"/>
              </a:rPr>
              <a:t>Data source: script part2 2.2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p:cNvGraphicFramePr/>
          <p:nvPr/>
        </p:nvGraphicFramePr>
        <p:xfrm>
          <a:off x="548640" y="1417320"/>
          <a:ext cx="603504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040880" y="1417320"/>
            <a:ext cx="4602175" cy="987552"/>
          </a:xfrm>
          <a:prstGeom prst="roundRect">
            <a:avLst>
              <a:gd name="adj" fmla="val 11111"/>
            </a:avLst>
          </a:prstGeom>
          <a:solidFill>
            <a:srgbClr val="ECECFE"/>
          </a:solidFill>
          <a:ln w="12700">
            <a:solidFill>
              <a:srgbClr val="ECECFE"/>
            </a:solidFill>
            <a:prstDash val="solid"/>
          </a:ln>
        </p:spPr>
        <p:txBody>
          <a:bodyPr/>
          <a:lstStyle/>
          <a:p>
            <a:endParaRPr lang="en-CN"/>
          </a:p>
        </p:txBody>
      </p:sp>
      <p:sp>
        <p:nvSpPr>
          <p:cNvPr id="6" name="Text 3"/>
          <p:cNvSpPr txBox="1"/>
          <p:nvPr/>
        </p:nvSpPr>
        <p:spPr>
          <a:xfrm>
            <a:off x="7269480" y="1490472"/>
            <a:ext cx="4144975" cy="438912"/>
          </a:xfrm>
          <a:prstGeom prst="rect">
            <a:avLst/>
          </a:prstGeom>
          <a:noFill/>
          <a:ln/>
        </p:spPr>
        <p:txBody>
          <a:bodyPr wrap="square" lIns="0" tIns="0" rIns="0" bIns="0" rtlCol="0" anchor="ctr"/>
          <a:lstStyle/>
          <a:p>
            <a:pPr marL="0" indent="0">
              <a:buNone/>
            </a:pPr>
            <a:r>
              <a:rPr lang="en-US" sz="2400" b="1" dirty="0">
                <a:solidFill>
                  <a:srgbClr val="4A4AF4"/>
                </a:solidFill>
                <a:latin typeface="Arial" pitchFamily="34" charset="0"/>
                <a:ea typeface="Arial" pitchFamily="34" charset="-122"/>
                <a:cs typeface="Arial" pitchFamily="34" charset="-120"/>
              </a:rPr>
              <a:t>2.6% vs 1.0%</a:t>
            </a:r>
            <a:endParaRPr lang="en-US" sz="2400" dirty="0"/>
          </a:p>
        </p:txBody>
      </p:sp>
      <p:sp>
        <p:nvSpPr>
          <p:cNvPr id="7" name="Text 4"/>
          <p:cNvSpPr txBox="1"/>
          <p:nvPr/>
        </p:nvSpPr>
        <p:spPr>
          <a:xfrm>
            <a:off x="7269480" y="1929384"/>
            <a:ext cx="4144975" cy="420624"/>
          </a:xfrm>
          <a:prstGeom prst="rect">
            <a:avLst/>
          </a:prstGeom>
          <a:noFill/>
          <a:ln/>
        </p:spPr>
        <p:txBody>
          <a:bodyPr wrap="square" lIns="0" tIns="0" rIns="0" bIns="0" rtlCol="0" anchor="t"/>
          <a:lstStyle/>
          <a:p>
            <a:pPr marL="0" indent="0">
              <a:buNone/>
            </a:pPr>
            <a:r>
              <a:rPr lang="en-US" sz="115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150" dirty="0"/>
          </a:p>
        </p:txBody>
      </p:sp>
      <p:sp>
        <p:nvSpPr>
          <p:cNvPr id="8" name="Shape 5"/>
          <p:cNvSpPr/>
          <p:nvPr/>
        </p:nvSpPr>
        <p:spPr>
          <a:xfrm>
            <a:off x="7040880" y="2532888"/>
            <a:ext cx="4602175" cy="987552"/>
          </a:xfrm>
          <a:prstGeom prst="roundRect">
            <a:avLst>
              <a:gd name="adj" fmla="val 11111"/>
            </a:avLst>
          </a:prstGeom>
          <a:solidFill>
            <a:srgbClr val="ECECFE"/>
          </a:solidFill>
          <a:ln w="12700">
            <a:solidFill>
              <a:srgbClr val="ECECFE"/>
            </a:solidFill>
            <a:prstDash val="solid"/>
          </a:ln>
        </p:spPr>
        <p:txBody>
          <a:bodyPr/>
          <a:lstStyle/>
          <a:p>
            <a:endParaRPr lang="en-CN"/>
          </a:p>
        </p:txBody>
      </p:sp>
      <p:sp>
        <p:nvSpPr>
          <p:cNvPr id="9" name="Text 6"/>
          <p:cNvSpPr txBox="1"/>
          <p:nvPr/>
        </p:nvSpPr>
        <p:spPr>
          <a:xfrm>
            <a:off x="7269480" y="2606040"/>
            <a:ext cx="4144975" cy="438912"/>
          </a:xfrm>
          <a:prstGeom prst="rect">
            <a:avLst/>
          </a:prstGeom>
          <a:noFill/>
          <a:ln/>
        </p:spPr>
        <p:txBody>
          <a:bodyPr wrap="square" lIns="0" tIns="0" rIns="0" bIns="0" rtlCol="0" anchor="ctr"/>
          <a:lstStyle/>
          <a:p>
            <a:pPr marL="0" indent="0">
              <a:buNone/>
            </a:pPr>
            <a:r>
              <a:rPr lang="en-US" sz="2400" b="1" dirty="0">
                <a:solidFill>
                  <a:srgbClr val="4A4AF4"/>
                </a:solidFill>
                <a:latin typeface="Arial" pitchFamily="34" charset="0"/>
                <a:ea typeface="Arial" pitchFamily="34" charset="-122"/>
                <a:cs typeface="Arial" pitchFamily="34" charset="-120"/>
              </a:rPr>
              <a:t>82%</a:t>
            </a:r>
            <a:endParaRPr lang="en-US" sz="2400" dirty="0"/>
          </a:p>
        </p:txBody>
      </p:sp>
      <p:sp>
        <p:nvSpPr>
          <p:cNvPr id="10" name="Text 7"/>
          <p:cNvSpPr txBox="1"/>
          <p:nvPr/>
        </p:nvSpPr>
        <p:spPr>
          <a:xfrm>
            <a:off x="7269480" y="3044952"/>
            <a:ext cx="4144975" cy="420624"/>
          </a:xfrm>
          <a:prstGeom prst="rect">
            <a:avLst/>
          </a:prstGeom>
          <a:noFill/>
          <a:ln/>
        </p:spPr>
        <p:txBody>
          <a:bodyPr wrap="square" lIns="0" tIns="0" rIns="0" bIns="0" rtlCol="0" anchor="t"/>
          <a:lstStyle/>
          <a:p>
            <a:pPr marL="0" indent="0">
              <a:buNone/>
            </a:pPr>
            <a:r>
              <a:rPr lang="en-US" sz="1150" dirty="0">
                <a:solidFill>
                  <a:srgbClr val="1A1A2E"/>
                </a:solidFill>
                <a:latin typeface="Arial" pitchFamily="34" charset="0"/>
                <a:ea typeface="Arial" pitchFamily="34" charset="-122"/>
                <a:cs typeface="Arial" pitchFamily="34" charset="-120"/>
              </a:rPr>
              <a:t>of credit loss dollars come from first loans</a:t>
            </a:r>
            <a:endParaRPr lang="en-US" sz="1150" dirty="0"/>
          </a:p>
        </p:txBody>
      </p:sp>
      <p:sp>
        <p:nvSpPr>
          <p:cNvPr id="11" name="Shape 8"/>
          <p:cNvSpPr/>
          <p:nvPr/>
        </p:nvSpPr>
        <p:spPr>
          <a:xfrm>
            <a:off x="7040880" y="3648456"/>
            <a:ext cx="4602175" cy="987552"/>
          </a:xfrm>
          <a:prstGeom prst="roundRect">
            <a:avLst>
              <a:gd name="adj" fmla="val 11111"/>
            </a:avLst>
          </a:prstGeom>
          <a:solidFill>
            <a:srgbClr val="ECECFE"/>
          </a:solidFill>
          <a:ln w="12700">
            <a:solidFill>
              <a:srgbClr val="ECECFE"/>
            </a:solidFill>
            <a:prstDash val="solid"/>
          </a:ln>
        </p:spPr>
        <p:txBody>
          <a:bodyPr/>
          <a:lstStyle/>
          <a:p>
            <a:endParaRPr lang="en-CN"/>
          </a:p>
        </p:txBody>
      </p:sp>
      <p:sp>
        <p:nvSpPr>
          <p:cNvPr id="12" name="Text 9"/>
          <p:cNvSpPr txBox="1"/>
          <p:nvPr/>
        </p:nvSpPr>
        <p:spPr>
          <a:xfrm>
            <a:off x="7269480" y="3721608"/>
            <a:ext cx="4144975" cy="438912"/>
          </a:xfrm>
          <a:prstGeom prst="rect">
            <a:avLst/>
          </a:prstGeom>
          <a:noFill/>
          <a:ln/>
        </p:spPr>
        <p:txBody>
          <a:bodyPr wrap="square" lIns="0" tIns="0" rIns="0" bIns="0" rtlCol="0" anchor="ctr"/>
          <a:lstStyle/>
          <a:p>
            <a:pPr marL="0" indent="0">
              <a:buNone/>
            </a:pPr>
            <a:r>
              <a:rPr lang="en-US" sz="2400" b="1" dirty="0">
                <a:solidFill>
                  <a:srgbClr val="4A4AF4"/>
                </a:solidFill>
                <a:latin typeface="Arial" pitchFamily="34" charset="0"/>
                <a:ea typeface="Arial" pitchFamily="34" charset="-122"/>
                <a:cs typeface="Arial" pitchFamily="34" charset="-120"/>
              </a:rPr>
              <a:t>63%</a:t>
            </a:r>
            <a:endParaRPr lang="en-US" sz="2400" dirty="0"/>
          </a:p>
        </p:txBody>
      </p:sp>
      <p:sp>
        <p:nvSpPr>
          <p:cNvPr id="13" name="Text 10"/>
          <p:cNvSpPr txBox="1"/>
          <p:nvPr/>
        </p:nvSpPr>
        <p:spPr>
          <a:xfrm>
            <a:off x="7269480" y="4160520"/>
            <a:ext cx="4144975" cy="420624"/>
          </a:xfrm>
          <a:prstGeom prst="rect">
            <a:avLst/>
          </a:prstGeom>
          <a:noFill/>
          <a:ln/>
        </p:spPr>
        <p:txBody>
          <a:bodyPr wrap="square" lIns="0" tIns="0" rIns="0" bIns="0" rtlCol="0" anchor="t"/>
          <a:lstStyle/>
          <a:p>
            <a:pPr marL="0" indent="0">
              <a:buNone/>
            </a:pPr>
            <a:r>
              <a:rPr lang="en-US" sz="1150" dirty="0">
                <a:solidFill>
                  <a:srgbClr val="1A1A2E"/>
                </a:solidFill>
                <a:latin typeface="Arial" pitchFamily="34" charset="0"/>
                <a:ea typeface="Arial" pitchFamily="34" charset="-122"/>
                <a:cs typeface="Arial" pitchFamily="34" charset="-120"/>
              </a:rPr>
              <a:t>of customers who start with Split Pay (margin 2.4%) take an interest-bearing loan (margin11.3%) next</a:t>
            </a:r>
            <a:endParaRPr lang="en-US" sz="1150" dirty="0"/>
          </a:p>
        </p:txBody>
      </p:sp>
      <p:sp>
        <p:nvSpPr>
          <p:cNvPr id="14" name="Shape 11"/>
          <p:cNvSpPr/>
          <p:nvPr/>
        </p:nvSpPr>
        <p:spPr>
          <a:xfrm>
            <a:off x="7040880" y="4764024"/>
            <a:ext cx="4602175" cy="987552"/>
          </a:xfrm>
          <a:prstGeom prst="roundRect">
            <a:avLst>
              <a:gd name="adj" fmla="val 11111"/>
            </a:avLst>
          </a:prstGeom>
          <a:solidFill>
            <a:srgbClr val="ECECFE"/>
          </a:solidFill>
          <a:ln w="12700">
            <a:solidFill>
              <a:srgbClr val="ECECFE"/>
            </a:solidFill>
            <a:prstDash val="solid"/>
          </a:ln>
        </p:spPr>
        <p:txBody>
          <a:bodyPr/>
          <a:lstStyle/>
          <a:p>
            <a:endParaRPr lang="en-CN"/>
          </a:p>
        </p:txBody>
      </p:sp>
      <p:sp>
        <p:nvSpPr>
          <p:cNvPr id="15" name="Text 12"/>
          <p:cNvSpPr txBox="1"/>
          <p:nvPr/>
        </p:nvSpPr>
        <p:spPr>
          <a:xfrm>
            <a:off x="7269480" y="4837176"/>
            <a:ext cx="4144975" cy="438912"/>
          </a:xfrm>
          <a:prstGeom prst="rect">
            <a:avLst/>
          </a:prstGeom>
          <a:noFill/>
          <a:ln/>
        </p:spPr>
        <p:txBody>
          <a:bodyPr wrap="square" lIns="0" tIns="0" rIns="0" bIns="0" rtlCol="0" anchor="ctr"/>
          <a:lstStyle/>
          <a:p>
            <a:pPr marL="0" indent="0">
              <a:buNone/>
            </a:pPr>
            <a:r>
              <a:rPr lang="en-US" sz="2400" b="1" dirty="0">
                <a:solidFill>
                  <a:srgbClr val="4A4AF4"/>
                </a:solidFill>
                <a:latin typeface="Arial" pitchFamily="34" charset="0"/>
                <a:ea typeface="Arial" pitchFamily="34" charset="-122"/>
                <a:cs typeface="Arial" pitchFamily="34" charset="-120"/>
              </a:rPr>
              <a:t>86%</a:t>
            </a:r>
            <a:endParaRPr lang="en-US" sz="2400" dirty="0"/>
          </a:p>
        </p:txBody>
      </p:sp>
      <p:sp>
        <p:nvSpPr>
          <p:cNvPr id="16" name="Text 13"/>
          <p:cNvSpPr txBox="1"/>
          <p:nvPr/>
        </p:nvSpPr>
        <p:spPr>
          <a:xfrm>
            <a:off x="7269480" y="5276088"/>
            <a:ext cx="4144975" cy="420624"/>
          </a:xfrm>
          <a:prstGeom prst="rect">
            <a:avLst/>
          </a:prstGeom>
          <a:noFill/>
          <a:ln/>
        </p:spPr>
        <p:txBody>
          <a:bodyPr wrap="square" lIns="0" tIns="0" rIns="0" bIns="0" rtlCol="0" anchor="t"/>
          <a:lstStyle/>
          <a:p>
            <a:pPr marL="0" indent="0">
              <a:buNone/>
            </a:pPr>
            <a:r>
              <a:rPr lang="en-US" sz="1150" dirty="0">
                <a:solidFill>
                  <a:srgbClr val="1A1A2E"/>
                </a:solidFill>
                <a:latin typeface="Arial" pitchFamily="34" charset="0"/>
                <a:ea typeface="Arial" pitchFamily="34" charset="-122"/>
                <a:cs typeface="Arial" pitchFamily="34" charset="-120"/>
              </a:rPr>
              <a:t>of second loans stay in the same vertical — cross-selling is small (Appendix D)</a:t>
            </a:r>
            <a:endParaRPr lang="en-US" sz="1150" dirty="0"/>
          </a:p>
        </p:txBody>
      </p:sp>
      <p:sp>
        <p:nvSpPr>
          <p:cNvPr id="17" name="Text 14"/>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Note:</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Customers whose first loan was by Jun 2025. Repeat rate is set by the vertical, not the product. </a:t>
            </a:r>
          </a:p>
          <a:p>
            <a:pPr marL="228600" indent="-228600">
              <a:buAutoNum type="arabicPeriod"/>
            </a:pPr>
            <a:r>
              <a:rPr lang="en-US" sz="1000" dirty="0">
                <a:solidFill>
                  <a:srgbClr val="5B5B73"/>
                </a:solidFill>
                <a:latin typeface="Arial" pitchFamily="34" charset="0"/>
                <a:ea typeface="Arial" pitchFamily="34" charset="-122"/>
                <a:cs typeface="Arial" pitchFamily="34" charset="-120"/>
              </a:rPr>
              <a:t>Data source: script part2 1.5</a:t>
            </a:r>
          </a:p>
          <a:p>
            <a:pPr marL="0" indent="0">
              <a:buNone/>
            </a:pP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Four moves add ~7–15% profit while lowering the loss rate</a:t>
            </a:r>
            <a:endParaRPr lang="en-US" sz="2600" dirty="0"/>
          </a:p>
        </p:txBody>
      </p:sp>
      <p:graphicFrame>
        <p:nvGraphicFramePr>
          <p:cNvPr id="7" name="Table 0"/>
          <p:cNvGraphicFramePr>
            <a:graphicFrameLocks noGrp="1"/>
          </p:cNvGraphicFramePr>
          <p:nvPr/>
        </p:nvGraphicFramePr>
        <p:xfrm>
          <a:off x="548640" y="1371600"/>
          <a:ext cx="11094415" cy="4453128"/>
        </p:xfrm>
        <a:graphic>
          <a:graphicData uri="http://schemas.openxmlformats.org/drawingml/2006/table">
            <a:tbl>
              <a:tblPr/>
              <a:tblGrid>
                <a:gridCol w="21031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73175">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Move</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Why</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How (conservative / ambitious)</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100" b="1" dirty="0">
                          <a:solidFill>
                            <a:srgbClr val="FFFFFF"/>
                          </a:solidFill>
                          <a:latin typeface="Arial" pitchFamily="34" charset="0"/>
                          <a:ea typeface="Arial" pitchFamily="34" charset="-122"/>
                          <a:cs typeface="Arial" pitchFamily="34" charset="-120"/>
                        </a:rPr>
                        <a:t>GMV</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100" b="1" dirty="0">
                          <a:solidFill>
                            <a:srgbClr val="FFFFFF"/>
                          </a:solidFill>
                          <a:latin typeface="Arial" pitchFamily="34" charset="0"/>
                          <a:ea typeface="Arial" pitchFamily="34" charset="-122"/>
                          <a:cs typeface="Arial" pitchFamily="34" charset="-120"/>
                        </a:rPr>
                        <a:t>Profit</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100" b="1" dirty="0">
                          <a:solidFill>
                            <a:srgbClr val="FFFFFF"/>
                          </a:solidFill>
                          <a:latin typeface="Arial" pitchFamily="34" charset="0"/>
                          <a:ea typeface="Arial" pitchFamily="34" charset="-122"/>
                          <a:cs typeface="Arial" pitchFamily="34" charset="-120"/>
                        </a:rPr>
                        <a:t>Credit loss $</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10000"/>
                  </a:ext>
                </a:extLst>
              </a:tr>
              <a:tr h="960120">
                <a:tc>
                  <a:txBody>
                    <a:bodyPr/>
                    <a:lstStyle/>
                    <a:p>
                      <a:pPr marL="0" indent="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marL="0" indent="0">
                        <a:buNone/>
                      </a:pPr>
                      <a:r>
                        <a:rPr lang="en-US" sz="1100" b="1" dirty="0">
                          <a:solidFill>
                            <a:srgbClr val="1A1A2E"/>
                          </a:solidFill>
                          <a:latin typeface="Arial" pitchFamily="34" charset="0"/>
                          <a:ea typeface="Arial" pitchFamily="34" charset="-122"/>
                          <a:cs typeface="Arial" pitchFamily="34" charset="-120"/>
                        </a:rPr>
                        <a:t>Grow healthcare &amp; home furnishing</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Best risk-adjusted margins (9.8%, 8.2%) with 1.3–2.0% loss</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Each new merchant brings ~57 (healthcare) / ~122 (home) customers a year, ~1 loan each, at ~$176 / ~$78 profit per loan (~$10K per merchant). +10% / +20% GMV ≈ 0.3–0.8 new merchants per vertical</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+$78K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+$155K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+$7.0K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+$14.0K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+$2.7K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buNone/>
                      </a:pPr>
                      <a:r>
                        <a:rPr lang="en-US" sz="950" b="1" dirty="0">
                          <a:solidFill>
                            <a:srgbClr val="1E8A4C"/>
                          </a:solidFill>
                          <a:latin typeface="Arial" pitchFamily="34" charset="0"/>
                          <a:ea typeface="Arial" pitchFamily="34" charset="-122"/>
                          <a:cs typeface="Arial" pitchFamily="34" charset="-120"/>
                        </a:rPr>
                        <a:t>INVEST</a:t>
                      </a:r>
                      <a:endParaRPr lang="en-US" sz="1100" dirty="0">
                        <a:latin typeface="Arial" charset="0"/>
                        <a:ea typeface="Arial" charset="0"/>
                        <a:cs typeface="Arial" charset="0"/>
                      </a:endParaRPr>
                    </a:p>
                    <a:p>
                      <a:pPr marL="0" indent="0">
                        <a:buNone/>
                      </a:pPr>
                      <a:r>
                        <a:rPr lang="en-US" sz="1100" b="1" dirty="0">
                          <a:solidFill>
                            <a:srgbClr val="1A1A2E"/>
                          </a:solidFill>
                          <a:latin typeface="Arial" pitchFamily="34" charset="0"/>
                          <a:ea typeface="Arial" pitchFamily="34" charset="-122"/>
                          <a:cs typeface="Arial" pitchFamily="34" charset="-120"/>
                        </a:rPr>
                        <a:t>Repeat customers</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Repeat loans lose 2.5× less; 82% of loss comes from first loans</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Marketing offers that move repeat Split Pay customers to interest-bearing: +$49 profit per conversion (~145 / ~290 conversions). Plus +5 / +10 pts big-ticket repeat rate (~$126 profit per extra loan)</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+$86K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+$172K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+$12.4K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+$24.9K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b="1" dirty="0">
                          <a:solidFill>
                            <a:srgbClr val="1A1A2E"/>
                          </a:solidFill>
                          <a:latin typeface="Arial" pitchFamily="34" charset="0"/>
                          <a:ea typeface="Arial" pitchFamily="34" charset="-122"/>
                          <a:cs typeface="Arial" pitchFamily="34" charset="-120"/>
                        </a:rPr>
                        <a:t>+$1.3K</a:t>
                      </a:r>
                      <a:endParaRPr lang="en-US" sz="1100" dirty="0">
                        <a:latin typeface="Arial" charset="0"/>
                        <a:ea typeface="Arial" charset="0"/>
                        <a:cs typeface="Arial" charset="0"/>
                      </a:endParaRPr>
                    </a:p>
                    <a:p>
                      <a:pPr marL="0" indent="0" algn="ctr">
                        <a:buNone/>
                      </a:pPr>
                      <a:r>
                        <a:rPr lang="en-US" sz="1100" dirty="0">
                          <a:solidFill>
                            <a:srgbClr val="1A1A2E"/>
                          </a:solidFill>
                          <a:latin typeface="Arial" pitchFamily="34" charset="0"/>
                          <a:ea typeface="Arial" pitchFamily="34" charset="-122"/>
                          <a:cs typeface="Arial" pitchFamily="34" charset="-120"/>
                        </a:rPr>
                        <a:t>+$2.5K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2"/>
                  </a:ext>
                </a:extLst>
              </a:tr>
              <a:tr h="868680">
                <a:tc>
                  <a:txBody>
                    <a:bodyPr/>
                    <a:lstStyle/>
                    <a:p>
                      <a:pPr marL="0" indent="0">
                        <a:buNone/>
                      </a:pPr>
                      <a:r>
                        <a:rPr lang="en-US" sz="950" b="1" dirty="0">
                          <a:solidFill>
                            <a:srgbClr val="C93B3B"/>
                          </a:solidFill>
                          <a:latin typeface="Arial" pitchFamily="34" charset="0"/>
                          <a:ea typeface="Arial" pitchFamily="34" charset="-122"/>
                          <a:cs typeface="Arial" pitchFamily="34" charset="-120"/>
                        </a:rPr>
                        <a:t>TIGHTEN</a:t>
                      </a:r>
                      <a:endParaRPr lang="en-US" sz="1100" dirty="0">
                        <a:latin typeface="Arial" charset="0"/>
                        <a:ea typeface="Arial" charset="0"/>
                        <a:cs typeface="Arial" charset="0"/>
                      </a:endParaRPr>
                    </a:p>
                    <a:p>
                      <a:pPr marL="0" indent="0">
                        <a:buNone/>
                      </a:pPr>
                      <a:r>
                        <a:rPr lang="en-US" sz="1100" b="1" dirty="0">
                          <a:solidFill>
                            <a:srgbClr val="1A1A2E"/>
                          </a:solidFill>
                          <a:latin typeface="Arial" pitchFamily="34" charset="0"/>
                          <a:ea typeface="Arial" pitchFamily="34" charset="-122"/>
                          <a:cs typeface="Arial" pitchFamily="34" charset="-120"/>
                        </a:rPr>
                        <a:t>Travel, FICO &lt; 640</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35% of travel GMV but 64% of its losses (43% bad rate); if delinquents charge off, travel margin falls 9.4% → 5.2%</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Raise the risk model cut-off and lower limits: −25% / −50% segment volume</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93B3B"/>
                          </a:solidFill>
                          <a:latin typeface="Arial" pitchFamily="34" charset="0"/>
                          <a:ea typeface="Arial" pitchFamily="34" charset="-122"/>
                          <a:cs typeface="Arial" pitchFamily="34" charset="-120"/>
                        </a:rPr>
                        <a:t>−$54K</a:t>
                      </a:r>
                      <a:endParaRPr lang="en-US" sz="1100" dirty="0">
                        <a:latin typeface="Arial" charset="0"/>
                        <a:ea typeface="Arial" charset="0"/>
                        <a:cs typeface="Arial" charset="0"/>
                      </a:endParaRPr>
                    </a:p>
                    <a:p>
                      <a:pPr marL="0" indent="0" algn="ctr">
                        <a:buNone/>
                      </a:pPr>
                      <a:r>
                        <a:rPr lang="en-US" sz="1100" dirty="0">
                          <a:solidFill>
                            <a:srgbClr val="C93B3B"/>
                          </a:solidFill>
                          <a:latin typeface="Arial" pitchFamily="34" charset="0"/>
                          <a:ea typeface="Arial" pitchFamily="34" charset="-122"/>
                          <a:cs typeface="Arial" pitchFamily="34" charset="-120"/>
                        </a:rPr>
                        <a:t>−$107K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93B3B"/>
                          </a:solidFill>
                          <a:latin typeface="Arial" pitchFamily="34" charset="0"/>
                          <a:ea typeface="Arial" pitchFamily="34" charset="-122"/>
                          <a:cs typeface="Arial" pitchFamily="34" charset="-120"/>
                        </a:rPr>
                        <a:t>−$3.8K</a:t>
                      </a:r>
                      <a:endParaRPr lang="en-US" sz="1100" dirty="0">
                        <a:latin typeface="Arial" charset="0"/>
                        <a:ea typeface="Arial" charset="0"/>
                        <a:cs typeface="Arial" charset="0"/>
                      </a:endParaRPr>
                    </a:p>
                    <a:p>
                      <a:pPr marL="0" indent="0" algn="ctr">
                        <a:buNone/>
                      </a:pPr>
                      <a:r>
                        <a:rPr lang="en-US" sz="1100" dirty="0">
                          <a:solidFill>
                            <a:srgbClr val="C93B3B"/>
                          </a:solidFill>
                          <a:latin typeface="Arial" pitchFamily="34" charset="0"/>
                          <a:ea typeface="Arial" pitchFamily="34" charset="-122"/>
                          <a:cs typeface="Arial" pitchFamily="34" charset="-120"/>
                        </a:rPr>
                        <a:t>−$7.6K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93B3B"/>
                          </a:solidFill>
                          <a:latin typeface="Arial" pitchFamily="34" charset="0"/>
                          <a:ea typeface="Arial" pitchFamily="34" charset="-122"/>
                          <a:cs typeface="Arial" pitchFamily="34" charset="-120"/>
                        </a:rPr>
                        <a:t>−$3.4K</a:t>
                      </a:r>
                      <a:endParaRPr lang="en-US" sz="1100" dirty="0">
                        <a:latin typeface="Arial" charset="0"/>
                        <a:ea typeface="Arial" charset="0"/>
                        <a:cs typeface="Arial" charset="0"/>
                      </a:endParaRPr>
                    </a:p>
                    <a:p>
                      <a:pPr marL="0" indent="0" algn="ctr">
                        <a:buNone/>
                      </a:pPr>
                      <a:r>
                        <a:rPr lang="en-US" sz="1100" dirty="0">
                          <a:solidFill>
                            <a:srgbClr val="C93B3B"/>
                          </a:solidFill>
                          <a:latin typeface="Arial" pitchFamily="34" charset="0"/>
                          <a:ea typeface="Arial" pitchFamily="34" charset="-122"/>
                          <a:cs typeface="Arial" pitchFamily="34" charset="-120"/>
                        </a:rPr>
                        <a:t>−$6.9K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950" b="1" dirty="0">
                          <a:solidFill>
                            <a:srgbClr val="4A4AF4"/>
                          </a:solidFill>
                          <a:latin typeface="Arial" pitchFamily="34" charset="0"/>
                          <a:ea typeface="Arial" pitchFamily="34" charset="-122"/>
                          <a:cs typeface="Arial" pitchFamily="34" charset="-120"/>
                        </a:rPr>
                        <a:t>REPRICE</a:t>
                      </a:r>
                      <a:endParaRPr lang="en-US" sz="1100" dirty="0">
                        <a:latin typeface="Arial" charset="0"/>
                        <a:ea typeface="Arial" charset="0"/>
                        <a:cs typeface="Arial" charset="0"/>
                      </a:endParaRPr>
                    </a:p>
                    <a:p>
                      <a:pPr marL="0" indent="0">
                        <a:buNone/>
                      </a:pPr>
                      <a:r>
                        <a:rPr lang="en-US" sz="1100" b="1" dirty="0">
                          <a:solidFill>
                            <a:srgbClr val="1A1A2E"/>
                          </a:solidFill>
                          <a:latin typeface="Arial" pitchFamily="34" charset="0"/>
                          <a:ea typeface="Arial" pitchFamily="34" charset="-122"/>
                          <a:cs typeface="Arial" pitchFamily="34" charset="-120"/>
                        </a:rPr>
                        <a:t>0% APR merchant fee</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Fee is 5.1% vs 5.5% for interest-bearing at the same merchants</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buNone/>
                      </a:pPr>
                      <a:r>
                        <a:rPr lang="en-US" sz="1100" dirty="0">
                          <a:solidFill>
                            <a:srgbClr val="1A1A2E"/>
                          </a:solidFill>
                          <a:latin typeface="Arial" pitchFamily="34" charset="0"/>
                          <a:ea typeface="Arial" pitchFamily="34" charset="-122"/>
                          <a:cs typeface="Arial" pitchFamily="34" charset="-120"/>
                        </a:rPr>
                        <a:t>+0.4 pt to parity (not in totals; depends on merchant response)</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dirty="0">
                          <a:solidFill>
                            <a:srgbClr val="1A1A2E"/>
                          </a:solidFill>
                          <a:latin typeface="Arial" pitchFamily="34" charset="0"/>
                          <a:ea typeface="Arial" pitchFamily="34" charset="-122"/>
                          <a:cs typeface="Arial" pitchFamily="34" charset="-120"/>
                        </a:rPr>
                        <a:t>≈ +$1.9K</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100" dirty="0">
                          <a:solidFill>
                            <a:srgbClr val="1A1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4"/>
                  </a:ext>
                </a:extLst>
              </a:tr>
              <a:tr h="548640">
                <a:tc>
                  <a:txBody>
                    <a:bodyPr/>
                    <a:lstStyle/>
                    <a:p>
                      <a:pPr marL="0" indent="0" algn="l">
                        <a:buNone/>
                      </a:pPr>
                      <a:r>
                        <a:rPr lang="en-US" sz="1100" b="1" dirty="0">
                          <a:solidFill>
                            <a:srgbClr val="4A4AF4"/>
                          </a:solidFill>
                          <a:latin typeface="Arial" pitchFamily="34" charset="0"/>
                          <a:ea typeface="Arial" pitchFamily="34" charset="-122"/>
                          <a:cs typeface="Arial" pitchFamily="34" charset="-120"/>
                        </a:rPr>
                        <a:t>Total (moves 1–3)</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gridSpan="2">
                  <a:txBody>
                    <a:bodyPr/>
                    <a:lstStyle/>
                    <a:p>
                      <a:pPr marL="0" indent="0">
                        <a:buNone/>
                      </a:pPr>
                      <a:r>
                        <a:rPr lang="en-US" sz="1100" dirty="0">
                          <a:solidFill>
                            <a:srgbClr val="1A1A2E"/>
                          </a:solidFill>
                          <a:latin typeface="Arial" pitchFamily="34" charset="0"/>
                          <a:ea typeface="Arial" pitchFamily="34" charset="-122"/>
                          <a:cs typeface="Arial" pitchFamily="34" charset="-120"/>
                        </a:rPr>
                        <a:t>vs 2025 baseline: $2.85M GMV, $212K profit, 2.32% loss rate</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hMerge="1">
                  <a:txBody>
                    <a:bodyPr/>
                    <a:lstStyle/>
                    <a:p>
                      <a:endParaRPr lang="en-CN"/>
                    </a:p>
                  </a:txBody>
                  <a:tcPr/>
                </a:tc>
                <a:tc>
                  <a:txBody>
                    <a:bodyPr/>
                    <a:lstStyle/>
                    <a:p>
                      <a:pPr marL="0" indent="0" algn="ctr">
                        <a:buNone/>
                      </a:pPr>
                      <a:r>
                        <a:rPr lang="en-US" sz="1100" b="1" dirty="0">
                          <a:solidFill>
                            <a:srgbClr val="4A4AF4"/>
                          </a:solidFill>
                          <a:latin typeface="Arial" pitchFamily="34" charset="0"/>
                          <a:ea typeface="Arial" pitchFamily="34" charset="-122"/>
                          <a:cs typeface="Arial" pitchFamily="34" charset="-120"/>
                        </a:rPr>
                        <a:t>+3.9% / +7.7%</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100" b="1" dirty="0">
                          <a:solidFill>
                            <a:srgbClr val="4A4AF4"/>
                          </a:solidFill>
                          <a:latin typeface="Arial" pitchFamily="34" charset="0"/>
                          <a:ea typeface="Arial" pitchFamily="34" charset="-122"/>
                          <a:cs typeface="Arial" pitchFamily="34" charset="-120"/>
                        </a:rPr>
                        <a:t>+7.4% / +14.8%</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100" b="1" dirty="0">
                          <a:solidFill>
                            <a:srgbClr val="1E8A4C"/>
                          </a:solidFill>
                          <a:latin typeface="Arial" pitchFamily="34" charset="0"/>
                          <a:ea typeface="Arial" pitchFamily="34" charset="-122"/>
                          <a:cs typeface="Arial" pitchFamily="34" charset="-120"/>
                        </a:rPr>
                        <a:t>Loss rate → 2.21% / 2.10%</a:t>
                      </a:r>
                      <a:endParaRPr lang="en-US" sz="1100" dirty="0">
                        <a:latin typeface="Arial" charset="0"/>
                        <a:ea typeface="Arial" charset="0"/>
                        <a:cs typeface="Arial" charset="0"/>
                      </a:endParaRPr>
                    </a:p>
                  </a:txBody>
                  <a:tcPr marT="36576" marB="36576"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48640" y="5989320"/>
            <a:ext cx="11094415" cy="380000"/>
          </a:xfrm>
          <a:prstGeom prst="rect">
            <a:avLst/>
          </a:prstGeom>
          <a:noFill/>
          <a:ln/>
        </p:spPr>
        <p:txBody>
          <a:bodyPr wrap="square" lIns="0" tIns="0" rIns="0" bIns="0" rtlCol="0" anchor="t"/>
          <a:lstStyle/>
          <a:p>
            <a:pPr marL="0" indent="0">
              <a:buNone/>
            </a:pPr>
            <a:r>
              <a:rPr lang="en-US" sz="1200" i="1" dirty="0">
                <a:solidFill>
                  <a:srgbClr val="5B5B73"/>
                </a:solidFill>
                <a:latin typeface="Arial" pitchFamily="34" charset="0"/>
                <a:ea typeface="Arial" pitchFamily="34" charset="-122"/>
                <a:cs typeface="Arial" pitchFamily="34" charset="-120"/>
              </a:rPr>
              <a:t>Profit grows faster than GMV and the loss rate falls: growth goes to low-loss verticals and repeat customers, and exposure is cut where risk is concentrated.</a:t>
            </a:r>
            <a:endParaRPr lang="en-US" sz="1200" dirty="0"/>
          </a:p>
        </p:txBody>
      </p:sp>
      <p:sp>
        <p:nvSpPr>
          <p:cNvPr id="6" name="Text 3"/>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GMV / profit / loss cells: top = conservative, bottom = ambitious. One year = 2025 volume × seasoned (Jul 2024–Jun 2025) rates; the data is a sample, so read $ as relative sizes.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a:effectLst/>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txBody>
          <a:bodyPr/>
          <a:lstStyle/>
          <a:p>
            <a:endParaRPr lang="en-CN"/>
          </a:p>
        </p:txBody>
      </p:sp>
      <p:sp>
        <p:nvSpPr>
          <p:cNvPr id="5" name="Text 3"/>
          <p:cNvSpPr txBox="1"/>
          <p:nvPr/>
        </p:nvSpPr>
        <p:spPr>
          <a:xfrm>
            <a:off x="777240" y="1645920"/>
            <a:ext cx="3058058" cy="41148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txBody>
          <a:bodyPr/>
          <a:lstStyle/>
          <a:p>
            <a:endParaRPr lang="en-CN"/>
          </a:p>
        </p:txBody>
      </p:sp>
      <p:sp>
        <p:nvSpPr>
          <p:cNvPr id="8" name="Text 6"/>
          <p:cNvSpPr txBox="1"/>
          <p:nvPr/>
        </p:nvSpPr>
        <p:spPr>
          <a:xfrm>
            <a:off x="4566818" y="1645920"/>
            <a:ext cx="3058058" cy="41148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txBody>
          <a:bodyPr/>
          <a:lstStyle/>
          <a:p>
            <a:endParaRPr lang="en-CN"/>
          </a:p>
        </p:txBody>
      </p:sp>
      <p:sp>
        <p:nvSpPr>
          <p:cNvPr id="11" name="Text 9"/>
          <p:cNvSpPr txBox="1"/>
          <p:nvPr/>
        </p:nvSpPr>
        <p:spPr>
          <a:xfrm>
            <a:off x="8356397" y="1645920"/>
            <a:ext cx="3058058" cy="41148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3968496"/>
        </p:xfrm>
        <a:graphic>
          <a:graphicData uri="http://schemas.openxmlformats.org/drawingml/2006/table">
            <a:tbl>
              <a:tblPr/>
              <a:tblGrid>
                <a:gridCol w="51206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693615">
                  <a:extLst>
                    <a:ext uri="{9D8B030D-6E8A-4147-A177-3AD203B41FA5}">
                      <a16:colId xmlns:a16="http://schemas.microsoft.com/office/drawing/2014/main" val="20002"/>
                    </a:ext>
                  </a:extLst>
                </a:gridCol>
              </a:tblGrid>
              <a:tr h="566928">
                <a:tc>
                  <a:txBody>
                    <a:bodyPr/>
                    <a:lstStyle/>
                    <a:p>
                      <a:pPr marL="0" indent="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10000"/>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2"/>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4"/>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ctr">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marL="0" indent="0" algn="l">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txBody>
          <a:bodyPr/>
          <a:lstStyle/>
          <a:p>
            <a:endParaRPr lang="en-CN"/>
          </a:p>
        </p:txBody>
      </p:sp>
      <p:sp>
        <p:nvSpPr>
          <p:cNvPr id="5" name="Text 3"/>
          <p:cNvSpPr txBox="1"/>
          <p:nvPr/>
        </p:nvSpPr>
        <p:spPr>
          <a:xfrm>
            <a:off x="822960" y="1645920"/>
            <a:ext cx="4846320" cy="365760"/>
          </a:xfrm>
          <a:prstGeom prst="rect">
            <a:avLst/>
          </a:prstGeom>
          <a:noFill/>
          <a:ln/>
        </p:spPr>
        <p:txBody>
          <a:bodyPr wrap="square" lIns="0" tIns="0" rIns="0" bIns="0" rtlCol="0" anchor="ctr"/>
          <a:lstStyle/>
          <a:p>
            <a:pPr marL="0" indent="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marL="0" indent="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txBody>
          <a:bodyPr/>
          <a:lstStyle/>
          <a:p>
            <a:endParaRPr lang="en-CN"/>
          </a:p>
        </p:txBody>
      </p:sp>
      <p:sp>
        <p:nvSpPr>
          <p:cNvPr id="8" name="Text 6"/>
          <p:cNvSpPr txBox="1"/>
          <p:nvPr/>
        </p:nvSpPr>
        <p:spPr>
          <a:xfrm>
            <a:off x="6492240" y="1645920"/>
            <a:ext cx="4846320" cy="365760"/>
          </a:xfrm>
          <a:prstGeom prst="rect">
            <a:avLst/>
          </a:prstGeom>
          <a:noFill/>
          <a:ln/>
        </p:spPr>
        <p:txBody>
          <a:bodyPr wrap="square" lIns="0" tIns="0" rIns="0" bIns="0" rtlCol="0" anchor="ctr"/>
          <a:lstStyle/>
          <a:p>
            <a:pPr marL="0" indent="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marL="0" indent="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txBody>
          <a:bodyPr/>
          <a:lstStyle/>
          <a:p>
            <a:endParaRPr lang="en-CN"/>
          </a:p>
        </p:txBody>
      </p:sp>
      <p:sp>
        <p:nvSpPr>
          <p:cNvPr id="11" name="Text 9"/>
          <p:cNvSpPr txBox="1"/>
          <p:nvPr/>
        </p:nvSpPr>
        <p:spPr>
          <a:xfrm>
            <a:off x="822960" y="3566160"/>
            <a:ext cx="4846320" cy="365760"/>
          </a:xfrm>
          <a:prstGeom prst="rect">
            <a:avLst/>
          </a:prstGeom>
          <a:noFill/>
          <a:ln/>
        </p:spPr>
        <p:txBody>
          <a:bodyPr wrap="square" lIns="0" tIns="0" rIns="0" bIns="0" rtlCol="0" anchor="ctr"/>
          <a:lstStyle/>
          <a:p>
            <a:pPr marL="0" indent="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marL="0" indent="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txBody>
          <a:bodyPr/>
          <a:lstStyle/>
          <a:p>
            <a:endParaRPr lang="en-CN"/>
          </a:p>
        </p:txBody>
      </p:sp>
      <p:sp>
        <p:nvSpPr>
          <p:cNvPr id="14" name="Text 12"/>
          <p:cNvSpPr txBox="1"/>
          <p:nvPr/>
        </p:nvSpPr>
        <p:spPr>
          <a:xfrm>
            <a:off x="6492240" y="3566160"/>
            <a:ext cx="4846320" cy="365760"/>
          </a:xfrm>
          <a:prstGeom prst="rect">
            <a:avLst/>
          </a:prstGeom>
          <a:noFill/>
          <a:ln/>
        </p:spPr>
        <p:txBody>
          <a:bodyPr wrap="square" lIns="0" tIns="0" rIns="0" bIns="0" rtlCol="0" anchor="ctr"/>
          <a:lstStyle/>
          <a:p>
            <a:pPr marL="0" indent="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marL="0" indent="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marL="0" indent="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p:cNvGraphicFramePr/>
          <p:nvPr/>
        </p:nvGraphicFramePr>
        <p:xfrm>
          <a:off x="548640" y="1417320"/>
          <a:ext cx="694944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marL="0" indent="0">
              <a:buNone/>
            </a:pPr>
            <a:r>
              <a:rPr lang="en-US" sz="1100" b="1" kern="0" spc="200" dirty="0">
                <a:solidFill>
                  <a:srgbClr val="5B5B73"/>
                </a:solidFill>
                <a:latin typeface="Arial" pitchFamily="34" charset="0"/>
                <a:ea typeface="Arial" pitchFamily="34" charset="-122"/>
                <a:cs typeface="Arial" pitchFamily="34" charset="-120"/>
              </a:rPr>
              <a:t>APPENDIX D · 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marL="0" indent="0">
              <a:buNone/>
            </a:pPr>
            <a:r>
              <a:rPr lang="en-US" sz="2600" b="1" dirty="0">
                <a:solidFill>
                  <a:srgbClr val="1A1A2E"/>
                </a:solidFill>
                <a:latin typeface="Arial" pitchFamily="34" charset="0"/>
                <a:ea typeface="Arial" pitchFamily="34" charset="-122"/>
                <a:cs typeface="Arial" pitchFamily="34" charset="-120"/>
              </a:rPr>
              <a:t>86% of repeat customers come back to the same vertical; fashion is the main source of cross-selling</a:t>
            </a:r>
            <a:endParaRPr lang="en-US" sz="2600" dirty="0"/>
          </a:p>
        </p:txBody>
      </p:sp>
      <p:graphicFrame>
        <p:nvGraphicFramePr>
          <p:cNvPr id="12" name="Table 0"/>
          <p:cNvGraphicFramePr>
            <a:graphicFrameLocks noGrp="1"/>
          </p:cNvGraphicFramePr>
          <p:nvPr/>
        </p:nvGraphicFramePr>
        <p:xfrm>
          <a:off x="548640" y="1417320"/>
          <a:ext cx="11094418" cy="4023360"/>
        </p:xfrm>
        <a:graphic>
          <a:graphicData uri="http://schemas.openxmlformats.org/drawingml/2006/table">
            <a:tbl>
              <a:tblPr/>
              <a:tblGrid>
                <a:gridCol w="21031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14654">
                  <a:extLst>
                    <a:ext uri="{9D8B030D-6E8A-4147-A177-3AD203B41FA5}">
                      <a16:colId xmlns:a16="http://schemas.microsoft.com/office/drawing/2014/main" val="20002"/>
                    </a:ext>
                  </a:extLst>
                </a:gridCol>
                <a:gridCol w="1114654">
                  <a:extLst>
                    <a:ext uri="{9D8B030D-6E8A-4147-A177-3AD203B41FA5}">
                      <a16:colId xmlns:a16="http://schemas.microsoft.com/office/drawing/2014/main" val="20003"/>
                    </a:ext>
                  </a:extLst>
                </a:gridCol>
                <a:gridCol w="1114654">
                  <a:extLst>
                    <a:ext uri="{9D8B030D-6E8A-4147-A177-3AD203B41FA5}">
                      <a16:colId xmlns:a16="http://schemas.microsoft.com/office/drawing/2014/main" val="20004"/>
                    </a:ext>
                  </a:extLst>
                </a:gridCol>
                <a:gridCol w="1114654">
                  <a:extLst>
                    <a:ext uri="{9D8B030D-6E8A-4147-A177-3AD203B41FA5}">
                      <a16:colId xmlns:a16="http://schemas.microsoft.com/office/drawing/2014/main" val="20005"/>
                    </a:ext>
                  </a:extLst>
                </a:gridCol>
                <a:gridCol w="1114654">
                  <a:extLst>
                    <a:ext uri="{9D8B030D-6E8A-4147-A177-3AD203B41FA5}">
                      <a16:colId xmlns:a16="http://schemas.microsoft.com/office/drawing/2014/main" val="20006"/>
                    </a:ext>
                  </a:extLst>
                </a:gridCol>
                <a:gridCol w="1114654">
                  <a:extLst>
                    <a:ext uri="{9D8B030D-6E8A-4147-A177-3AD203B41FA5}">
                      <a16:colId xmlns:a16="http://schemas.microsoft.com/office/drawing/2014/main" val="20007"/>
                    </a:ext>
                  </a:extLst>
                </a:gridCol>
                <a:gridCol w="1114654">
                  <a:extLst>
                    <a:ext uri="{9D8B030D-6E8A-4147-A177-3AD203B41FA5}">
                      <a16:colId xmlns:a16="http://schemas.microsoft.com/office/drawing/2014/main" val="20008"/>
                    </a:ext>
                  </a:extLst>
                </a:gridCol>
              </a:tblGrid>
              <a:tr h="502920">
                <a:tc>
                  <a:txBody>
                    <a:bodyPr/>
                    <a:lstStyle/>
                    <a:p>
                      <a:pPr marL="0" indent="0">
                        <a:buNone/>
                      </a:pPr>
                      <a:r>
                        <a:rPr lang="en-US" sz="1200" b="1" dirty="0">
                          <a:solidFill>
                            <a:srgbClr val="FFFFFF"/>
                          </a:solidFill>
                          <a:latin typeface="Arial" pitchFamily="34" charset="0"/>
                          <a:ea typeface="Arial" pitchFamily="34" charset="-122"/>
                          <a:cs typeface="Arial" pitchFamily="34" charset="-120"/>
                        </a:rPr>
                        <a:t>First loan ↓ / second loan →</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Repeat customers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1,340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88%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420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80%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202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3"/>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79%</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4"/>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86%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5"/>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56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77%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extLst>
                  <a:ext uri="{0D108BD9-81ED-4DB2-BD59-A6C34878D82A}">
                    <a16:rowId xmlns:a16="http://schemas.microsoft.com/office/drawing/2014/main" val="10006"/>
                  </a:ext>
                </a:extLst>
              </a:tr>
              <a:tr h="502920">
                <a:tc>
                  <a:txBody>
                    <a:bodyPr/>
                    <a:lstStyle/>
                    <a:p>
                      <a:pPr marL="0" indent="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5B5B7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marL="0" indent="0" algn="ctr">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D9D9FC"/>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76%</a:t>
                      </a:r>
                      <a:endParaRPr lang="en-US" sz="1200" dirty="0">
                        <a:latin typeface="Arial" charset="0"/>
                        <a:ea typeface="Arial" charset="0"/>
                        <a:cs typeface="Arial" charset="0"/>
                      </a:endParaRPr>
                    </a:p>
                  </a:txBody>
                  <a:tcPr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4A4A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48640" y="5577840"/>
            <a:ext cx="11094415" cy="685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Each row = customers whose first loan was in that vertical; cells = where their second loan was (row %).</a:t>
            </a:r>
            <a:endParaRPr lang="en-US" sz="1200" dirty="0"/>
          </a:p>
          <a:p>
            <a:pPr marL="342900" indent="-342900">
              <a:spcAft>
                <a:spcPts val="400"/>
              </a:spcAft>
              <a:buSzPct val="100000"/>
              <a:buChar char="•"/>
            </a:pPr>
            <a:r>
              <a:rPr lang="en-US" sz="1200" dirty="0">
                <a:solidFill>
                  <a:srgbClr val="1A1A2E"/>
                </a:solidFill>
                <a:latin typeface="Arial" pitchFamily="34" charset="0"/>
                <a:ea typeface="Arial" pitchFamily="34" charset="-122"/>
                <a:cs typeface="Arial" pitchFamily="34" charset="-120"/>
              </a:rPr>
              <a:t>Fashion is the main cross-sell source: 157 fashion customers took their second loan elsewhere, 101 of them in big-ticket verticals.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2732</Words>
  <Application>Microsoft Macintosh PowerPoint</Application>
  <PresentationFormat>Widescreen</PresentationFormat>
  <Paragraphs>367</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HC2873</cp:lastModifiedBy>
  <cp:revision>2</cp:revision>
  <dcterms:created xsi:type="dcterms:W3CDTF">2026-09-29T20:12:43Z</dcterms:created>
  <dcterms:modified xsi:type="dcterms:W3CDTF">2026-09-29T22:38:04Z</dcterms:modified>
</cp:coreProperties>
</file>
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6" r:id="rId5"/>
    <p:sldId id="267" r:id="rId6"/>
    <p:sldId id="269" r:id="rId7"/>
    <p:sldId id="262" r:id="rId8"/>
    <p:sldId id="263" r:id="rId9"/>
    <p:sldId id="264" r:id="rId10"/>
    <p:sldId id="265" r:id="rId11"/>
    <p:sldId id="268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4A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56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A1A2E"/>
                </a:solidFill>
                <a:latin typeface="Arial"/>
              </a:rPr>
              <a:t>GMV and unit economics by origination quarter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($K, left axis)</c:v>
                </c:pt>
              </c:strCache>
            </c:strRef>
          </c:tx>
          <c:spPr>
            <a:solidFill>
              <a:srgbClr val="D9D9F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459</c:v>
                </c:pt>
                <c:pt idx="1">
                  <c:v>664</c:v>
                </c:pt>
                <c:pt idx="2">
                  <c:v>650</c:v>
                </c:pt>
                <c:pt idx="3">
                  <c:v>704</c:v>
                </c:pt>
                <c:pt idx="4">
                  <c:v>721</c:v>
                </c:pt>
                <c:pt idx="5">
                  <c:v>771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D8-4C4B-9045-4375C3424A18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Revenue (% of GMV)</c:v>
                </c:pt>
              </c:strCache>
            </c:strRef>
          </c:tx>
          <c:spPr>
            <a:ln w="31750" cap="flat">
              <a:solidFill>
                <a:srgbClr val="4A4AF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C93B3B"/>
              </a:solidFill>
              <a:ln w="9525" cap="flat">
                <a:solidFill>
                  <a:srgbClr val="4A4AF4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10.8</c:v>
                </c:pt>
                <c:pt idx="1">
                  <c:v>11</c:v>
                </c:pt>
                <c:pt idx="2">
                  <c:v>11.3</c:v>
                </c:pt>
                <c:pt idx="3">
                  <c:v>10.7</c:v>
                </c:pt>
                <c:pt idx="4">
                  <c:v>9.6999999999999993</c:v>
                </c:pt>
                <c:pt idx="5">
                  <c:v>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D8-4C4B-9045-4375C3424A1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Credit loss (% of GMV)</c:v>
                </c:pt>
              </c:strCache>
            </c:strRef>
          </c:tx>
          <c:spPr>
            <a:ln w="31750" cap="flat">
              <a:solidFill>
                <a:srgbClr val="C93B3B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5B5B73"/>
              </a:solidFill>
              <a:ln w="9525" cap="flat">
                <a:solidFill>
                  <a:srgbClr val="C93B3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1.4</c:v>
                </c:pt>
                <c:pt idx="1">
                  <c:v>2.9</c:v>
                </c:pt>
                <c:pt idx="2">
                  <c:v>2.1</c:v>
                </c:pt>
                <c:pt idx="3">
                  <c:v>2.5</c:v>
                </c:pt>
                <c:pt idx="4">
                  <c:v>2</c:v>
                </c:pt>
                <c:pt idx="5">
                  <c:v>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D8-4C4B-9045-4375C3424A1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Funding cost (% of GMV)</c:v>
                </c:pt>
              </c:strCache>
            </c:strRef>
          </c:tx>
          <c:spPr>
            <a:ln w="31750" cap="flat">
              <a:solidFill>
                <a:srgbClr val="5B5B73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C93B3B"/>
              </a:solidFill>
              <a:ln w="9525" cap="flat">
                <a:solidFill>
                  <a:srgbClr val="5B5B73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</c:v>
                </c:pt>
                <c:pt idx="1">
                  <c:v>1.1000000000000001</c:v>
                </c:pt>
                <c:pt idx="2">
                  <c:v>1.1000000000000001</c:v>
                </c:pt>
                <c:pt idx="3">
                  <c:v>1.1000000000000001</c:v>
                </c:pt>
                <c:pt idx="4">
                  <c:v>1.1000000000000001</c:v>
                </c:pt>
                <c:pt idx="5">
                  <c:v>1.1000000000000001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1D8-4C4B-9045-4375C3424A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0"/>
          <c:min val="0"/>
        </c:scaling>
        <c:delete val="0"/>
        <c:axPos val="l"/>
        <c:majorGridlines>
          <c:spPr>
            <a:ln w="6350" cap="flat">
              <a:solidFill>
                <a:srgbClr val="E6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5B73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5B73"/>
                    </a:solidFill>
                    <a:latin typeface="Arial"/>
                  </a:rPr>
                  <a:t>GMV ($K)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2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5B73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5B73"/>
                    </a:solidFill>
                    <a:latin typeface="Arial"/>
                  </a:rPr>
                  <a:t>% of GMV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A1A2E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A1A2E"/>
                </a:solidFill>
                <a:latin typeface="Arial"/>
              </a:rPr>
              <a:t>Customers who take a 2nd loan within 180 days (%), by first-loan vertical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Repeat within 180 days</c:v>
                </c:pt>
              </c:strCache>
            </c:strRef>
          </c:tx>
          <c:spPr>
            <a:solidFill>
              <a:srgbClr val="4A4AF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Healthcare</c:v>
                </c:pt>
                <c:pt idx="1">
                  <c:v>Auto parts</c:v>
                </c:pt>
                <c:pt idx="2">
                  <c:v>Travel</c:v>
                </c:pt>
                <c:pt idx="3">
                  <c:v>Home furnishing</c:v>
                </c:pt>
                <c:pt idx="4">
                  <c:v>Fashion</c:v>
                </c:pt>
                <c:pt idx="5">
                  <c:v>Electronics</c:v>
                </c:pt>
                <c:pt idx="6">
                  <c:v>Fitness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17</c:v>
                </c:pt>
                <c:pt idx="2">
                  <c:v>20</c:v>
                </c:pt>
                <c:pt idx="3">
                  <c:v>23</c:v>
                </c:pt>
                <c:pt idx="4">
                  <c:v>94</c:v>
                </c:pt>
                <c:pt idx="5">
                  <c:v>95</c:v>
                </c:pt>
                <c:pt idx="6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6E-D34A-AA49-9FB35EE1FB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6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A1A2E"/>
                </a:solidFill>
                <a:latin typeface="Arial"/>
              </a:rPr>
              <a:t>Contribution margin by origination quarter (% of GMV)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Interest-bearing</c:v>
                </c:pt>
              </c:strCache>
            </c:strRef>
          </c:tx>
          <c:spPr>
            <a:ln w="25400" cap="flat">
              <a:solidFill>
                <a:srgbClr val="4A4AF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4A4AF4"/>
              </a:solidFill>
              <a:ln w="9525" cap="flat">
                <a:solidFill>
                  <a:srgbClr val="4A4AF4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13.2</c:v>
                </c:pt>
                <c:pt idx="1">
                  <c:v>11.6</c:v>
                </c:pt>
                <c:pt idx="2">
                  <c:v>11.6</c:v>
                </c:pt>
                <c:pt idx="3">
                  <c:v>9.8000000000000007</c:v>
                </c:pt>
                <c:pt idx="4">
                  <c:v>9.1</c:v>
                </c:pt>
                <c:pt idx="5">
                  <c:v>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3-9B4E-BE38-1F34A9E4B5F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0% APR</c:v>
                </c:pt>
              </c:strCache>
            </c:strRef>
          </c:tx>
          <c:spPr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3</c:v>
                </c:pt>
                <c:pt idx="2">
                  <c:v>4.3</c:v>
                </c:pt>
                <c:pt idx="3">
                  <c:v>4</c:v>
                </c:pt>
                <c:pt idx="4">
                  <c:v>1.6</c:v>
                </c:pt>
                <c:pt idx="5">
                  <c:v>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3-9B4E-BE38-1F34A9E4B5F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Split Pay</c:v>
                </c:pt>
              </c:strCache>
            </c:strRef>
          </c:tx>
          <c:spPr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</c:v>
                </c:pt>
                <c:pt idx="1">
                  <c:v>1.7</c:v>
                </c:pt>
                <c:pt idx="2">
                  <c:v>1.8</c:v>
                </c:pt>
                <c:pt idx="3">
                  <c:v>2.4</c:v>
                </c:pt>
                <c:pt idx="4">
                  <c:v>3.2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3-9B4E-BE38-1F34A9E4B5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6757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5669280" cy="5669280"/>
          </a:xfrm>
          <a:prstGeom prst="ellipse">
            <a:avLst/>
          </a:prstGeom>
          <a:solidFill>
            <a:srgbClr val="4A4AF4"/>
          </a:solidFill>
          <a:ln w="12700">
            <a:solidFill>
              <a:srgbClr val="4A4AF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9692640" y="3291840"/>
            <a:ext cx="3108960" cy="3108960"/>
          </a:xfrm>
          <a:prstGeom prst="ellipse">
            <a:avLst/>
          </a:prstGeom>
          <a:solidFill>
            <a:srgbClr val="2B2CA8"/>
          </a:solidFill>
          <a:ln w="12700">
            <a:solidFill>
              <a:srgbClr val="2B2CA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ANALYTICS  ·  PORTFOLIO REVIEW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invest next year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low-loss verticals and repeat customers; tighten the riskiest travel credit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$4.0M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7,134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Loans originated Jul 2024 – Dec 2025, snapshot 31 Dec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book grew 33% year over year with stable credit quality and a ~7% margin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32588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417320"/>
            <a:ext cx="4053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economics, % of GMV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82880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(merchant fee + interest)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545775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33172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Credit loss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545775" y="2331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2.0%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283464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Funding cost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545775" y="28346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1.1%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401568"/>
            <a:ext cx="4053535" cy="548640"/>
          </a:xfrm>
          <a:prstGeom prst="roundRect">
            <a:avLst>
              <a:gd name="adj" fmla="val 20000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Text 10"/>
          <p:cNvSpPr txBox="1"/>
          <p:nvPr/>
        </p:nvSpPr>
        <p:spPr>
          <a:xfrm>
            <a:off x="7726680" y="3401568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Contribution margin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408615" y="340156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4160520"/>
            <a:ext cx="4053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mix: interest-bearing +64% (highest margin), fashion +84% (lowest margin)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FICO flat at ~652 — growth didn't come from loosening credit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 vintage (Q4-24): 10% of loans went bad, 2× other quarters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= Jul–Dec 2025 vs Jul–Dec 2024. Q3–Q4 2025 loans are young, so their revenue and loss are still accruing. 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= cost of funds × term × ½ principal.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cs typeface="Arial" pitchFamily="34" charset="-120"/>
              </a:rPr>
              <a:t>Data source: script part2 1.1 &amp; 1.2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AND RISK SIT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carries the risk, fashion dilutes the margin, healthcare and home furnishing lead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644564"/>
              </p:ext>
            </p:extLst>
          </p:nvPr>
        </p:nvGraphicFramePr>
        <p:xfrm>
          <a:off x="548640" y="1547368"/>
          <a:ext cx="7223760" cy="4209288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5488">
                <a:tc row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loans 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GMV $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profit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384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kern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Seasoned loans, originated by Jun ‘25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5007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200" b="1" kern="1200" dirty="0">
                        <a:solidFill>
                          <a:srgbClr val="1E8A4C"/>
                        </a:solidFill>
                        <a:latin typeface="Arial" pitchFamily="34" charset="0"/>
                        <a:ea typeface="Arial" charset="0"/>
                        <a:cs typeface="Arial" pitchFamily="34" charset="-12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parts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B09FDF81-1400-657D-5773-1DDF3554986B}"/>
              </a:ext>
            </a:extLst>
          </p:cNvPr>
          <p:cNvGrpSpPr/>
          <p:nvPr/>
        </p:nvGrpSpPr>
        <p:grpSpPr>
          <a:xfrm>
            <a:off x="8138157" y="4638548"/>
            <a:ext cx="3504895" cy="1498092"/>
            <a:chOff x="8138160" y="1463040"/>
            <a:chExt cx="3504895" cy="1498092"/>
          </a:xfrm>
        </p:grpSpPr>
        <p:sp>
          <p:nvSpPr>
            <p:cNvPr id="5" name="Shape 2"/>
            <p:cNvSpPr/>
            <p:nvPr/>
          </p:nvSpPr>
          <p:spPr>
            <a:xfrm>
              <a:off x="8138160" y="1463040"/>
              <a:ext cx="3504895" cy="1498092"/>
            </a:xfrm>
            <a:prstGeom prst="roundRect">
              <a:avLst>
                <a:gd name="adj" fmla="val 7742"/>
              </a:avLst>
            </a:prstGeom>
            <a:solidFill>
              <a:srgbClr val="F6F6FE"/>
            </a:solidFill>
            <a:ln w="12700">
              <a:solidFill>
                <a:srgbClr val="F6F6FE"/>
              </a:solidFill>
              <a:prstDash val="solid"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" name="Text 3"/>
            <p:cNvSpPr txBox="1"/>
            <p:nvPr/>
          </p:nvSpPr>
          <p:spPr>
            <a:xfrm>
              <a:off x="8321040" y="1572768"/>
              <a:ext cx="3139135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C93B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Travel, FICO &lt; 640</a:t>
              </a:r>
              <a:endParaRPr lang="en-US" sz="1400" dirty="0"/>
            </a:p>
          </p:txBody>
        </p:sp>
        <p:sp>
          <p:nvSpPr>
            <p:cNvPr id="7" name="Text 4"/>
            <p:cNvSpPr txBox="1"/>
            <p:nvPr/>
          </p:nvSpPr>
          <p:spPr>
            <a:xfrm>
              <a:off x="8321040" y="1938528"/>
              <a:ext cx="3139135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~43% delinquent or charged off; 6.4% loss</a:t>
              </a:r>
              <a:r>
                <a:rPr lang="zh-CN" alt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zh-CN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(vs 7% bad rate, 2.4% loss for FICO &lt; 640 elsewhere)</a:t>
              </a:r>
              <a:r>
                <a:rPr 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. It is 35% of travel GMV but 64% of travel losses. If delinquent loans charge off, travel‘s margin falls from 9.4% to 5.2%.</a:t>
              </a:r>
              <a:endParaRPr lang="en-US" sz="1200" dirty="0"/>
            </a:p>
          </p:txBody>
        </p:sp>
      </p:grpSp>
      <p:sp>
        <p:nvSpPr>
          <p:cNvPr id="8" name="Shape 5"/>
          <p:cNvSpPr/>
          <p:nvPr/>
        </p:nvSpPr>
        <p:spPr>
          <a:xfrm>
            <a:off x="8138160" y="3035808"/>
            <a:ext cx="3504895" cy="1417320"/>
          </a:xfrm>
          <a:prstGeom prst="roundRect">
            <a:avLst>
              <a:gd name="adj" fmla="val 7742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8321040" y="3145536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3511296"/>
            <a:ext cx="3139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 of loans but 10% of profit. Small tickets; Split Pay</a:t>
            </a:r>
            <a:r>
              <a:rPr lang="zh-CN" alt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dominates and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only earns ~1.2% margin, compared to 7.</a:t>
            </a:r>
            <a:r>
              <a:rPr lang="en-US" altLang="zh-CN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margin of interest-bearing in this vertical.</a:t>
            </a:r>
            <a:endParaRPr lang="en-US" sz="12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18A404-09AC-51E0-BF1C-A78D27C0BE8F}"/>
              </a:ext>
            </a:extLst>
          </p:cNvPr>
          <p:cNvGrpSpPr/>
          <p:nvPr/>
        </p:nvGrpSpPr>
        <p:grpSpPr>
          <a:xfrm>
            <a:off x="8138158" y="1485900"/>
            <a:ext cx="3504895" cy="1417320"/>
            <a:chOff x="8138160" y="4608576"/>
            <a:chExt cx="3504895" cy="1417320"/>
          </a:xfrm>
        </p:grpSpPr>
        <p:sp>
          <p:nvSpPr>
            <p:cNvPr id="11" name="Shape 8"/>
            <p:cNvSpPr/>
            <p:nvPr/>
          </p:nvSpPr>
          <p:spPr>
            <a:xfrm>
              <a:off x="8138160" y="4608576"/>
              <a:ext cx="3504895" cy="1417320"/>
            </a:xfrm>
            <a:prstGeom prst="roundRect">
              <a:avLst>
                <a:gd name="adj" fmla="val 7742"/>
              </a:avLst>
            </a:prstGeom>
            <a:solidFill>
              <a:srgbClr val="F6F6FE"/>
            </a:solidFill>
            <a:ln w="12700">
              <a:solidFill>
                <a:srgbClr val="F6F6FE"/>
              </a:solidFill>
              <a:prstDash val="solid"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321040" y="4718304"/>
              <a:ext cx="3139135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8A4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Healthcare &amp; home furnishing</a:t>
              </a:r>
              <a:endParaRPr lang="en-US" sz="14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8321040" y="5084064"/>
              <a:ext cx="3139135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Low loss (1.3–2.0%) with high revenue. A healthcare customer is worth ~$215 in profit over their loans.</a:t>
              </a:r>
              <a:endParaRPr lang="en-US" sz="1200" dirty="0"/>
            </a:p>
          </p:txBody>
        </p:sp>
      </p:grpSp>
      <p:sp>
        <p:nvSpPr>
          <p:cNvPr id="14" name="Text 1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rate = share of loans delinquent 30/60 or charged off. Rates are % of GMV.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cs typeface="Arial" pitchFamily="34" charset="-120"/>
              </a:rPr>
              <a:t>Data source: script part2 2.1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SITS BY PRODUCT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 earns 82% of profit; 0% APR gives up interest without a higher merchant fee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638131"/>
              </p:ext>
            </p:extLst>
          </p:nvPr>
        </p:nvGraphicFramePr>
        <p:xfrm>
          <a:off x="548640" y="1463040"/>
          <a:ext cx="11094415" cy="26111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5605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loans</a:t>
                      </a: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altLang="zh-CN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GMV</a:t>
                      </a: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altLang="zh-CN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FICO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Merchant fee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profit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6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Seasoned loans, originated by Jun ‘25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98766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Interest-bearing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 APR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548640" y="417576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3"/>
          <p:cNvSpPr txBox="1"/>
          <p:nvPr/>
        </p:nvSpPr>
        <p:spPr>
          <a:xfrm>
            <a:off x="777240" y="4312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APR is under-priced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24400"/>
            <a:ext cx="30580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risk (FICO 683, 0.7% loss), but no interest and a 12–18 months term to fund. </a:t>
            </a:r>
          </a:p>
          <a:p>
            <a:pPr marL="0" indent="0">
              <a:buNone/>
            </a:pPr>
            <a:endParaRPr lang="en-US" sz="1200" dirty="0">
              <a:solidFill>
                <a:srgbClr val="1A1A2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promo is meant to be paid for by higher MDR, but for the 15 promo merchants 0% APR MDR averages 5.1% vs 5.5% for I-B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38218" y="417576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4566818" y="4312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Pay is an entry product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66818" y="4724400"/>
            <a:ext cx="30580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margin (2.4%) with loss close to interest-bearing, but 63% of customers who start with Split Pay take an interest-bearing loan next.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127797" y="417576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9"/>
          <p:cNvSpPr txBox="1"/>
          <p:nvPr/>
        </p:nvSpPr>
        <p:spPr>
          <a:xfrm>
            <a:off x="8356397" y="4312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 pays for the risk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356397" y="4724400"/>
            <a:ext cx="30580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loss (2.8</a:t>
            </a:r>
            <a:r>
              <a:rPr lang="en-US" altLang="zh-CN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more than covered by 9.3% interest income — 58% of GMV, 82% of profit.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 fee and interest are % of GMV (dollar-weighted). Same-merchant comparison uses merchants with promo program. 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cs typeface="Arial" pitchFamily="34" charset="-120"/>
              </a:rPr>
              <a:t>Data source: script part2 2.2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CUSTOMERS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customers are the cheapest growth: 2.5× lower loss, and most move up to interest-bearing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1417320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3"/>
          <p:cNvSpPr txBox="1"/>
          <p:nvPr/>
        </p:nvSpPr>
        <p:spPr>
          <a:xfrm>
            <a:off x="7269480" y="1490472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altLang="zh-CN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vs 1.</a:t>
            </a:r>
            <a:r>
              <a:rPr lang="en-US" altLang="zh-CN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1929384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rate, first loans vs repeat loans — lower in every vertical and product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040880" y="2532888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7269480" y="2606040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044952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credit loss dollars come from first loans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40880" y="3648456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9"/>
          <p:cNvSpPr txBox="1"/>
          <p:nvPr/>
        </p:nvSpPr>
        <p:spPr>
          <a:xfrm>
            <a:off x="7269480" y="3721608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269480" y="4160520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customers who start with Split Pay (margin 2.4%) take an interest-bearing loan (margin11.3%) next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040880" y="4764024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Text 12"/>
          <p:cNvSpPr txBox="1"/>
          <p:nvPr/>
        </p:nvSpPr>
        <p:spPr>
          <a:xfrm>
            <a:off x="7269480" y="4837176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5276088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second loans stay in the same vertical — cross-selling is small (Appendix D)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whose first loan was by Jun 2025. Repeat rate is set by the vertical, not the product. 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source: script part2 1.5</a:t>
            </a:r>
          </a:p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 add ~7–15% profit while lowering the loss rate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81488"/>
              </p:ext>
            </p:extLst>
          </p:nvPr>
        </p:nvGraphicFramePr>
        <p:xfrm>
          <a:off x="548640" y="1371600"/>
          <a:ext cx="11094415" cy="445312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3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(conservative / ambitious)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 loss $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 healthcare &amp;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risk-adjusted margins (9.8%, 8.2%) with 1.3–2.0%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new merchant brings ~57 (healthcare) / ~122 (home) customers a year, ~1 loan each, at ~$176 / ~$78 profit per loan (~$10K per merchant). +10% / +20% GMV ≈ 0.3–0.8 new merchants per vertical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+$78K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+$155K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+$7.0K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+$14.0K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+$1.3K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+$2.7K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customers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loans lose 2.5× less; 82% of loss comes from first loans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 offers that move repeat Split Pay customers to interest-bearing: +$49 profit per conversion (~145 / ~290 conversions). Plus +5 / +10 pts big-ticket repeat rate (~$126 profit per extra loan)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+$86K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+$172K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+$12.4K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+$24.9K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+$1.3K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+$2.5K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Travel, FICO &lt; 640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 of travel GMV but 64% of its losses (43% bad rate); if delinquents charge off, travel margin falls 9.4% → 5.2%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the risk model cut-off and lower limits: −25% / −50% segment volume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−$3.8K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−$7.6K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−$3.4K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 APR merchant fee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is 5.1% vs 5.5% for interest-bearing at the same merchants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+0.4 pt to parity (not in totals; depends on merchant response)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+$1.9K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(moves 1–3)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2025 baseline: $2.85M GMV, $212K profit, 2.32% loss rate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+3.9% / +7.7%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+7.4% / +14.8%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 → 2.21% / 2.10%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grows faster than GMV and the loss rate falls: growth goes to low-loss verticals and repeat customers, and exposure is cut where risk is concentrated.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/ profit / loss cells: top = conservative, bottom = ambitious. One year = 2025 volume × seasoned (Jul 2024–Jun 2025) rates; the data is a sample, so read $ as relative sizes.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AND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change the picture, and what we would do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3383280"/>
          </a:xfrm>
          <a:prstGeom prst="roundRect">
            <a:avLst>
              <a:gd name="adj" fmla="val 3243"/>
            </a:avLst>
          </a:prstGeom>
          <a:solidFill>
            <a:srgbClr val="1C1E52"/>
          </a:solidFill>
          <a:ln w="12700">
            <a:solidFill>
              <a:srgbClr val="1C1E5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&amp; caveats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Tightening travel gives up ~$4–8K profit: the segment is still profitable on base assumptions; we trade it for lower loss and volatility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APR repricing may push some merchants to drop the program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a synthetic sample; recent quarters aren't fully seasoned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Delinquent-loan loss is an estimate (30% / 60% of unpaid principal)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3383280"/>
          </a:xfrm>
          <a:prstGeom prst="roundRect">
            <a:avLst>
              <a:gd name="adj" fmla="val 3243"/>
            </a:avLst>
          </a:prstGeom>
          <a:solidFill>
            <a:srgbClr val="1C1E52"/>
          </a:solidFill>
          <a:ln w="12700">
            <a:solidFill>
              <a:srgbClr val="1C1E5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4566818" y="164592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21488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Pay loss rose from 1.1% (Q3-24) to 2.5–3.1% — its loans finish in 6 weeks, so this is a real trend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Q4-2025 holiday vintage: last year's doubled its bad rate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data feed: all 160 corrupted duplicate loans were travel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7797" y="1463040"/>
            <a:ext cx="3515258" cy="3383280"/>
          </a:xfrm>
          <a:prstGeom prst="roundRect">
            <a:avLst>
              <a:gd name="adj" fmla="val 3243"/>
            </a:avLst>
          </a:prstGeom>
          <a:solidFill>
            <a:srgbClr val="1C1E52"/>
          </a:solidFill>
          <a:ln w="12700">
            <a:solidFill>
              <a:srgbClr val="1C1E5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8356397" y="164592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21488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the tighter travel cut-off on a share of traffic; track approvals and 90-day losses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second-loan offers for big-ticket first-time customers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merchant pipeline for healthcare and home furnishing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· DATA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root cause explained most data issues; the rest were kept with stated assumptions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984345"/>
              </p:ext>
            </p:extLst>
          </p:nvPr>
        </p:nvGraphicFramePr>
        <p:xfrm>
          <a:off x="548640" y="1463040"/>
          <a:ext cx="11094415" cy="402336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3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handled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loan IDs; the extra copy has an impossible date (1923–25, 2031). All were travel loans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Dropped the bad copy — also fixed user-table mismatches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New-customer flag inconsistent with loan order (flagged new but not the first loan, or first loan not flagged)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 (133 + 19)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separate fix needed — resolved by dropping the duplicates; the flag now matches each user's first loan exactly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FICO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 (6.8%)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riskier than other loans; kept as an 'Unknown' band, no imputation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credit_loss on delinquent loans is ~30% / ~60% of unpaid principal (100% for charge-offs)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Treated as expected loss (32% of loss $); stress case = all delinquents charge 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Delinquency status earlier than loan age allows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Kept; can't tell whether date or flag is wrong; 0.3% of loans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'current' Split Pay loans already fully repaid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Kept; no loss impact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Pay term coded as 1 month (product is ~6 weeks)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2,951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1.5 months where duration matters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checked and clean: keys and joins, product/term/APR rules, fee and repayment arithmetic. Code: notebooks/01_data_integrity.ipynb.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· METHODOLOGY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were built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per loan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= merchant fee + interest collected − credit loss − funding cost. Funding = cost of funds × term × ½ principal (average balance of an amortizing loan). Full principal would lower margins ~1 pt but not change the vertical ranking.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649224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057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Young loans haven't paid interest or defaulted yet. Segment rates (bad rate, loss, fees, interest, margin) use seasoned loans (originated Jul 2024–Jun 2025); shares use all loans.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customers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loans by Jun 2025; repeat = another loan within 180 days. Loss by new vs repeat checked on seasoned loans.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38328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649224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year = 2025 volume × seasoned rates. Changes scale proportionally; new merchants perform like the vertical average.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Code: notebooks/01_data_integrity.ipynb, 02_portfolio_risk.ipynb, 03_recommendation_sizing.ipynb.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· TREND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 margin falls only because recent loans are young; Split Pay's dip is real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9494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63840" y="1554480"/>
            <a:ext cx="377921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Interest-bearing: revenue falls 16.5% → 9.0% because recent loans haven't paid their interest yet; loss rate doesn't rise.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Pay loans finish in ~6 weeks, so quarters are complete: loss rose from 1.1% to 2.5–3.1% and margin fell from 4.0% to ~2–3%.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APR revenue is the merchant fee, fixed up front; margin ~3–4%.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D · REPEAT CUSTOMERS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of repeat customers come back to the same vertical; fashion is the main source of cross-selling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417320"/>
          <a:ext cx="11094418" cy="40233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loan ↓ / second loan 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customers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parts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parts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= customers whose first loan was in that vertical; cells = where their second loan was (row %).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 is the main cross-sell source: 157 fashion customers took their second loan elsewhere, 101 of them in big-ticket verticals.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2143</Words>
  <Application>Microsoft Macintosh PowerPoint</Application>
  <PresentationFormat>Widescreen</PresentationFormat>
  <Paragraphs>361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to invest next year</dc:title>
  <dc:subject>PptxGenJS Presentation</dc:subject>
  <dc:creator>PptxGenJS</dc:creator>
  <cp:lastModifiedBy>HC2873</cp:lastModifiedBy>
  <cp:revision>4</cp:revision>
  <dcterms:created xsi:type="dcterms:W3CDTF">2026-09-29T20:12:43Z</dcterms:created>
  <dcterms:modified xsi:type="dcterms:W3CDTF">2026-09-30T00:40:12Z</dcterms:modified>
</cp:coreProperties>
</file>